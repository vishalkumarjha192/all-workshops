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332" r:id="rId2"/>
    <p:sldId id="301" r:id="rId3"/>
    <p:sldId id="302" r:id="rId4"/>
    <p:sldId id="303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304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305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306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333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34" r:id="rId70"/>
    <p:sldId id="326" r:id="rId71"/>
    <p:sldId id="327" r:id="rId72"/>
    <p:sldId id="328" r:id="rId73"/>
    <p:sldId id="335" r:id="rId74"/>
    <p:sldId id="299" r:id="rId75"/>
    <p:sldId id="337" r:id="rId76"/>
    <p:sldId id="336" r:id="rId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2"/>
    <p:restoredTop sz="94635"/>
  </p:normalViewPr>
  <p:slideViewPr>
    <p:cSldViewPr snapToGrid="0" snapToObjects="1">
      <p:cViewPr varScale="1">
        <p:scale>
          <a:sx n="99" d="100"/>
          <a:sy n="99" d="100"/>
        </p:scale>
        <p:origin x="192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987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RUN OF SHOW — DAY 1</a:t>
            </a:r>
          </a:p>
          <a:p>
            <a:r>
              <a:rPr dirty="0"/>
              <a:t>09:15–09:18 (3 minutes)</a:t>
            </a:r>
          </a:p>
          <a:p>
            <a:r>
              <a:rPr dirty="0"/>
              <a:t>Session: WELCOME &amp; ICEBREAKER</a:t>
            </a:r>
          </a:p>
          <a:p>
            <a:r>
              <a:rPr dirty="0"/>
              <a:t>Slide: From raw data to decisions</a:t>
            </a:r>
          </a:p>
          <a:p>
            <a:endParaRPr dirty="0"/>
          </a:p>
          <a:p>
            <a:r>
              <a:rPr dirty="0"/>
              <a:t>FACILITATOR NOTES</a:t>
            </a:r>
          </a:p>
          <a:p>
            <a:r>
              <a:rPr dirty="0"/>
              <a:t>Open with energy and ask students to notice one data-driven decision they made today. Explain this is not a coding exam.</a:t>
            </a:r>
          </a:p>
          <a:p>
            <a:endParaRPr dirty="0"/>
          </a:p>
          <a:p>
            <a:r>
              <a:rPr dirty="0"/>
              <a:t>CASE DISCLAIMER</a:t>
            </a:r>
          </a:p>
          <a:p>
            <a:r>
              <a:rPr dirty="0" err="1"/>
              <a:t>ClinicPulse</a:t>
            </a:r>
            <a:r>
              <a:rPr dirty="0"/>
              <a:t> Hospital and any patient/appointment data in the deck are fictional and illustrative.</a:t>
            </a:r>
          </a:p>
          <a:p>
            <a:r>
              <a:rPr dirty="0"/>
              <a:t>IMAGE PLACEHOLDER: A light-background data pipeline or hospital analytics illustration. Replace editable dashed box with your own relevant image or screenshot before presenting, or leave it as a visual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Flow: learn SQL Excel Tableau Python, break 15 min, project and data walkthrough, live build, lunch, continue build, break 15 min, 25-question live quiz and closing. Time blocks are flexible; exact schedule can be aligned to class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 just enough of each tool before moving to the project. Students do not need mastery of all four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section. Encourage students to follow, not type everything during a quick refresher.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unmatched records: D77 is absent from the doctor directory; D03 has no appointment. Keep the example in mind for each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whether A03 survives. It does not; only matching records appear. The doctors table D03 without an appointment also does not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Appointments is left table, so all five appointment rows remain. Unmatched columns from the doctors table become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SQLite 3.39+ supports RIGHT JOIN; older online SQLite engines may not. Equivalent explanation: swap tables and write LEFT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SQLite 3.39+ supports FULL OUTER JOIN; some online SQL compilers do not, in which case UNION of left and right joins is a workaround.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 can select specific fields instead of SELECT 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teaching input has three Completed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COUNT(column) counts non-NULL entries in that specific column; COUNT(*) counts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DISTINCT removes duplicate values from the selected results. A distinct ID is not necessarily valid: D77 is unmatched.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doctors have two appointments each, and D77 has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HAVING COUNT(*) &gt; 1 selects D01 and D02.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these are conceptual code snippets; detailed executable scripts are in the Day 2 project 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section. Encourage students to follow, not type everything during a quick refresher.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is the lookup column, 2 is the return-column number, FALSE demands an exact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A01 A03 A04 are completed. Unlike COUNTIFS this checks one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three Completed appointments happen to be Cardiology in the mini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Completed amounts are 1000 + 1200 + 500 = 2700.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Paid Cardiology rows are A01, A03 and A04; amounts total 2700.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Among Paid rows amounts are 1000, 1200 and 500; highest is 1200.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PivotTable is a visual grouping tool. It can replace a simple GROUP BY for beginner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section. Encourage students to follow, not type everything during a quick refresher.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Connect &gt; Text File &gt; gold_daily.csv. Review inferred data types, then open Sheet 1.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students appointment_date and specialization in the left sidebar.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qualitative grouping and dates; Tableau field classification can vary by role and data type.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aggregation. A numeric field can be converted between Dimension and Measure.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Columns shelf at top to organize x-axis/horizontal partitions.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 date on Columns and appointment count on Rows, a basic time series becomes possible.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how Marks can render lines, bars, circles, text etc.; encoding uses Color, Size, Label, Detail, Tooltip.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Filters restrict displayed records. Explain filters can affect measures and charts.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Me is a guide, not a substitute for picking a chart that answers the business question.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worksheet is separate, and can be reused inside dashboards.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Tableau dashboard combines multiple worksheets; dashboards are not simply extra rows in a worksheet.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section. Encourage students to follow, not type everything during a quick refresher.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DataFrame is a table-like Pandas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simple data quality check. head() defaults to 5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info() summarizes DataFrame schema, entries, non-null counts and memory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drop_duplicates uses first matching row by default. In production define deterministic conflict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Blank strings are not always treated as NaN by every data source; strip empties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core KPIs, Unknown may need separate exclusion or quality reporting; do not silently count it as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Users often paste data with spaces. str.strip removes leading and trailing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Replace known status spellings/variants using a mapping dictionary.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 inner merge removes appointments without a matching doctor; a left merge would keep those with NaNs.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Grouping is the primary way to derive Gold-level category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Assumes is_done has already been created as 1 for completed and 0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np.where(condition, if_true, if_false) returns an array of values chosen by a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index=False avoids saving Pandas row numbers as an extra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move from conceptual tool refresher to hands-on project. Ask everyone to keep the problem statement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problem: data comes from separate systems; management cannot easily see reliable appointments, completion, cancellation and workload metrics. Students produce one clean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Day 2 raw CSV directory and point students to appointments.csv doctors.csv patients.csv billing.csv. All data is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actual first five rows from provided appointments.csv; call attention to IDs and status field. Random fictional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relationships are many-to-one conceptually for patients and doctors. Billing could be one-or-many; do not join raw billing directly into appointment counts without checking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this as business analyst translation: every dashboard element needs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expect students to complete all three dashboards. Three design options are inspiration, each with editable shapes in these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Illustrative wireframe only. Every displayed element is editable PowerPoint shapes. Students should reproduce this basic composition in Tableau with Gold CSVs.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Illustrative wireframe only. Every displayed element is editable PowerPoint shapes. Students should reproduce this basic composition in Tableau with Gold CSVs.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Illustrative wireframe only. Every displayed element is editable PowerPoint shapes. Students should reproduce this basic composition in Tableau with Gold CSVs.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explicit that Day 2 ZIP uses these real names. Show shared project folder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Day 2/03_SQL/Step_01_Create_Tables/01_create_tables.sql; run all four CREATE TABLE statements. Other SQL dialects need adaptation.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Day 2/03_SQL/Step_02_Insert_Data. Under each table folder, run numbered insert files in order. Each has 100 values. Do not rerun the same batch or it duplicates data. SQL online compilers have size/time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03_SQL/Step_03_Clean_Transform_Gold/03_bronze_to_silver_to_gold.sql after loading input tables. Cover duplicate IDs, missing status, invalid doctor id, mixed case, currency symbols.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Gold creation in same SQL script, then preview SELECT * FROM gold_summary, gold_daily, gold_specialization and gold_billing.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Day 2/04_Python/clinicpulse_etl.py. The executable project pipeline does not depend on Pandas. From project directory run python 04_Python/clinicpulse_etl.py. Gold CSV output 04_Python/output/.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on projector: inspect CSV, create SQL tables, load first batch, run prepared database or complete SQL script, check Silver/Gold rows, connect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Lunch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lunch make sure Silver and Gold tables align with reference numbers, then import Gold CSVs into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Tableau: connect to Text File Gold outputs; create sheets, aggregate appropriate fields, assemble on dashboard. If using separate Gold CSVs, keep each source logically separate and do not force unrelated tables into an incorrect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students: check that valid appointment count is 6,197, completion 76.3%, no repeated appointments, dates parsed correctly, visualization labels correct, recommendations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dirty="0"/>
              <a:t>5-question </a:t>
            </a:r>
            <a:r>
              <a:rPr dirty="0" err="1"/>
              <a:t>Wayground</a:t>
            </a:r>
            <a:r>
              <a:rPr dirty="0"/>
              <a:t> quiz. Ask each participant to enter their actual name. Announce top two by the confirmed teacher leaderboard. Check ties according to host rules. Share PIN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OF SHOW — DAY 1
16:23–16:27 (4 minutes)
Session: DAY 2 OVERVIEW &amp; CLOSING
Slide: Resources and 1:1 follow-up
FACILITATOR NOTES
Clarify workshop sheet includes 4:30–6:30 PM individual support (online/offline) and an 8:45–9:15 AM offline 1:1 block. These are separate from classroom teaching.
CASE DISCLAIMER
ClinicPulse Hospital and any patient/appointment data in the deck are fictional and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Celebrate top two quiz participants and congratulate everyone. Summarize one insight from today. Remind students that thinking through the problem is as important as a polished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77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databricks/lakehouse/medallion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hyperlink" Target="https://namanofficial10.github.io/" TargetMode="External"/><Relationship Id="rId4" Type="http://schemas.openxmlformats.org/officeDocument/2006/relationships/hyperlink" Target="https://learn.microsoft.com/en-us/azure/architecture/data-guide/relational-data/etl" TargetMode="Externa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17320"/>
            <a:ext cx="5577840" cy="5577840"/>
          </a:xfrm>
          <a:prstGeom prst="arc">
            <a:avLst/>
          </a:prstGeom>
          <a:solidFill>
            <a:srgbClr val="FFFFFF">
              <a:alpha val="0"/>
            </a:srgbClr>
          </a:solidFill>
          <a:ln w="10795">
            <a:solidFill>
              <a:srgbClr val="D8E4EB">
                <a:alpha val="80000"/>
              </a:srgbClr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32588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72B4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 ENGINEERING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4400" b="1" dirty="0">
                <a:solidFill>
                  <a:srgbClr val="172B4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&amp; ANALYTICS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1792" y="31089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From concepts to a working </a:t>
            </a:r>
            <a:r>
              <a:rPr lang="en-US" sz="2000" dirty="0" err="1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ClinicPulse</a:t>
            </a:r>
            <a:r>
              <a:rPr lang="en-US" sz="20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dashboard</a:t>
            </a:r>
          </a:p>
        </p:txBody>
      </p:sp>
      <p:sp>
        <p:nvSpPr>
          <p:cNvPr id="9" name="Shape 7"/>
          <p:cNvSpPr/>
          <p:nvPr/>
        </p:nvSpPr>
        <p:spPr>
          <a:xfrm>
            <a:off x="621792" y="4059936"/>
            <a:ext cx="2148840" cy="329184"/>
          </a:xfrm>
          <a:prstGeom prst="roundRect">
            <a:avLst>
              <a:gd name="adj" fmla="val 33333"/>
            </a:avLst>
          </a:prstGeom>
          <a:solidFill>
            <a:srgbClr val="E6F6F2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4078224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087B7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DAY 2  •  Create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" y="5029200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B4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Naman Sharma  |  K. R. Mangalam University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55321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22 October 2026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Generated image 2">
            <a:extLst>
              <a:ext uri="{FF2B5EF4-FFF2-40B4-BE49-F238E27FC236}">
                <a16:creationId xmlns:a16="http://schemas.microsoft.com/office/drawing/2014/main" id="{5C0AD33F-26E1-F409-33B5-472DABB191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23" t="9507" r="28000" b="7643"/>
          <a:stretch>
            <a:fillRect/>
          </a:stretch>
        </p:blipFill>
        <p:spPr>
          <a:xfrm>
            <a:off x="7754112" y="1261099"/>
            <a:ext cx="3301500" cy="4829577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18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|  DAY 2 · CREATE  |  TODAY’S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480131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Our Day 2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 sequence of learning, creation, review, and friendly competition.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20240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2093976"/>
            <a:ext cx="585216" cy="31085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9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029968"/>
            <a:ext cx="416052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86584"/>
            <a:ext cx="4160520" cy="2215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SQL → Excel → Tableau →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920240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01384" y="2093976"/>
            <a:ext cx="585216" cy="31085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9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029968"/>
            <a:ext cx="416052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2386584"/>
            <a:ext cx="4160520" cy="2215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15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82112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3355848"/>
            <a:ext cx="585216" cy="31085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9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291840"/>
            <a:ext cx="416052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BUILD · PART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648456"/>
            <a:ext cx="4160520" cy="2215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Problem → source files → SQL/Python ETL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3182112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01384" y="3355848"/>
            <a:ext cx="585216" cy="31085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9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3291840"/>
            <a:ext cx="416052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3648456"/>
            <a:ext cx="4160520" cy="2215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Mid-project pause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443983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80" y="4617720"/>
            <a:ext cx="585216" cy="31085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9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4553712"/>
            <a:ext cx="416052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BUILD · PART 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4910327"/>
            <a:ext cx="4160520" cy="2215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Gold outputs → Tableau 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18504" y="4443983"/>
            <a:ext cx="5440680" cy="11155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01384" y="4617720"/>
            <a:ext cx="585216" cy="31085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9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896" y="4553712"/>
            <a:ext cx="416052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BREAK + QUIZ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4910327"/>
            <a:ext cx="4160520" cy="2215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15 minutes → 25 questions → Day 2 close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68096" y="5925312"/>
            <a:ext cx="1325880" cy="172355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907024"/>
            <a:ext cx="9162288" cy="21082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You will finish with a dashboard and two practical business recommendations.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18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|  DAY 2 · CREATE  |  SKILLS FIRST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480131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First, let’s learn the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Only the essentials needed to complete the ClinicPulse project.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240280"/>
            <a:ext cx="2660904" cy="2551176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4944" y="2240280"/>
            <a:ext cx="64008" cy="2551176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" y="2395728"/>
            <a:ext cx="2286000" cy="2954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07792"/>
            <a:ext cx="2267712" cy="51090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Load tables, JOIN, filter and aggregate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5" y="2240280"/>
            <a:ext cx="2660904" cy="2551176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57015" y="2240280"/>
            <a:ext cx="64008" cy="2551176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39896" y="2395728"/>
            <a:ext cx="2286000" cy="2954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2907792"/>
            <a:ext cx="2267712" cy="51090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Lookups and quick data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2240280"/>
            <a:ext cx="2660904" cy="2551176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19088" y="2240280"/>
            <a:ext cx="64008" cy="255117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1968" y="2395728"/>
            <a:ext cx="2286000" cy="2954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907792"/>
            <a:ext cx="2267712" cy="51090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Worksheets, shelves and dashboards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2240280"/>
            <a:ext cx="2660904" cy="2551176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281160" y="2240280"/>
            <a:ext cx="64008" cy="2551176"/>
          </a:xfrm>
          <a:prstGeom prst="rect">
            <a:avLst/>
          </a:prstGeom>
          <a:solidFill>
            <a:srgbClr val="DE9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64040" y="2395728"/>
            <a:ext cx="2286000" cy="2954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907792"/>
            <a:ext cx="2267712" cy="51090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Clean and summarize CSV 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" y="5925312"/>
            <a:ext cx="1325880" cy="172355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KEEP IT SIMPLE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162288" cy="21082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One business problem. Several tools. You only need one workable ETL approach.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18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|  DAY 2 · CREATE  |  TOOL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480131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SQL | Ask questions of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• JOIN • COUNT • DISTINCT • GROUP BY • HAVING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21992"/>
            <a:ext cx="1645920" cy="9417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6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2688336"/>
            <a:ext cx="8503920" cy="0"/>
          </a:xfrm>
          <a:prstGeom prst="line">
            <a:avLst/>
          </a:prstGeom>
          <a:ln w="38100">
            <a:solidFill>
              <a:srgbClr val="16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04872" y="3063240"/>
            <a:ext cx="8595360" cy="37241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300" b="0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• JOIN • COUNT • DISTINCT • GROUP BY • HAVING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096" y="5925312"/>
            <a:ext cx="1325880" cy="172355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907024"/>
            <a:ext cx="9162288" cy="21082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pattern now; apply it during the ClinicPulse build.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Before JOINs: meet our two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Five appointment records and a small doctor directory. Match them using doctor_id.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548640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521208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350008"/>
            <a:ext cx="526694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5528" y="2432304"/>
            <a:ext cx="1819655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2432304"/>
            <a:ext cx="1563624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2432304"/>
            <a:ext cx="1792224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816352"/>
            <a:ext cx="1810511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816352"/>
            <a:ext cx="1554480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2816352"/>
            <a:ext cx="1783080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136392"/>
            <a:ext cx="526694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5528" y="3209544"/>
            <a:ext cx="1810511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3209544"/>
            <a:ext cx="1554480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8536" y="3209544"/>
            <a:ext cx="1783080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602736"/>
            <a:ext cx="1810511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602736"/>
            <a:ext cx="1554480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3602736"/>
            <a:ext cx="1783080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922776"/>
            <a:ext cx="526694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5528" y="3995928"/>
            <a:ext cx="1810511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3995928"/>
            <a:ext cx="1554480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8536" y="3995928"/>
            <a:ext cx="1783080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4389120"/>
            <a:ext cx="1810511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0048" y="4389120"/>
            <a:ext cx="1554480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8536" y="4389120"/>
            <a:ext cx="1783080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No-show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36792" y="1920240"/>
            <a:ext cx="5166360" cy="21854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73952" y="2039112"/>
            <a:ext cx="489204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2350008"/>
            <a:ext cx="494690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92240" y="2432304"/>
            <a:ext cx="21854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432304"/>
            <a:ext cx="265176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doctor_name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816352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2816352"/>
            <a:ext cx="2642616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Rao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3136392"/>
            <a:ext cx="494690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92240" y="3209544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3209544"/>
            <a:ext cx="2642616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Singh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602736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602736"/>
            <a:ext cx="2642616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Kapoor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JOIN 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 has an unknown doctor (D77); D03 has no appointment. Watch where these rows go!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 | only matching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Keep only appointments that find a valid matching doctor.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2929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a.appointment_id, d.doctor_name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15768"/>
            <a:ext cx="5230368" cy="22929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appointments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08960"/>
            <a:ext cx="5230368" cy="22929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INNER JOIN doctors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02152"/>
            <a:ext cx="5230368" cy="22929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ON a.doctor_id = d.doctor_id;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883664"/>
            <a:ext cx="5074920" cy="25786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4768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514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514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1968" y="3099816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4768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514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Singh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514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Rao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886200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47688" y="3959352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5148" y="3959352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Singh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INNER JOIN removes A03 because D77 is not in Doctors.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JOIN | keep every left-side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Keep every appointment, even when its doctor is missing.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2929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a.appointment_id, d.doctor_name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15768"/>
            <a:ext cx="5230368" cy="22929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appointments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08960"/>
            <a:ext cx="5230368" cy="22929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LEFT JOIN doctors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02152"/>
            <a:ext cx="5230368" cy="22929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ON a.doctor_id = d.doctor_id;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883664"/>
            <a:ext cx="507492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4768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514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514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1968" y="3099816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4768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514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Singh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514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886200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47688" y="3959352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5148" y="3959352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Rao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4352544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5148" y="4352544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Singh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LEFT JOIN keeps A03 and shows NULL for the missing doctor.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RIGHT JOIN | keep every right-side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Keep every doctor, even when they have no appointments.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2006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a.appointment_id, d.doctor_name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15768"/>
            <a:ext cx="5230368" cy="22006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appointments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08960"/>
            <a:ext cx="5230368" cy="22006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RIGHT JOIN doctors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02152"/>
            <a:ext cx="5230368" cy="22006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ON a.doctor_id = d.doctor_id;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883664"/>
            <a:ext cx="507492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4768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514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514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1968" y="3099816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4768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514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Rao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514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Singh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886200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47688" y="3959352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5148" y="3959352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Singh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4352544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5148" y="4352544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Kapoor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RIGHT JOIN preserves D03 (Dr. Kapoor) with a NULL appointment.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FULL OUTER JOIN | keep both sides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Keep matching rows plus unmatched appointments and unmatched doctors.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0928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a.appointment_id, d.doctor_name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15768"/>
            <a:ext cx="5230368" cy="20928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appointments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08960"/>
            <a:ext cx="5230368" cy="20928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FULL OUTER JOIN doctors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02152"/>
            <a:ext cx="5230368" cy="20928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ON a.doctor_id = d.doctor_id;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883664"/>
            <a:ext cx="5074920" cy="336499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4768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514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514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1968" y="3099816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4768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514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Singh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514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886200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47688" y="3959352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5148" y="3959352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Rao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4352544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5148" y="4352544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Singh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1968" y="4672584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47688" y="474573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5148" y="474573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Kapoor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FULL OUTER JOIN retains both A03 and Dr. Kapoor.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| choose the columns you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 query does not have to display every column from a table.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appointment_id,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15768"/>
            <a:ext cx="5230368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appointments;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83664"/>
            <a:ext cx="507492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4768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514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514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1968" y="3099816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4768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514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514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1968" y="3886200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47688" y="3959352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5148" y="3959352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4352544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5148" y="4352544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No-show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chooses fields; FROM identifies the source table.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WHERE | filter rows before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Ask: which appointments were completed?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appointment_id,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15768"/>
            <a:ext cx="5230368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appointments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08960"/>
            <a:ext cx="5230368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WHERE status = 'Completed';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83664"/>
            <a:ext cx="5074920" cy="21854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4768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514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514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3099816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4768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514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514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WHERE evaluates individual rows before grouping.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 | how many records?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COUNT(*) to count all rows in a table.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total_appointments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15768"/>
            <a:ext cx="5230368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appointments;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83664"/>
            <a:ext cx="5074920" cy="1399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47688" y="2395728"/>
            <a:ext cx="502005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total_appointments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779776"/>
            <a:ext cx="501091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COUNT(*) returns 5 for our five-row mini dataset.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| find unique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One doctor may appear in many appointments.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doctor_id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15768"/>
            <a:ext cx="5230368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appointments;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83664"/>
            <a:ext cx="5074920" cy="21854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47688" y="2395728"/>
            <a:ext cx="502005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779776"/>
            <a:ext cx="501091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1968" y="3099816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47688" y="3172968"/>
            <a:ext cx="501091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566160"/>
            <a:ext cx="501091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D77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DISTINCT finds the three unique doctor IDs, even though there are five appointments.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GROUP BY | summarize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Calculate appointments per doctor ID.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doctor_id, COUNT(*) AS visits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15768"/>
            <a:ext cx="5230368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appointments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08960"/>
            <a:ext cx="5230368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GROUP BY doctor_id;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83664"/>
            <a:ext cx="5074920" cy="21854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4768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514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visits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514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3099816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4768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514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514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GROUP BY converts many detailed rows into one row per category.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| filter grouped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only doctor IDs with more than one appointment.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doctor_id, COUNT(*) AS visits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15768"/>
            <a:ext cx="5230368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appointments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08960"/>
            <a:ext cx="5230368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GROUP BY doctor_id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02152"/>
            <a:ext cx="5230368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 &gt; 1;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883664"/>
            <a:ext cx="5074920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4768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doctor_id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514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visits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514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1968" y="3099816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4768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514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WHERE filters individual rows; HAVING filters aggregated groups.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ALL ABOUT SQL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SQL | Bronze → Silver → Gold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typical Day 2 flow is raw tables, clean joins, then reporting aggregates.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NAMAN SHARMA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74519"/>
            <a:ext cx="5678424" cy="3749039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1993391"/>
            <a:ext cx="532180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EXAMPLE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22576"/>
            <a:ext cx="5230368" cy="200055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82E47"/>
                </a:solidFill>
                <a:latin typeface="Aptos Mono"/>
              </a:defRPr>
            </a:pPr>
            <a:r>
              <a:rPr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-- BRONZE: import raw CSV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06624"/>
            <a:ext cx="5230368" cy="200055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-- SILVER: clean appointment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090672"/>
            <a:ext cx="5230368" cy="200055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SELECT a.appointment_id, a.status,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474720"/>
            <a:ext cx="5230368" cy="200055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d.specialization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858768"/>
            <a:ext cx="5230368" cy="200055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FROM bronze_appointments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42816"/>
            <a:ext cx="5230368" cy="200055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JOIN bronze_doctors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626864"/>
            <a:ext cx="5230368" cy="200055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ON a.doctor_id = d.doctor_id;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010912"/>
            <a:ext cx="5230368" cy="200055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-- GOLD: group by specialization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883664"/>
            <a:ext cx="5074920" cy="21854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29400" y="2002536"/>
            <a:ext cx="4800600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313432"/>
            <a:ext cx="4855464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4768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5148" y="2395728"/>
            <a:ext cx="248259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Meaning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Bronze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5148" y="2779776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Raw rows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1968" y="3099816"/>
            <a:ext cx="4855464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4768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Silver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5148" y="3172968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Validated joins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5148" y="3566160"/>
            <a:ext cx="247345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Ready KPIs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REMEMBER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Students can transform with SQL or Python, then connect Gold data to Tableau.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18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|  DAY 2 · CREATE  |  TOOL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480131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Excel | Quick validation and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VLOOKUP • COUNTIF/S • SUMIF/S • MAXIFS • PivotTables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21992"/>
            <a:ext cx="1645920" cy="9417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6000" b="1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2688336"/>
            <a:ext cx="8503920" cy="0"/>
          </a:xfrm>
          <a:prstGeom prst="line">
            <a:avLst/>
          </a:prstGeom>
          <a:ln w="381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04872" y="3063240"/>
            <a:ext cx="8595360" cy="37241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300" b="0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VLOOKUP • COUNTIF/S • SUMIF/S • MAXIFS • PivotTables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096" y="5925312"/>
            <a:ext cx="1325880" cy="172355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907024"/>
            <a:ext cx="9162288" cy="21082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pattern now; apply it during the ClinicPulse build.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EXCEL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VLOOKUP | find a matching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Look up appointment A03 and return its status from column B.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92807"/>
            <a:ext cx="10936224" cy="1042415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011680"/>
            <a:ext cx="548640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FORMULA TO 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95728"/>
            <a:ext cx="10168128" cy="32624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=VLOOKUP("A03", A2:E6, 2, FALSE)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163824"/>
            <a:ext cx="7726679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3282696"/>
            <a:ext cx="7452359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CLINICPULSE WORKSHEET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93591"/>
            <a:ext cx="7507223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675887"/>
            <a:ext cx="85953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675887"/>
            <a:ext cx="163677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675887"/>
            <a:ext cx="21854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675887"/>
            <a:ext cx="12710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5887"/>
            <a:ext cx="1243584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59935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59935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59935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059935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59935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79976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453128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453128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53128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453128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53128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46320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846320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846320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846320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46320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66359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" y="5239512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239512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239512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5239512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239512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32704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5632704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No-show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32704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5632704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632704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3163824"/>
            <a:ext cx="2999232" cy="2633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49640" y="3163824"/>
            <a:ext cx="59436" cy="2633472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50808" y="3328416"/>
            <a:ext cx="2615184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0808" y="3803904"/>
            <a:ext cx="2596896" cy="3724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IT 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exact matching when looking up an appointment ID.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EXCEL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COUNTIF | count one 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rows have status Completed?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92807"/>
            <a:ext cx="10936224" cy="1042415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011680"/>
            <a:ext cx="548640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FORMULA TO 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95728"/>
            <a:ext cx="10168128" cy="32624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=COUNTIF(B2:B6, "Completed")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163824"/>
            <a:ext cx="7726679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3282696"/>
            <a:ext cx="7452359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CLINICPULSE WORKSHEET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93591"/>
            <a:ext cx="7507223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675887"/>
            <a:ext cx="85953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675887"/>
            <a:ext cx="163677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675887"/>
            <a:ext cx="21854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675887"/>
            <a:ext cx="12710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5887"/>
            <a:ext cx="1243584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59935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59935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59935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059935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59935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79976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453128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453128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53128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453128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53128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46320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846320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846320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846320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46320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66359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" y="5239512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239512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239512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5239512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239512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32704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5632704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No-show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32704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5632704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632704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3163824"/>
            <a:ext cx="2999232" cy="2633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49640" y="3163824"/>
            <a:ext cx="59436" cy="2633472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50808" y="3328416"/>
            <a:ext cx="2615184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0808" y="3803904"/>
            <a:ext cx="2596896" cy="3724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IT 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COUNTIF counts rows that satisfy one condition.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EXCEL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COUNTIFS | count multiple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How many completed appointments are in Cardiology?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92807"/>
            <a:ext cx="10936224" cy="1042415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011680"/>
            <a:ext cx="548640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FORMULA TO 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95728"/>
            <a:ext cx="10168128" cy="32624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=COUNTIFS(B2:B6,"Completed",C2:C6,"Cardiology")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163824"/>
            <a:ext cx="7726679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3282696"/>
            <a:ext cx="7452359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CLINICPULSE WORKSHEET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93591"/>
            <a:ext cx="7507223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675887"/>
            <a:ext cx="85953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675887"/>
            <a:ext cx="163677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675887"/>
            <a:ext cx="21854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675887"/>
            <a:ext cx="12710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5887"/>
            <a:ext cx="1243584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59935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59935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59935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059935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59935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79976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453128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453128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53128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453128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53128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46320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846320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846320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846320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46320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66359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" y="5239512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239512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239512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5239512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239512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32704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5632704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No-show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32704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5632704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632704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3163824"/>
            <a:ext cx="2999232" cy="2633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49640" y="3163824"/>
            <a:ext cx="59436" cy="2633472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50808" y="3328416"/>
            <a:ext cx="2615184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0808" y="3803904"/>
            <a:ext cx="2596896" cy="3724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IT 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COUNTIFS evaluates all criteria together (AND logic).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ALL ABOUT EXCEL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SUMIF | sum one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the total billed amount for completed appointments?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NAMAN SHARMA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92807"/>
            <a:ext cx="10936224" cy="1042415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011680"/>
            <a:ext cx="548640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FORMULA TO 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95728"/>
            <a:ext cx="10168128" cy="32624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=SUMIF(B2:B6, "Completed", D2:D6)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163824"/>
            <a:ext cx="7726679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3282696"/>
            <a:ext cx="7452359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ILLUSTRATIVE CLINICPULSE WORKSHEET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93591"/>
            <a:ext cx="7507223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675887"/>
            <a:ext cx="85953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675887"/>
            <a:ext cx="163677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675887"/>
            <a:ext cx="21854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675887"/>
            <a:ext cx="12710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5887"/>
            <a:ext cx="1243584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59935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59935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59935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059935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59935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79976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453128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453128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Cancelled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53128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453128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750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53128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46320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846320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846320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846320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46320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66359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" y="5239512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239512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239512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5239512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239512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32704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5632704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No-show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32704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5632704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632704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3163824"/>
            <a:ext cx="2999232" cy="2633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49640" y="3163824"/>
            <a:ext cx="59436" cy="2633472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50808" y="3328416"/>
            <a:ext cx="2615184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EXPECTED RESULT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0808" y="3803904"/>
            <a:ext cx="2596896" cy="3724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2700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 IT 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SUMIF adds values from one range if another range matches.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EXCEL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SUMIFS | sum with multiple filters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billed amount for Paid Cardiology rows?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92807"/>
            <a:ext cx="10936224" cy="1042415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011680"/>
            <a:ext cx="548640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FORMULA TO 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95728"/>
            <a:ext cx="10168128" cy="32624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=SUMIFS(D2:D6,E2:E6,"Paid",C2:C6,"Cardiology")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163824"/>
            <a:ext cx="7726679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3282696"/>
            <a:ext cx="7452359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CLINICPULSE WORKSHEET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93591"/>
            <a:ext cx="7507223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675887"/>
            <a:ext cx="85953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675887"/>
            <a:ext cx="163677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675887"/>
            <a:ext cx="21854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675887"/>
            <a:ext cx="12710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5887"/>
            <a:ext cx="1243584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59935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59935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59935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059935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59935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79976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453128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453128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53128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453128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53128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46320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846320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846320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846320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46320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66359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" y="5239512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239512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239512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5239512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239512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32704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5632704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No-show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32704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5632704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632704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3163824"/>
            <a:ext cx="2999232" cy="2633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49640" y="3163824"/>
            <a:ext cx="59436" cy="2633472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50808" y="3328416"/>
            <a:ext cx="2615184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0808" y="3803904"/>
            <a:ext cx="2596896" cy="3724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2700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IT 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SUMIFS is helpful when multiple business rules must be true.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EXCEL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MAXIFS | highest matching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Find the maximum bill amount with payment status Paid.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92807"/>
            <a:ext cx="10936224" cy="1042415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011680"/>
            <a:ext cx="548640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FORMULA TO 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95728"/>
            <a:ext cx="10168128" cy="32624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=MAXIFS(D2:D6,E2:E6,"Paid")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163824"/>
            <a:ext cx="7726679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3282696"/>
            <a:ext cx="7452359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CLINICPULSE WORKSHEET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93591"/>
            <a:ext cx="7507223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675887"/>
            <a:ext cx="85953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675887"/>
            <a:ext cx="163677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675887"/>
            <a:ext cx="21854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675887"/>
            <a:ext cx="12710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5887"/>
            <a:ext cx="1243584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59935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59935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59935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059935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59935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79976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453128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453128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53128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453128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53128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46320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846320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846320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846320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46320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66359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" y="5239512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239512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239512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5239512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239512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32704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5632704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No-show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32704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5632704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632704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3163824"/>
            <a:ext cx="2999232" cy="2633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49640" y="3163824"/>
            <a:ext cx="59436" cy="2633472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50808" y="3328416"/>
            <a:ext cx="2615184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0808" y="3803904"/>
            <a:ext cx="2596896" cy="3724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1200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IT 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MAXIFS returns the largest value satisfying a condition.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EXCEL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PivotTable | group without writing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Insert → PivotTable and summarize appointment statuses.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92807"/>
            <a:ext cx="10936224" cy="1042415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011680"/>
            <a:ext cx="548640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FORMULA TO 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95728"/>
            <a:ext cx="10168128" cy="32624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Rows: Status    |    Values: Count of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163824"/>
            <a:ext cx="7726679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3282696"/>
            <a:ext cx="7452359" cy="18004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CLINICPULSE WORKSHEET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93591"/>
            <a:ext cx="7507223" cy="393192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675887"/>
            <a:ext cx="85953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675887"/>
            <a:ext cx="163677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675887"/>
            <a:ext cx="21854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675887"/>
            <a:ext cx="1271016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5887"/>
            <a:ext cx="1243584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59935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59935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59935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059935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59935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79976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453128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453128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53128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453128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53128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46320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846320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846320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846320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46320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66359"/>
            <a:ext cx="7507223" cy="393192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" y="5239512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239512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239512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Cardiology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5239512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239512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32704"/>
            <a:ext cx="85039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5632704"/>
            <a:ext cx="162763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No-show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32704"/>
            <a:ext cx="21762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5632704"/>
            <a:ext cx="1261872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632704"/>
            <a:ext cx="1234439" cy="1985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3163824"/>
            <a:ext cx="2999232" cy="2633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49640" y="3163824"/>
            <a:ext cx="59436" cy="2633472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50808" y="3328416"/>
            <a:ext cx="2615184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0808" y="3803904"/>
            <a:ext cx="2596896" cy="108029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Completed: 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Cancelled: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No-show: 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IT 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Drag fields into Rows and Values to build quick summaries.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18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|  DAY 2 · CREATE  |  TOOL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480131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Tableau | Turn data into visuals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 • Rows/Columns • Marks • Filters • Worksheets • Dashboards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21992"/>
            <a:ext cx="1645920" cy="9417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6000" b="1">
                <a:solidFill>
                  <a:srgbClr val="8055C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2688336"/>
            <a:ext cx="8503920" cy="0"/>
          </a:xfrm>
          <a:prstGeom prst="line">
            <a:avLst/>
          </a:prstGeom>
          <a:ln w="38100">
            <a:solidFill>
              <a:srgbClr val="805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04872" y="3063240"/>
            <a:ext cx="8595360" cy="37241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300" b="0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 • Rows/Columns • Marks • Filters • Worksheets • Dashboards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096" y="5925312"/>
            <a:ext cx="1325880" cy="172355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907024"/>
            <a:ext cx="9162288" cy="21082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pattern now; apply it during the ClinicPulse build.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Connect to data | first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Tableau can connect to a cleaned Gold-layer CSV from Day 2.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Import the Gold CSV before building charts.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Pane | where fields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Find the available columns on the left side of a Tableau worksheet.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 lists the fields in your connected dataset.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| categorical breakdowns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Names, dates and categories help split measures into groups.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dimension: specialization or appointment_date.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Measures | numerical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and summed amounts are typical numeric measures.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measure: SUM(amount) or COUNT(appointment_id).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 Shelf | horizontal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Place a date/category here to build columns or a time axis.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Drag appointment_date to Columns.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 Shelf | vertical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Put the metric being analyzed onto Rows.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Drag COUNT(appointment_id) to Rows.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 Card | how data looks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mark type and adjust how values appear visually.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Try Line; use Color, Size and Label to improve readability.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Shelf | narrow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 on a specific status, date or specialization.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 status to Completed.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Me | chart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Tableau proposes chart styles based on selected fields.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 a dimension and a measure, then open Show 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Worksheet | one chart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 worksheet contains a single view or visualization.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Create a daily-appointments line chart on one worksheet.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TABLEAU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| combine multiple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Arrange KPI cards, charts and filters on one canvas.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0936224" cy="3739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6"/>
            <a:ext cx="2002536" cy="3300984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2212848"/>
            <a:ext cx="1673352" cy="2339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709928" cy="18928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10" b="0">
                <a:solidFill>
                  <a:srgbClr val="4275DC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#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04825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672" y="219456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3969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203704"/>
            <a:ext cx="2304288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688336"/>
            <a:ext cx="5888736" cy="53035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0672" y="2834640"/>
            <a:ext cx="9601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2779776"/>
            <a:ext cx="2532888" cy="320040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34640"/>
            <a:ext cx="2304288" cy="178510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COUNT(appointments)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383280"/>
            <a:ext cx="1984248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72384" y="3557016"/>
            <a:ext cx="1728216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04487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09744"/>
            <a:ext cx="1508760" cy="1908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Tooltip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8" y="3383280"/>
            <a:ext cx="373989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2" y="3566160"/>
            <a:ext cx="3255264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WORKSHEET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22976" y="4937760"/>
            <a:ext cx="2907792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22976" y="3977639"/>
            <a:ext cx="0" cy="960121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15000" y="4343400"/>
            <a:ext cx="585216" cy="155448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0216" y="4343400"/>
            <a:ext cx="585216" cy="192024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85432" y="4133087"/>
            <a:ext cx="585216" cy="402337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0648" y="4133087"/>
            <a:ext cx="585216" cy="146305"/>
          </a:xfrm>
          <a:prstGeom prst="line">
            <a:avLst/>
          </a:prstGeom>
          <a:ln w="2540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2048256"/>
            <a:ext cx="2368296" cy="1170432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8008" y="2258568"/>
            <a:ext cx="1993392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2615184"/>
            <a:ext cx="1993392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Suggested chart types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383280"/>
            <a:ext cx="2368296" cy="1965960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08008" y="3584448"/>
            <a:ext cx="2011680" cy="218521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4041648"/>
            <a:ext cx="1965960" cy="38779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458968"/>
            <a:ext cx="10570464" cy="164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Place 3 KPI cards and 2–3 charts onto a dashboard.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18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K. R. MANGALAM UNIVERSITY  |  DAY 2 · CREATE  |  TOOL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480131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Python | Beginner ETL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249299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Preview • clean • join • group • export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5696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NAMAN SHARMA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21992"/>
            <a:ext cx="1645920" cy="9417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6000" b="1">
                <a:solidFill>
                  <a:srgbClr val="DE9E3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2688336"/>
            <a:ext cx="8503920" cy="0"/>
          </a:xfrm>
          <a:prstGeom prst="line">
            <a:avLst/>
          </a:prstGeom>
          <a:ln w="38100">
            <a:solidFill>
              <a:srgbClr val="DE9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04872" y="3063240"/>
            <a:ext cx="8595360" cy="37241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300" b="0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Preview • clean • join • group •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096" y="5925312"/>
            <a:ext cx="1325880" cy="172355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907024"/>
            <a:ext cx="9162288" cy="21082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Understand the pattern now; apply it during the ClinicPulse build.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Pandas | import a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Load one of the ClinicPulse CSV files into a DataFrame.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7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 = pd.read_csv('appointments.csv')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Variable a now holds the appointments 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read_csv() is usually the first step of Python-based ETL.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head() | preview your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Inspect the first few records before doing transformations.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a.head(5)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Shows the first five rows and their columns.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Preview data before assuming formats are clean.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info() and dtypes | inspect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number of records, missing values and inferred column types.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a.info()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print(a.dtypes)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Reveals column types and non-null counts.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data types can break joins and aggregations.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drop_duplicates() | remove repeat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One appointment ID should appear once in the cleaned dataset.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 = a.drop_duplicates(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subset=['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appointment_id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7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Duplicate appointment IDs are removed.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Pick the business key, not just identical full rows.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isna() | identify missing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Find rows where doctor IDs or statuses are missing.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missing = a[a['status'].isna()]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print(len(missing))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Lists the rows with missing status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Validate required fields before creating Silver.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fillna() | handle missing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Fill missing optional fields where it makes business sense.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a['status'] = a['status'].fillna(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'Unknown'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7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Missing statuses become Unknown.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 not invent a Completed status for a missing value.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str.strip() | clean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Extra spaces can cause a status filter to miss valid rows.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a['status'] = a['status'].str.strip()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'Completed ' becomes 'Completed'.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Trim spaces before filtering or grouping.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replace() | standardize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Different text labels may mean the same status.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a['status'] = a['status'].replace(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{'COMPLETE':'Completed',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7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 'completed':'Completed'}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20439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names become one clean label.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Standardizing makes KPIs more trustworthy.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merge() | join two DataFrames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Link appointments to the doctors table on doctor_id.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clean = a.merge(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doctors[['doctor_id','specialization']],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7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on='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doctor_id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how='inner'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20439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Adds the specialization for each matched appointment.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Pandas merge() is the Python equivalent of SQL JOIN.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groupby() | summarize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 how many appointments each specialization handles.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counts = (clean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.groupby('specialization')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7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.size()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20439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.reset_index(name='visits'))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One row per specialization with a visit 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groupby() is similar to SQL GROUP BY.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agg() | calculate several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Make a Gold table with total appointments and completed counts.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 =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clean.groupby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('specialization').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visits=('appointment_id','count'),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7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completed=('is_done','sum')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20439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).reset_index()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Produces two metrics per specialization.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agg() creates multiple summary measures together.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NumPy np.where() | create a flag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Mark completed appointments with 1 and others with 0.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import numpy as 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7"/>
            <a:ext cx="7050023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clean['is_done'] = np.where(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20439"/>
            <a:ext cx="7050023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clean['status']=='Completed',1,0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913631"/>
            <a:ext cx="7050023" cy="2262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Completed →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Other statuses →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 completion flag makes groupby aggregation easy.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ABOUT PYTHON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to_csv() | export the Gold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Save cleaned summaries so Tableau can use them.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569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NAMAN SHARMA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7"/>
            <a:ext cx="7498079" cy="3648456"/>
          </a:xfrm>
          <a:prstGeom prst="roundRect">
            <a:avLst>
              <a:gd name="adj" fmla="val 7000"/>
            </a:avLst>
          </a:prstGeom>
          <a:solidFill>
            <a:srgbClr val="F8FBFC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" y="2011679"/>
            <a:ext cx="7141464" cy="18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3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gold.to_csv(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gold_specialization.csv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7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index=False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20439"/>
            <a:ext cx="7050023" cy="25083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182E47"/>
                </a:solidFill>
                <a:latin typeface="Aptos Mono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1892807"/>
            <a:ext cx="3209544" cy="36484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48472" y="1892807"/>
            <a:ext cx="59436" cy="36484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49640" y="2057400"/>
            <a:ext cx="2825496" cy="29546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532887"/>
            <a:ext cx="2807208" cy="51090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Creates a dashboard-ready CSV 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5929884"/>
            <a:ext cx="1188720" cy="17373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5911596"/>
            <a:ext cx="9372600" cy="203133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82E4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Bronze → Silver → Gold ends with an export to Tableau.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1947672"/>
            <a:ext cx="101132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72B4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15-MINUTE BREAK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99616" y="3200400"/>
            <a:ext cx="92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11:00–11:15 AM  ·  We will start with the Capstone Project.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19472" y="4224528"/>
            <a:ext cx="2377440" cy="73152"/>
          </a:xfrm>
          <a:prstGeom prst="roundRect">
            <a:avLst>
              <a:gd name="adj" fmla="val 37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" y="658368"/>
            <a:ext cx="10948111" cy="0"/>
          </a:xfrm>
          <a:prstGeom prst="line">
            <a:avLst/>
          </a:prstGeom>
          <a:noFill/>
          <a:ln w="15240">
            <a:solidFill>
              <a:srgbClr val="34506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" y="6455664"/>
            <a:ext cx="10948111" cy="0"/>
          </a:xfrm>
          <a:prstGeom prst="line">
            <a:avLst/>
          </a:prstGeom>
          <a:noFill/>
          <a:ln w="12700">
            <a:solidFill>
              <a:srgbClr val="34506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" y="6547104"/>
            <a:ext cx="6400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K. R. MANGALAM UNIVERSITY  •  22 OCT 2026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89720" y="654710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NAMAN SHARMA   /   49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CAPSTONE PROJECT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Now, let’s build ClinicPulse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One dataset family, four tables, one management dashboard.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2670048" cy="202082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487168"/>
            <a:ext cx="64008" cy="2020824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642616"/>
            <a:ext cx="2295144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154680"/>
            <a:ext cx="2276856" cy="12161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r>
              <a:t>Raw hospital CSVs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2487168"/>
            <a:ext cx="2670048" cy="202082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2487168"/>
            <a:ext cx="64008" cy="2020824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0752" y="2642616"/>
            <a:ext cx="2295144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SILVER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154680"/>
            <a:ext cx="2276856" cy="12161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r>
              <a:t>Validate and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2487168"/>
            <a:ext cx="2670048" cy="202082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37376" y="2487168"/>
            <a:ext cx="64008" cy="2020824"/>
          </a:xfrm>
          <a:prstGeom prst="rect">
            <a:avLst/>
          </a:prstGeom>
          <a:solidFill>
            <a:srgbClr val="DE9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0256" y="2642616"/>
            <a:ext cx="2295144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GOLD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3154680"/>
            <a:ext cx="2276856" cy="12161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r>
              <a:t>Business 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487168"/>
            <a:ext cx="2670048" cy="202082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26880" y="2487168"/>
            <a:ext cx="64008" cy="2020824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2642616"/>
            <a:ext cx="2295144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TABLEAU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154680"/>
            <a:ext cx="2276856" cy="12161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r>
              <a:t>Interactive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BUILD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Create useful answers, not a complicated application.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THE CHALLENGE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ClinicPulse | Hospital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Hospital managers need a quick view of appointment operations and billing.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01952"/>
            <a:ext cx="5367528" cy="3410712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901952"/>
            <a:ext cx="64008" cy="3410712"/>
          </a:xfrm>
          <a:prstGeom prst="rect">
            <a:avLst/>
          </a:prstGeom>
          <a:solidFill>
            <a:srgbClr val="C55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057400"/>
            <a:ext cx="4992624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69464"/>
            <a:ext cx="4974336" cy="26060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700" b="0">
                <a:solidFill>
                  <a:srgbClr val="263B4F"/>
                </a:solidFill>
                <a:latin typeface="Times New Roman"/>
              </a:defRPr>
            </a:pPr>
            <a:r>
              <a:t>Patient, doctor, appointment and billing records live in different files.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700" b="0">
                <a:solidFill>
                  <a:srgbClr val="263B4F"/>
                </a:solidFill>
                <a:latin typeface="Times New Roman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700" b="0">
                <a:solidFill>
                  <a:srgbClr val="263B4F"/>
                </a:solidFill>
                <a:latin typeface="Times New Roman"/>
              </a:defRPr>
            </a:pPr>
            <a:r>
              <a:t>Managers cannot easily answer how many visits were completed, which services are busy, or how many bills remain pending.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01952"/>
            <a:ext cx="5367528" cy="3410712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901952"/>
            <a:ext cx="64008" cy="3410712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057400"/>
            <a:ext cx="4992624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YOUR 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569464"/>
            <a:ext cx="4974336" cy="26060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700" b="0">
                <a:solidFill>
                  <a:srgbClr val="263B4F"/>
                </a:solidFill>
                <a:latin typeface="Times New Roman"/>
              </a:defRPr>
            </a:pPr>
            <a:r>
              <a:t>1. Import the raw data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700" b="0">
                <a:solidFill>
                  <a:srgbClr val="263B4F"/>
                </a:solidFill>
                <a:latin typeface="Times New Roman"/>
              </a:defRPr>
            </a:pPr>
            <a:r>
              <a:t>2. Clean and join records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700" b="0">
                <a:solidFill>
                  <a:srgbClr val="263B4F"/>
                </a:solidFill>
                <a:latin typeface="Times New Roman"/>
              </a:defRPr>
            </a:pPr>
            <a:r>
              <a:t>3. Build business-ready Gold tables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700" b="0">
                <a:solidFill>
                  <a:srgbClr val="263B4F"/>
                </a:solidFill>
                <a:latin typeface="Times New Roman"/>
              </a:defRPr>
            </a:pPr>
            <a:r>
              <a:t>4. Visualize results in Tableau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700" b="0">
                <a:solidFill>
                  <a:srgbClr val="263B4F"/>
                </a:solidFill>
                <a:latin typeface="Times New Roman"/>
              </a:defRPr>
            </a:pPr>
            <a:r>
              <a:t>5. Recommend two improvements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Beginner-friendly · Use a clear, testable workflow rather than advanced features.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YOUR SOURCE DATA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Four raw files, four business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Each file contains 6,200 synthetic rows (24,800 rows in total).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1938528"/>
            <a:ext cx="5431536" cy="1453896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7512" y="1938528"/>
            <a:ext cx="64008" cy="1453896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093976"/>
            <a:ext cx="5056632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appointments.csv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606040"/>
            <a:ext cx="5038344" cy="6492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appointment_id · patient_id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doctor_id · date ·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938528"/>
            <a:ext cx="5431536" cy="1453896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18504" y="1938528"/>
            <a:ext cx="64008" cy="1453896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2093976"/>
            <a:ext cx="5056632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patients.csv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606040"/>
            <a:ext cx="5038344" cy="6492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patient_id · patient_name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age · 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3584448"/>
            <a:ext cx="5431536" cy="1453896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7512" y="3584448"/>
            <a:ext cx="64008" cy="145389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739896"/>
            <a:ext cx="5056632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doctors.csv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251960"/>
            <a:ext cx="5038344" cy="6492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doctor_id · doctor_name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specialization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3584448"/>
            <a:ext cx="5431536" cy="1453896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18504" y="3584448"/>
            <a:ext cx="64008" cy="1453896"/>
          </a:xfrm>
          <a:prstGeom prst="rect">
            <a:avLst/>
          </a:prstGeom>
          <a:solidFill>
            <a:srgbClr val="DE9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01384" y="3739896"/>
            <a:ext cx="5056632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billing.csv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251960"/>
            <a:ext cx="5038344" cy="6492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bill_id · appointment_id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amount · payment_status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JOIN KEYS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patient_id · doctor_id · appointment_id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INSPECT THE INPUT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What do the raw appointment rows look like?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Start by reading the headers before loading any data.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984248"/>
            <a:ext cx="10771632" cy="2734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" y="2057400"/>
            <a:ext cx="10625328" cy="429768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093976"/>
            <a:ext cx="1901952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1">
                <a:solidFill>
                  <a:srgbClr val="182E47"/>
                </a:solidFill>
                <a:latin typeface="Times New Roman"/>
              </a:defRPr>
            </a:pPr>
            <a:r>
              <a:t>appointment_id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93976"/>
            <a:ext cx="1938528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1">
                <a:solidFill>
                  <a:srgbClr val="182E47"/>
                </a:solidFill>
                <a:latin typeface="Times New Roman"/>
              </a:defRPr>
            </a:pPr>
            <a:r>
              <a:t>patient_id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093976"/>
            <a:ext cx="19659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1">
                <a:solidFill>
                  <a:srgbClr val="182E47"/>
                </a:solidFill>
                <a:latin typeface="Times New Roman"/>
              </a:defRPr>
            </a:pPr>
            <a:r>
              <a:t>doctor_id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2093976"/>
            <a:ext cx="20116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1">
                <a:solidFill>
                  <a:srgbClr val="182E47"/>
                </a:solidFill>
                <a:latin typeface="Times New Roman"/>
              </a:defRPr>
            </a:pPr>
            <a: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2093976"/>
            <a:ext cx="24231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1">
                <a:solidFill>
                  <a:srgbClr val="182E47"/>
                </a:solidFill>
                <a:latin typeface="Times New Roman"/>
              </a:defRPr>
            </a:pPr>
            <a: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523744"/>
            <a:ext cx="1901952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A00001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523744"/>
            <a:ext cx="1938528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P01059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2523744"/>
            <a:ext cx="19659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D4368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2523744"/>
            <a:ext cx="20116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2026-10-20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523744"/>
            <a:ext cx="24231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Completed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916936"/>
            <a:ext cx="10607040" cy="429768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2953512"/>
            <a:ext cx="1901952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A00002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953512"/>
            <a:ext cx="1938528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P05697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2953512"/>
            <a:ext cx="19659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D2080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2953512"/>
            <a:ext cx="20116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2026-10-02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5128" y="2953512"/>
            <a:ext cx="24231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Completed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3383280"/>
            <a:ext cx="1901952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A00003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383280"/>
            <a:ext cx="1938528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P05848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3383280"/>
            <a:ext cx="19659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D4557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3383280"/>
            <a:ext cx="20116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2026-10-04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3383280"/>
            <a:ext cx="24231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Completed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3776472"/>
            <a:ext cx="10607040" cy="429768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3813048"/>
            <a:ext cx="1901952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A00004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813048"/>
            <a:ext cx="1938528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P03686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3813048"/>
            <a:ext cx="19659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D0897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3813048"/>
            <a:ext cx="20116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2026-10-12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3813048"/>
            <a:ext cx="24231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Completed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4242816"/>
            <a:ext cx="1901952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A00005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242816"/>
            <a:ext cx="1938528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P06195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64608" y="4242816"/>
            <a:ext cx="19659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D0962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2008" y="4242816"/>
            <a:ext cx="20116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2026-10-18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5128" y="4242816"/>
            <a:ext cx="242316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60" b="0">
                <a:solidFill>
                  <a:srgbClr val="263B4F"/>
                </a:solidFill>
                <a:latin typeface="Times New Roman"/>
              </a:defRPr>
            </a:pPr>
            <a:r>
              <a:t>completed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ASK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Which column is the primary appointment identifier? Which tables should we JOIN?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RELATIONSHIPS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How the four files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The join key must describe the same entity in both tables.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1975104"/>
            <a:ext cx="3419856" cy="2450592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4088" y="1975104"/>
            <a:ext cx="64008" cy="2450592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130552"/>
            <a:ext cx="3044952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PATIENTS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642616"/>
            <a:ext cx="3026664" cy="16459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900" b="0">
                <a:solidFill>
                  <a:srgbClr val="263B4F"/>
                </a:solidFill>
                <a:latin typeface="Times New Roman"/>
              </a:defRPr>
            </a:pPr>
            <a:r>
              <a:t>patients.patient_id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900" b="0">
                <a:solidFill>
                  <a:srgbClr val="263B4F"/>
                </a:solidFill>
                <a:latin typeface="Times New Roman"/>
              </a:defRPr>
            </a:pPr>
            <a:r>
              <a:t>          ↓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900" b="0">
                <a:solidFill>
                  <a:srgbClr val="263B4F"/>
                </a:solidFill>
                <a:latin typeface="Times New Roman"/>
              </a:defRPr>
            </a:pPr>
            <a:r>
              <a:t>appointments.patient_id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975104"/>
            <a:ext cx="3419856" cy="2450592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975104"/>
            <a:ext cx="64008" cy="2450592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130552"/>
            <a:ext cx="3044952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DOCTORS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42616"/>
            <a:ext cx="3026664" cy="16459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900" b="0">
                <a:solidFill>
                  <a:srgbClr val="263B4F"/>
                </a:solidFill>
                <a:latin typeface="Times New Roman"/>
              </a:defRPr>
            </a:pPr>
            <a:r>
              <a:t>doctors.doctor_id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900" b="0">
                <a:solidFill>
                  <a:srgbClr val="263B4F"/>
                </a:solidFill>
                <a:latin typeface="Times New Roman"/>
              </a:defRPr>
            </a:pPr>
            <a:r>
              <a:t>          ↓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900" b="0">
                <a:solidFill>
                  <a:srgbClr val="263B4F"/>
                </a:solidFill>
                <a:latin typeface="Times New Roman"/>
              </a:defRPr>
            </a:pPr>
            <a:r>
              <a:t>appointments.doctor_id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975104"/>
            <a:ext cx="3419856" cy="2450592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5008" y="1975104"/>
            <a:ext cx="64008" cy="2450592"/>
          </a:xfrm>
          <a:prstGeom prst="rect">
            <a:avLst/>
          </a:prstGeom>
          <a:solidFill>
            <a:srgbClr val="DE9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2130552"/>
            <a:ext cx="3044952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BILLING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642616"/>
            <a:ext cx="3026664" cy="16459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0">
                <a:solidFill>
                  <a:srgbClr val="263B4F"/>
                </a:solidFill>
                <a:latin typeface="Times New Roman"/>
              </a:defRPr>
            </a:pPr>
            <a:r>
              <a:t>billing.appointment_id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800" b="0">
                <a:solidFill>
                  <a:srgbClr val="263B4F"/>
                </a:solidFill>
                <a:latin typeface="Times New Roman"/>
              </a:defRPr>
            </a:pPr>
            <a:r>
              <a:t>          ↓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800" b="0">
                <a:solidFill>
                  <a:srgbClr val="263B4F"/>
                </a:solidFill>
                <a:latin typeface="Times New Roman"/>
              </a:defRPr>
            </a:pPr>
            <a:r>
              <a:t>appointments.appointment_id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Validate unmatched IDs and avoid accidental duplication when joining.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BUSINESS QUESTIONS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What must the dashboard answer?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Use these questions to guide the Gold tables and Tableau visuals.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358384" cy="97840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093976"/>
            <a:ext cx="4983480" cy="57607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01  How many valid appointments exist?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358384" cy="97840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3096" y="2093976"/>
            <a:ext cx="4983480" cy="57607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02  How many were completed, cancelled or no-show?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026663"/>
            <a:ext cx="5358384" cy="97840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246120"/>
            <a:ext cx="4983480" cy="57607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03  What is the completion rate?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026663"/>
            <a:ext cx="5358384" cy="97840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3096" y="3246120"/>
            <a:ext cx="4983480" cy="57607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04  How do appointments vary by date?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78808"/>
            <a:ext cx="5358384" cy="97840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4398264"/>
            <a:ext cx="4983480" cy="57607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05  Which specializations have the most appointments?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78808"/>
            <a:ext cx="5358384" cy="97840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3096" y="4398264"/>
            <a:ext cx="4983480" cy="57607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06  Optional: How much billing is Paid vs Pending?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3 KPI cards + 2 charts + status distribution + 2 recommendations.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PICK A LAYOUT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Three simple dashboard designs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Students may follow any ONE design—or make a similarly clear alternative.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13432"/>
            <a:ext cx="3575304" cy="253288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313432"/>
            <a:ext cx="64008" cy="253288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468879"/>
            <a:ext cx="3200400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A  Hospital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980944"/>
            <a:ext cx="3182112" cy="172821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t>KPI cards, daily trend, status breakdown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313432"/>
            <a:ext cx="3575304" cy="253288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59" y="2313432"/>
            <a:ext cx="64008" cy="253288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79"/>
            <a:ext cx="3200400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B  Doctor Workload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80944"/>
            <a:ext cx="3182112" cy="172821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t>Specialization bars and completion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2313432"/>
            <a:ext cx="3575304" cy="253288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02752" y="2313432"/>
            <a:ext cx="64008" cy="2532888"/>
          </a:xfrm>
          <a:prstGeom prst="rect">
            <a:avLst/>
          </a:prstGeom>
          <a:solidFill>
            <a:srgbClr val="DE9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85632" y="2468879"/>
            <a:ext cx="3200400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C  Billing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980944"/>
            <a:ext cx="3182112" cy="172821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t>Paid vs pending and appointment trend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DELIVERABLE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One functional Tableau dashboard with readable titles and filters.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DASHBOARD DESIGN · 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Hospital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A straightforward dashboard for appointment performance.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38528"/>
            <a:ext cx="3575304" cy="8869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3" y="2039112"/>
            <a:ext cx="320040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APPOINTMENTS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2295144"/>
            <a:ext cx="3218688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t>6,197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938528"/>
            <a:ext cx="3575304" cy="8869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2039112"/>
            <a:ext cx="320040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295144"/>
            <a:ext cx="3218688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t>4,728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938528"/>
            <a:ext cx="3575304" cy="8869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2039112"/>
            <a:ext cx="320040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COMPLETION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295144"/>
            <a:ext cx="3218688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t>76.3%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26664"/>
            <a:ext cx="3575304" cy="2459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172968"/>
            <a:ext cx="322783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Daily trend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2415" y="4983480"/>
            <a:ext cx="2798065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2415" y="3675887"/>
            <a:ext cx="0" cy="1307593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07007" y="4443983"/>
            <a:ext cx="475488" cy="310896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82495" y="4443983"/>
            <a:ext cx="475489" cy="219457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157984" y="4142231"/>
            <a:ext cx="475488" cy="521209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3472" y="4142231"/>
            <a:ext cx="475488" cy="137161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108960" y="3986783"/>
            <a:ext cx="475488" cy="292609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2103" y="5193792"/>
            <a:ext cx="3218688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t>gold_daily.csv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3026664"/>
            <a:ext cx="3575304" cy="2459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45151" y="3172968"/>
            <a:ext cx="322783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Appointment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3767328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Gen Med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15583" y="3803904"/>
            <a:ext cx="1438534" cy="15544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90872" y="4105656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Cardio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15583" y="4142232"/>
            <a:ext cx="984260" cy="15544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0872" y="4443984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Ortho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15583" y="4480560"/>
            <a:ext cx="1665671" cy="15544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90872" y="4782312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Pediatrics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15583" y="4818888"/>
            <a:ext cx="1173540" cy="15544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54296" y="5193792"/>
            <a:ext cx="3218688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t>gold_summary.csv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2752" y="3026664"/>
            <a:ext cx="3575304" cy="2459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67344" y="3172968"/>
            <a:ext cx="322783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Business 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3822191"/>
            <a:ext cx="3218688" cy="1444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•  Find the busiest service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•  Identify preventable no-shows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•  Recommend one operational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5193792"/>
            <a:ext cx="3218688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t>2 recommendations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DESIGN TIP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Use Gold-layer outputs; do not import all raw tables directly into every chart.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DASHBOARD DESIGN · 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Doctor Workload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Focus on which hospital specialties carry the highest volume.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38528"/>
            <a:ext cx="3575304" cy="8869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3" y="2039112"/>
            <a:ext cx="320040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APPOINTMENTS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2295144"/>
            <a:ext cx="3218688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t>6,197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938528"/>
            <a:ext cx="3575304" cy="8869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2039112"/>
            <a:ext cx="320040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295144"/>
            <a:ext cx="3218688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t>4,728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938528"/>
            <a:ext cx="3575304" cy="8869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2039112"/>
            <a:ext cx="320040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COMPLETION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295144"/>
            <a:ext cx="3218688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t>76.3%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26664"/>
            <a:ext cx="3575304" cy="2459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172968"/>
            <a:ext cx="322783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Appointments by specialty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67328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Gen 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3391" y="3803904"/>
            <a:ext cx="1438534" cy="15544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105656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Cardio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93391" y="4142232"/>
            <a:ext cx="984260" cy="15544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443984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Ortho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93391" y="4480560"/>
            <a:ext cx="1665671" cy="15544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782312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Pediatrics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93391" y="4818888"/>
            <a:ext cx="1173540" cy="15544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3" y="5193792"/>
            <a:ext cx="3218688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t>gold_specialization.csv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3026664"/>
            <a:ext cx="3575304" cy="2459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45151" y="3172968"/>
            <a:ext cx="322783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Completion 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3767328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Gen Med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5583" y="3803904"/>
            <a:ext cx="1438534" cy="15544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90872" y="4105656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Cardio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15583" y="4142232"/>
            <a:ext cx="984260" cy="15544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90872" y="4443984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Ortho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15583" y="4480560"/>
            <a:ext cx="1665671" cy="15544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90872" y="4782312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Pediatrics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15583" y="4818888"/>
            <a:ext cx="1173540" cy="15544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54296" y="5193792"/>
            <a:ext cx="3218688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t>gold_specialization.csv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02752" y="3026664"/>
            <a:ext cx="3575304" cy="2459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67344" y="3172968"/>
            <a:ext cx="322783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Action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3822191"/>
            <a:ext cx="3218688" cy="1444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•  Find the busiest service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•  Identify preventable no-shows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•  Recommend one operational 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6488" y="5193792"/>
            <a:ext cx="3218688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t>2 recommendations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DESIGN TIP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Use Gold-layer outputs; do not import all raw tables directly into every chart.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DASHBOARD DESIGN · 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Billing &amp; Appointments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Optional billing detail alongside basic hospital KPIs.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38528"/>
            <a:ext cx="3575304" cy="8869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3" y="2039112"/>
            <a:ext cx="320040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APPOINTMENTS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2295144"/>
            <a:ext cx="3218688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t>6,197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938528"/>
            <a:ext cx="3575304" cy="8869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2039112"/>
            <a:ext cx="320040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295144"/>
            <a:ext cx="3218688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t>4,728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938528"/>
            <a:ext cx="3575304" cy="8869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2039112"/>
            <a:ext cx="320040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COMPLETION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295144"/>
            <a:ext cx="3218688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t>76.3%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26664"/>
            <a:ext cx="3575304" cy="2459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172968"/>
            <a:ext cx="322783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Paid versus 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67328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Gen 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3391" y="3803904"/>
            <a:ext cx="1438534" cy="15544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105656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Cardio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93391" y="4142232"/>
            <a:ext cx="984260" cy="15544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443984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Ortho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93391" y="4480560"/>
            <a:ext cx="1665671" cy="15544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782312"/>
            <a:ext cx="1060704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t>Pediatrics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93391" y="4818888"/>
            <a:ext cx="1173540" cy="15544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3" y="5193792"/>
            <a:ext cx="3218688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t>gold_billing.csv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3026664"/>
            <a:ext cx="3575304" cy="2459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45151" y="3172968"/>
            <a:ext cx="322783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Appointment trend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64607" y="4983480"/>
            <a:ext cx="2798064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64607" y="3675887"/>
            <a:ext cx="0" cy="1307593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29199" y="4443983"/>
            <a:ext cx="475489" cy="310896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04688" y="4443983"/>
            <a:ext cx="475487" cy="219457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980175" y="4142231"/>
            <a:ext cx="475488" cy="521209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55663" y="4142231"/>
            <a:ext cx="475488" cy="137161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931151" y="3986783"/>
            <a:ext cx="475489" cy="292609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54296" y="5193792"/>
            <a:ext cx="3218688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t>gold_daily.csv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2752" y="3026664"/>
            <a:ext cx="3575304" cy="2459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67344" y="3172968"/>
            <a:ext cx="322783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Collection 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3822191"/>
            <a:ext cx="3218688" cy="1444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•  Find the busiest service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•  Identify preventable no-shows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•  Recommend one operational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5193792"/>
            <a:ext cx="3218688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t>2 recommendations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DESIGN TIP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Use Gold-layer outputs; do not import all raw tables directly into every chart.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OPEN YOUR FILES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Where is everything in the Day 2 ZIP?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Navigate to Day 2 and follow the numbered folders in order.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892807"/>
            <a:ext cx="10789920" cy="52120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02536"/>
            <a:ext cx="4983480" cy="26517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Aptos Mono"/>
              </a:defRPr>
            </a:pPr>
            <a:r>
              <a:t>01_Problem_Statement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02536"/>
            <a:ext cx="5212080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5F7285"/>
                </a:solidFill>
                <a:latin typeface="Times New Roman"/>
              </a:defRPr>
            </a:pPr>
            <a:r>
              <a:t>Project brief and questions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2496312"/>
            <a:ext cx="10789920" cy="52120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983480" cy="26517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Aptos Mono"/>
              </a:defRPr>
            </a:pPr>
            <a:r>
              <a:t>02_Bronze_Raw_Data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606040"/>
            <a:ext cx="5212080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5F7285"/>
                </a:solidFill>
                <a:latin typeface="Times New Roman"/>
              </a:defRPr>
            </a:pPr>
            <a:r>
              <a:t>Four CSV inputs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3099815"/>
            <a:ext cx="10789920" cy="52120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209544"/>
            <a:ext cx="4983480" cy="26517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Aptos Mono"/>
              </a:defRPr>
            </a:pPr>
            <a:r>
              <a:t>03_SQL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209544"/>
            <a:ext cx="5212080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5F7285"/>
                </a:solidFill>
                <a:latin typeface="Times New Roman"/>
              </a:defRPr>
            </a:pPr>
            <a:r>
              <a:t>Create → insert → clean/aggregate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3703320"/>
            <a:ext cx="10789920" cy="52120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4983480" cy="26517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Aptos Mono"/>
              </a:defRPr>
            </a:pPr>
            <a:r>
              <a:t>04_Python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813048"/>
            <a:ext cx="5212080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5F7285"/>
                </a:solidFill>
                <a:latin typeface="Times New Roman"/>
              </a:defRPr>
            </a:pPr>
            <a:r>
              <a:t>Alternative ETL script and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4306824"/>
            <a:ext cx="10789920" cy="52120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416552"/>
            <a:ext cx="4983480" cy="26517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Aptos Mono"/>
              </a:defRPr>
            </a:pPr>
            <a:r>
              <a:t>05_Silver_Gold_Expected_Outputs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416552"/>
            <a:ext cx="5212080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5F7285"/>
                </a:solidFill>
                <a:latin typeface="Times New Roman"/>
              </a:defRPr>
            </a:pPr>
            <a:r>
              <a:t>Compare results; Gold CSVs for Tableau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4910328"/>
            <a:ext cx="10789920" cy="52120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020056"/>
            <a:ext cx="4983480" cy="26517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Aptos Mono"/>
              </a:defRPr>
            </a:pPr>
            <a:r>
              <a:t>06_Dashboard_Designs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020056"/>
            <a:ext cx="5212080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5F7285"/>
                </a:solidFill>
                <a:latin typeface="Times New Roman"/>
              </a:defRPr>
            </a:pPr>
            <a:r>
              <a:t>Three editable PowerPoint layouts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FOLDER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Day 2 is the starting directory. Keep files in their existing subfolders.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LIVE BUILD · STEP 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Create the SQL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Use SQLite mode if working inside an online SQL compiler.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1947672"/>
            <a:ext cx="6437376" cy="36301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075688"/>
            <a:ext cx="6071616" cy="25603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168980"/>
                </a:solidFill>
                <a:latin typeface="Times New Roman"/>
              </a:defRPr>
            </a:pPr>
            <a:r>
              <a:t>01_create_tables.sql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59736"/>
            <a:ext cx="6016752" cy="29352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70" b="0">
                <a:solidFill>
                  <a:srgbClr val="182E47"/>
                </a:solidFill>
                <a:latin typeface="Aptos Mono"/>
              </a:defRPr>
            </a:pPr>
            <a:r>
              <a:t>-- Step 1: Create raw Bronze tables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70" b="0">
                <a:solidFill>
                  <a:srgbClr val="182E47"/>
                </a:solidFill>
                <a:latin typeface="Aptos Mono"/>
              </a:defRPr>
            </a:pPr>
            <a:r>
              <a:t>CREATE TABLE IF NOT EXISTS bronze_appointments 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70" b="0">
                <a:solidFill>
                  <a:srgbClr val="182E47"/>
                </a:solidFill>
                <a:latin typeface="Aptos Mono"/>
              </a:defRPr>
            </a:pPr>
            <a:r>
              <a:t>  appointment_id TEXT, patient_id TEXT,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70" b="0">
                <a:solidFill>
                  <a:srgbClr val="182E47"/>
                </a:solidFill>
                <a:latin typeface="Aptos Mono"/>
              </a:defRPr>
            </a:pPr>
            <a:r>
              <a:t>  doctor_id TEXT, appointment_date TEXT,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70" b="0">
                <a:solidFill>
                  <a:srgbClr val="182E47"/>
                </a:solidFill>
                <a:latin typeface="Aptos Mono"/>
              </a:defRPr>
            </a:pPr>
            <a:r>
              <a:t>  status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70" b="0">
                <a:solidFill>
                  <a:srgbClr val="182E47"/>
                </a:solidFill>
                <a:latin typeface="Aptos Mono"/>
              </a:defRPr>
            </a:pPr>
            <a:r>
              <a:t>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1" y="1947672"/>
            <a:ext cx="4160520" cy="36301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42631" y="1947672"/>
            <a:ext cx="64008" cy="363016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25511" y="2103120"/>
            <a:ext cx="3785615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OPEN THIS FOLDER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1" y="2615184"/>
            <a:ext cx="3767328" cy="28254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r>
              <a:t>03_SQL/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r>
              <a:t>Step_01_Create_Tables/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r>
              <a:t>File: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r>
              <a:t>01_create_tables.sql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450" b="0">
                <a:solidFill>
                  <a:srgbClr val="263B4F"/>
                </a:solidFill>
                <a:latin typeface="Times New Roman"/>
              </a:defRPr>
            </a:pPr>
            <a:r>
              <a:t>Run before importing rows.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Do all four Bronze tables now exist in the database?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LIVE BUILD · STEP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Insert the raw CSV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Run the numbered insert batches for each source table.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47672"/>
            <a:ext cx="6501384" cy="3547872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75688"/>
            <a:ext cx="6135624" cy="25603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168980"/>
                </a:solidFill>
                <a:latin typeface="Times New Roman"/>
              </a:defRPr>
            </a:pPr>
            <a:r>
              <a:t>EXAMPLE INSERT · FROM REAL SOURCE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59736"/>
            <a:ext cx="6080760" cy="285292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t>INSERT INTO bronze_appointments VALUES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182E47"/>
                </a:solidFill>
                <a:latin typeface="Aptos Mono"/>
              </a:defRPr>
            </a:pPr>
            <a:r>
              <a:t>  ('A00001', 'P01059', 'D4368', '2026-10-20', 'Completed');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51775" y="1947672"/>
            <a:ext cx="4151376" cy="3547872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51775" y="1947672"/>
            <a:ext cx="64008" cy="3547872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34655" y="2103120"/>
            <a:ext cx="3776472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OPEN THIS FOLDER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5" y="2615184"/>
            <a:ext cx="3758184" cy="2743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03_SQL/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Step_02_Insert_Data/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appointments/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doctors/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patients/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billing/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t>Run files 001 → 062 in each.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IMPORTANT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248 batches total; for limited online editors, use the prepared SQLite database instead.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LIVE BUILD · STEP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Clean and transform to Silver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Remove bad records and create a reliable joined appointments table.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1920240"/>
            <a:ext cx="6839712" cy="3648456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048256"/>
            <a:ext cx="6473952" cy="25603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168980"/>
                </a:solidFill>
                <a:latin typeface="Times New Roman"/>
              </a:defRPr>
            </a:pPr>
            <a:r>
              <a:t>CLEAN • NORMALIZE • DEDUPLICATE •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32304"/>
            <a:ext cx="6419088" cy="29535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t>-- Silver examples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t>TRIM(appointment_id)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t>LOWER(TRIM(status))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t>ROW_NUMBER() OVER(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t> PARTITION BY appointment_id ORDER BY rowid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70" b="0">
                <a:solidFill>
                  <a:srgbClr val="182E47"/>
                </a:solidFill>
                <a:latin typeface="Aptos Mono"/>
              </a:defRPr>
            </a:pPr>
            <a:r>
              <a:t>JOIN bronze_doctors ON doctor_id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1929384"/>
            <a:ext cx="3730752" cy="3639312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35824" y="1929384"/>
            <a:ext cx="64008" cy="3639312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18704" y="2084831"/>
            <a:ext cx="3355848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DATA QUALITY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2596896"/>
            <a:ext cx="3337560" cy="2834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t>• Valid patient and doctor IDs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t>• One record per appointment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t>• Known appointment status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t>• Clean billing amounts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t>• Do not count raw duplicates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SILVER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Expected cleaned appointments: 6,197 from 6,200 raw rows.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LIVE BUILD · STEP 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Create business-ready Gold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Turn clean records into KPIs Tableau can read directly.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947672"/>
            <a:ext cx="5797296" cy="358444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5431536" cy="25603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168980"/>
                </a:solidFill>
                <a:latin typeface="Times New Roman"/>
              </a:defRPr>
            </a:pPr>
            <a:r>
              <a:t>GOLD QUERY SNIPPET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59736"/>
            <a:ext cx="5376672" cy="28895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182E47"/>
                </a:solidFill>
                <a:latin typeface="Aptos Mono"/>
              </a:defRPr>
            </a:pPr>
            <a:r>
              <a:t>-- Example Gold aggregation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182E47"/>
                </a:solidFill>
                <a:latin typeface="Aptos Mono"/>
              </a:defRPr>
            </a:pPr>
            <a:r>
              <a:t>SELECT specialization,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182E47"/>
                </a:solidFill>
                <a:latin typeface="Aptos Mono"/>
              </a:defRPr>
            </a:pPr>
            <a:r>
              <a:t>       COUNT(*) AS appointments,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182E47"/>
                </a:solidFill>
                <a:latin typeface="Aptos Mono"/>
              </a:defRPr>
            </a:pPr>
            <a:r>
              <a:t>       SUM(CASE WHEN status='Completed'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182E47"/>
                </a:solidFill>
                <a:latin typeface="Aptos Mono"/>
              </a:defRPr>
            </a:pPr>
            <a:r>
              <a:t>           THEN 1 ELSE 0 END) completed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182E47"/>
                </a:solidFill>
                <a:latin typeface="Aptos Mono"/>
              </a:defRPr>
            </a:pPr>
            <a:r>
              <a:t>FROM silver_appointments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20" b="0">
                <a:solidFill>
                  <a:srgbClr val="182E47"/>
                </a:solidFill>
                <a:latin typeface="Aptos Mono"/>
              </a:defRPr>
            </a:pPr>
            <a:r>
              <a:t>GROUP BY specialization;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956816"/>
            <a:ext cx="4800600" cy="2734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48272" y="2029968"/>
            <a:ext cx="4654296" cy="429768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21424" y="2066544"/>
            <a:ext cx="283464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1">
                <a:solidFill>
                  <a:srgbClr val="182E47"/>
                </a:solidFill>
                <a:latin typeface="Times New Roman"/>
              </a:defRPr>
            </a:pPr>
            <a:r>
              <a:t>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47504" y="2066544"/>
            <a:ext cx="17830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1">
                <a:solidFill>
                  <a:srgbClr val="182E47"/>
                </a:solidFill>
                <a:latin typeface="Times New Roman"/>
              </a:defRPr>
            </a:pPr>
            <a: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2496312"/>
            <a:ext cx="283464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0">
                <a:solidFill>
                  <a:srgbClr val="263B4F"/>
                </a:solidFill>
                <a:latin typeface="Times New Roman"/>
              </a:defRPr>
            </a:pPr>
            <a:r>
              <a:t>Valid appointments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496312"/>
            <a:ext cx="17830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0">
                <a:solidFill>
                  <a:srgbClr val="263B4F"/>
                </a:solidFill>
                <a:latin typeface="Times New Roman"/>
              </a:defRPr>
            </a:pPr>
            <a:r>
              <a:t>6,197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7416" y="2889504"/>
            <a:ext cx="4636008" cy="429768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21424" y="2926080"/>
            <a:ext cx="283464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0">
                <a:solidFill>
                  <a:srgbClr val="263B4F"/>
                </a:solidFill>
                <a:latin typeface="Times New Roman"/>
              </a:defRPr>
            </a:pPr>
            <a:r>
              <a:t>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47504" y="2926080"/>
            <a:ext cx="17830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0">
                <a:solidFill>
                  <a:srgbClr val="263B4F"/>
                </a:solidFill>
                <a:latin typeface="Times New Roman"/>
              </a:defRPr>
            </a:pPr>
            <a:r>
              <a:t>4,728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3355848"/>
            <a:ext cx="283464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0">
                <a:solidFill>
                  <a:srgbClr val="263B4F"/>
                </a:solidFill>
                <a:latin typeface="Times New Roman"/>
              </a:defRPr>
            </a:pPr>
            <a:r>
              <a:t>Cancelled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3355848"/>
            <a:ext cx="17830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0">
                <a:solidFill>
                  <a:srgbClr val="263B4F"/>
                </a:solidFill>
                <a:latin typeface="Times New Roman"/>
              </a:defRPr>
            </a:pPr>
            <a:r>
              <a:t>1,031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7416" y="3749040"/>
            <a:ext cx="4636008" cy="429768"/>
          </a:xfrm>
          <a:prstGeom prst="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21424" y="3785616"/>
            <a:ext cx="283464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0">
                <a:solidFill>
                  <a:srgbClr val="263B4F"/>
                </a:solidFill>
                <a:latin typeface="Times New Roman"/>
              </a:defRPr>
            </a:pPr>
            <a:r>
              <a:t>No-show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3785616"/>
            <a:ext cx="17830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0">
                <a:solidFill>
                  <a:srgbClr val="263B4F"/>
                </a:solidFill>
                <a:latin typeface="Times New Roman"/>
              </a:defRPr>
            </a:pPr>
            <a:r>
              <a:t>438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215383"/>
            <a:ext cx="283464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0">
                <a:solidFill>
                  <a:srgbClr val="263B4F"/>
                </a:solidFill>
                <a:latin typeface="Times New Roman"/>
              </a:defRPr>
            </a:pPr>
            <a:r>
              <a:t>Completion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4215383"/>
            <a:ext cx="1783079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60" b="0">
                <a:solidFill>
                  <a:srgbClr val="263B4F"/>
                </a:solidFill>
                <a:latin typeface="Times New Roman"/>
              </a:defRPr>
            </a:pPr>
            <a:r>
              <a:t>76.3%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Use the Gold CSVs for Tableau—not the raw Bronze CSVs.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ALTERNATIVE ETL ROUTE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Prefer Python? Use the ready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Python solution uses NumPy and the standard library; Pandas training is optional.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1920240"/>
            <a:ext cx="6483096" cy="3657600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048256"/>
            <a:ext cx="6117336" cy="25603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168980"/>
                </a:solidFill>
                <a:latin typeface="Times New Roman"/>
              </a:defRPr>
            </a:pPr>
            <a:r>
              <a:t>NUMPY + STANDARD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32304"/>
            <a:ext cx="6062472" cy="29626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30" b="0">
                <a:solidFill>
                  <a:srgbClr val="182E47"/>
                </a:solidFill>
                <a:latin typeface="Aptos Mono"/>
              </a:defRPr>
            </a:pPr>
            <a:r>
              <a:t># Day 2 provided script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30" b="0">
                <a:solidFill>
                  <a:srgbClr val="182E47"/>
                </a:solidFill>
                <a:latin typeface="Aptos Mono"/>
              </a:defRPr>
            </a:pPr>
            <a:r>
              <a:t># 04_Python/clinicpulse_etl.py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30" b="0">
                <a:solidFill>
                  <a:srgbClr val="182E47"/>
                </a:solidFill>
                <a:latin typeface="Aptos Mono"/>
              </a:defRPr>
            </a:pPr>
            <a:r>
              <a:t>import csv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30" b="0">
                <a:solidFill>
                  <a:srgbClr val="182E47"/>
                </a:solidFill>
                <a:latin typeface="Aptos Mono"/>
              </a:defRPr>
            </a:pPr>
            <a:r>
              <a:t>import pathlib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30" b="0">
                <a:solidFill>
                  <a:srgbClr val="182E47"/>
                </a:solidFill>
                <a:latin typeface="Aptos Mono"/>
              </a:defRPr>
            </a:pPr>
            <a:r>
              <a:t>import collections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30" b="0">
                <a:solidFill>
                  <a:srgbClr val="182E47"/>
                </a:solidFill>
                <a:latin typeface="Aptos Mono"/>
              </a:defRPr>
            </a:pPr>
            <a:r>
              <a:t>import numpy as np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30" b="0">
                <a:solidFill>
                  <a:srgbClr val="182E47"/>
                </a:solidFill>
                <a:latin typeface="Aptos Mono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430" b="0">
                <a:solidFill>
                  <a:srgbClr val="182E47"/>
                </a:solidFill>
                <a:latin typeface="Aptos Mono"/>
              </a:defRPr>
            </a:pPr>
            <a:r>
              <a:t># Read → validate → join → summarize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30" b="0">
                <a:solidFill>
                  <a:srgbClr val="182E47"/>
                </a:solidFill>
                <a:latin typeface="Aptos Mono"/>
              </a:defRPr>
            </a:pPr>
            <a:r>
              <a:t># Output: 04_Python/output/gold_*.csv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9208" y="1920240"/>
            <a:ext cx="4151376" cy="3657600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79208" y="1920240"/>
            <a:ext cx="64008" cy="3657600"/>
          </a:xfrm>
          <a:prstGeom prst="rect">
            <a:avLst/>
          </a:prstGeom>
          <a:solidFill>
            <a:srgbClr val="DE9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2075688"/>
            <a:ext cx="3776472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REMEMBER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2587752"/>
            <a:ext cx="3758184" cy="285292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263B4F"/>
                </a:solidFill>
                <a:latin typeface="Times New Roman"/>
              </a:defRPr>
            </a:pPr>
            <a:r>
              <a:t>The refresher shows popular Pandas methods too.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263B4F"/>
                </a:solidFill>
                <a:latin typeface="Times New Roman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263B4F"/>
                </a:solidFill>
                <a:latin typeface="Times New Roman"/>
              </a:defRPr>
            </a:pPr>
            <a:r>
              <a:t>But the shared Day 2 project script runs with NumPy + built-in libraries only.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263B4F"/>
                </a:solidFill>
                <a:latin typeface="Times New Roman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263B4F"/>
                </a:solidFill>
                <a:latin typeface="Times New Roman"/>
              </a:defRPr>
            </a:pPr>
            <a:r>
              <a:t>Use either SQL OR Python for cleaning.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CHOICE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Both approaches lead to the same Gold business outputs.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GUIDED BUILD · DEMO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Watch once, then recreate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Live walkthrough: Bronze → Silver → Gold → Tableau.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349240" cy="87782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139696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68980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84832"/>
            <a:ext cx="1444752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130552"/>
            <a:ext cx="3090672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50" b="0">
                <a:solidFill>
                  <a:srgbClr val="5F7285"/>
                </a:solidFill>
                <a:latin typeface="Times New Roman"/>
              </a:defRPr>
            </a:pPr>
            <a:r>
              <a:t>02_Bronze_Raw_Data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38528"/>
            <a:ext cx="5349240" cy="87782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139696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68980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084832"/>
            <a:ext cx="1444752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130552"/>
            <a:ext cx="3090672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50" b="0">
                <a:solidFill>
                  <a:srgbClr val="5F7285"/>
                </a:solidFill>
                <a:latin typeface="Times New Roman"/>
              </a:defRPr>
            </a:pPr>
            <a:r>
              <a:t>03_SQL / Step_01 + Step_02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62656"/>
            <a:ext cx="5349240" cy="87782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16382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68980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08960"/>
            <a:ext cx="1444752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3154680"/>
            <a:ext cx="3090672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50" b="0">
                <a:solidFill>
                  <a:srgbClr val="5F7285"/>
                </a:solidFill>
                <a:latin typeface="Times New Roman"/>
              </a:defRPr>
            </a:pPr>
            <a:r>
              <a:t>03_SQL / Step_03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962656"/>
            <a:ext cx="5349240" cy="87782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16382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68980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108960"/>
            <a:ext cx="1444752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154680"/>
            <a:ext cx="3090672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50" b="0">
                <a:solidFill>
                  <a:srgbClr val="5F7285"/>
                </a:solidFill>
                <a:latin typeface="Times New Roman"/>
              </a:defRPr>
            </a:pPr>
            <a:r>
              <a:t>05_Silver_Gold_Expected_Outputs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986784"/>
            <a:ext cx="5349240" cy="87782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4187952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68980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133088"/>
            <a:ext cx="1444752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t>Visualize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4178808"/>
            <a:ext cx="3090672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50" b="0">
                <a:solidFill>
                  <a:srgbClr val="5F7285"/>
                </a:solidFill>
                <a:latin typeface="Times New Roman"/>
              </a:defRPr>
            </a:pPr>
            <a:r>
              <a:t>Tableau workbook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YOUR 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Students repeat this sequence on their own machines.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1947672"/>
            <a:ext cx="101132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72B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LUNCH BREAK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499616" y="3200400"/>
            <a:ext cx="92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900" dirty="0">
                <a:solidFill>
                  <a:srgbClr val="5C6D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12:40–1:10 PM  ·  </a:t>
            </a:r>
            <a:r>
              <a:rPr lang="en-US" sz="1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We resume with the Capstone Project.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19472" y="4224528"/>
            <a:ext cx="2377440" cy="73152"/>
          </a:xfrm>
          <a:prstGeom prst="roundRect">
            <a:avLst>
              <a:gd name="adj" fmla="val 37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21792" y="2560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087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658368"/>
            <a:ext cx="10948111" cy="0"/>
          </a:xfrm>
          <a:prstGeom prst="line">
            <a:avLst/>
          </a:prstGeom>
          <a:noFill/>
          <a:ln w="15240">
            <a:solidFill>
              <a:srgbClr val="345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1792" y="6455664"/>
            <a:ext cx="10948111" cy="0"/>
          </a:xfrm>
          <a:prstGeom prst="line">
            <a:avLst/>
          </a:prstGeom>
          <a:noFill/>
          <a:ln w="12700">
            <a:solidFill>
              <a:srgbClr val="345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21792" y="6547104"/>
            <a:ext cx="6400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C6D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 R. MANGALAM UNIVERSITY  •  22 OCT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89720" y="654710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6D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NAMAN SHARMA   /   69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PROJECT CONTINUATION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Back to the build | Finish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Work in pairs if setup or compiler limitations slow you down.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367528" cy="13441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103120"/>
            <a:ext cx="64008" cy="134416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258568"/>
            <a:ext cx="4992624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CHECK 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770632"/>
            <a:ext cx="4974336" cy="5394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263B4F"/>
                </a:solidFill>
                <a:latin typeface="Times New Roman"/>
              </a:defRPr>
            </a:pPr>
            <a:r>
              <a:t>6,197 valid appointments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103120"/>
            <a:ext cx="5367528" cy="13441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81928" y="2103120"/>
            <a:ext cx="64008" cy="134416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258568"/>
            <a:ext cx="4992624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CHECK 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770632"/>
            <a:ext cx="4974336" cy="5394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263B4F"/>
                </a:solidFill>
                <a:latin typeface="Times New Roman"/>
              </a:defRPr>
            </a:pPr>
            <a:r>
              <a:t>4,728 completed · 76.3%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648456"/>
            <a:ext cx="5367528" cy="13441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648456"/>
            <a:ext cx="64008" cy="1344168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803904"/>
            <a:ext cx="4992624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BUILD VISUALS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15968"/>
            <a:ext cx="4974336" cy="5394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263B4F"/>
                </a:solidFill>
                <a:latin typeface="Times New Roman"/>
              </a:defRPr>
            </a:pPr>
            <a:r>
              <a:t>KPI cards, 2 charts,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3648456"/>
            <a:ext cx="5367528" cy="134416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81928" y="3648456"/>
            <a:ext cx="64008" cy="1344168"/>
          </a:xfrm>
          <a:prstGeom prst="rect">
            <a:avLst/>
          </a:prstGeom>
          <a:solidFill>
            <a:srgbClr val="DE9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3803904"/>
            <a:ext cx="4992624" cy="3749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315968"/>
            <a:ext cx="4974336" cy="5394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263B4F"/>
                </a:solidFill>
                <a:latin typeface="Times New Roman"/>
              </a:defRPr>
            </a:pPr>
            <a:r>
              <a:t>Two recommendations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Use the dashboard option you selected earlier: A, B or 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TABLEAU LIVE BUILD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From Gold CSVs to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Build individual worksheets before arranging them on a dashboard canvas.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01952"/>
            <a:ext cx="10725912" cy="60350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438912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68980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029968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t>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6" y="2039112"/>
            <a:ext cx="6729984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30" b="0">
                <a:solidFill>
                  <a:srgbClr val="5F7285"/>
                </a:solidFill>
                <a:latin typeface="Times New Roman"/>
              </a:defRPr>
            </a:pPr>
            <a:r>
              <a:t>gold_summary.csv, gold_daily.csv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10725912" cy="60350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752344"/>
            <a:ext cx="438912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68980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4320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t>KPI worksheet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5656" y="2752344"/>
            <a:ext cx="6729984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30" b="0">
                <a:solidFill>
                  <a:srgbClr val="5F7285"/>
                </a:solidFill>
                <a:latin typeface="Times New Roman"/>
              </a:defRPr>
            </a:pPr>
            <a:r>
              <a:t>Appointments / Completed /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328416"/>
            <a:ext cx="10725912" cy="60350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465576"/>
            <a:ext cx="438912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68980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456432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t>Trend 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5656" y="3465576"/>
            <a:ext cx="6729984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30" b="0">
                <a:solidFill>
                  <a:srgbClr val="5F7285"/>
                </a:solidFill>
                <a:latin typeface="Times New Roman"/>
              </a:defRPr>
            </a:pPr>
            <a:r>
              <a:t>appointment_date → Columns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41648"/>
            <a:ext cx="10725912" cy="60350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178808"/>
            <a:ext cx="438912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68980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169663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t>Category 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05656" y="4178808"/>
            <a:ext cx="6729984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30" b="0">
                <a:solidFill>
                  <a:srgbClr val="5F7285"/>
                </a:solidFill>
                <a:latin typeface="Times New Roman"/>
              </a:defRPr>
            </a:pPr>
            <a:r>
              <a:t>specialization → Rows; count → Columns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754880"/>
            <a:ext cx="10725912" cy="60350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892040"/>
            <a:ext cx="438912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68980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882896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82E47"/>
                </a:solidFill>
                <a:latin typeface="Times New Roman"/>
              </a:defRPr>
            </a:pPr>
            <a: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5656" y="4892040"/>
            <a:ext cx="6729984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30" b="0">
                <a:solidFill>
                  <a:srgbClr val="5F7285"/>
                </a:solidFill>
                <a:latin typeface="Times New Roman"/>
              </a:defRPr>
            </a:pPr>
            <a:r>
              <a:t>Combine 3 KPI tiles + 2 visuals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FINISH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Add clear sheet titles, appropriate labels and one sensible filter.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K. R. MANGALAM UNIVERSITY  |  DAY 2 · CREATE  |  PROJECT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03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Five checks before you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3896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t>Make sure the dashboard answers actual business questions.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01384"/>
            <a:ext cx="1499616" cy="17373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NAMAN SHARMA / 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56816"/>
            <a:ext cx="10552176" cy="55778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66544"/>
            <a:ext cx="320040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168980"/>
                </a:solidFill>
                <a:latin typeface="Times New Roman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2057400"/>
            <a:ext cx="9528048" cy="310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182E47"/>
                </a:solidFill>
                <a:latin typeface="Times New Roman"/>
              </a:defRPr>
            </a:pPr>
            <a:r>
              <a:t>KPIs match the expected Gold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24328"/>
            <a:ext cx="10552176" cy="55778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2734056"/>
            <a:ext cx="320040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168980"/>
                </a:solidFill>
                <a:latin typeface="Times New Roman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2724912"/>
            <a:ext cx="9528048" cy="310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182E47"/>
                </a:solidFill>
                <a:latin typeface="Times New Roman"/>
              </a:defRPr>
            </a:pPr>
            <a:r>
              <a:t>Appointment IDs are deduplicated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91840"/>
            <a:ext cx="10552176" cy="55778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401568"/>
            <a:ext cx="320040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168980"/>
                </a:solidFill>
                <a:latin typeface="Times New Roman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4" y="3392424"/>
            <a:ext cx="9528048" cy="310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182E47"/>
                </a:solidFill>
                <a:latin typeface="Times New Roman"/>
              </a:defRPr>
            </a:pPr>
            <a:r>
              <a:t>Status labels are normalized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59352"/>
            <a:ext cx="10552176" cy="55778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4069080"/>
            <a:ext cx="320040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168980"/>
                </a:solidFill>
                <a:latin typeface="Times New Roman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" y="4059936"/>
            <a:ext cx="9528048" cy="310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182E47"/>
                </a:solidFill>
                <a:latin typeface="Times New Roman"/>
              </a:defRPr>
            </a:pPr>
            <a:r>
              <a:t>Charts have readable titles and axes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26864"/>
            <a:ext cx="10552176" cy="557784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4736592"/>
            <a:ext cx="320040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168980"/>
                </a:solidFill>
                <a:latin typeface="Times New Roman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744" y="4727448"/>
            <a:ext cx="9528048" cy="310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600" b="0">
                <a:solidFill>
                  <a:srgbClr val="182E47"/>
                </a:solidFill>
                <a:latin typeface="Times New Roman"/>
              </a:defRPr>
            </a:pPr>
            <a:r>
              <a:t>Two recommendations are backed by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5925312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t>SUCCESS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907024"/>
            <a:ext cx="916228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t>Accuracy + clarity matter more than design complexity.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1947672"/>
            <a:ext cx="101132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72B4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15-MINUTE BREAK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99616" y="3200400"/>
            <a:ext cx="92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2:45–3:00 PM  ·  Up next: Quiz.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19472" y="4224528"/>
            <a:ext cx="2377440" cy="73152"/>
          </a:xfrm>
          <a:prstGeom prst="roundRect">
            <a:avLst>
              <a:gd name="adj" fmla="val 37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" y="658368"/>
            <a:ext cx="10948111" cy="0"/>
          </a:xfrm>
          <a:prstGeom prst="line">
            <a:avLst/>
          </a:prstGeom>
          <a:noFill/>
          <a:ln w="15240">
            <a:solidFill>
              <a:srgbClr val="34506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" y="6455664"/>
            <a:ext cx="10948111" cy="0"/>
          </a:xfrm>
          <a:prstGeom prst="line">
            <a:avLst/>
          </a:prstGeom>
          <a:noFill/>
          <a:ln w="12700">
            <a:solidFill>
              <a:srgbClr val="34506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" y="6547104"/>
            <a:ext cx="6400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K. R. MANGALAM UNIVERSITY  •  22 OCT 2026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89720" y="654710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NAMAN SHARMA   /   73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9418320" cy="23774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t>ALL ABOUT LIVE QUIZ   |   DAY 2 SKILLS REFRESHER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03504"/>
            <a:ext cx="10981944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859536"/>
            <a:ext cx="10972800" cy="4937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t>What's next? The live quiz!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35608"/>
            <a:ext cx="10972800" cy="249299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dirty="0"/>
              <a:t>Time to test your Day 1 + Day 2 skills — </a:t>
            </a:r>
            <a:r>
              <a:rPr lang="en-US" dirty="0"/>
              <a:t>1</a:t>
            </a:r>
            <a:r>
              <a:rPr dirty="0"/>
              <a:t>5 quick questions, one live leaderboard.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19088"/>
            <a:ext cx="10972800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501384"/>
            <a:ext cx="7315200" cy="16459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01384"/>
            <a:ext cx="1380744" cy="1492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F7285"/>
                </a:solidFill>
                <a:latin typeface="Times New Roman"/>
              </a:defRPr>
            </a:pPr>
            <a:r>
              <a:rPr dirty="0"/>
              <a:t>NAMAN SHARMA / 7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1792" y="2002536"/>
            <a:ext cx="3566160" cy="20482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" y="2002536"/>
            <a:ext cx="59436" cy="2048256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167128"/>
            <a:ext cx="3182112" cy="32918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01   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42615"/>
            <a:ext cx="3163824" cy="12618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t>Scan the code or enter the PIN.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t>Use your real name.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002536"/>
            <a:ext cx="3566160" cy="20482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2002536"/>
            <a:ext cx="59436" cy="2048256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6007" y="2167128"/>
            <a:ext cx="3182112" cy="32918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02  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642615"/>
            <a:ext cx="3163824" cy="4739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rPr dirty="0"/>
              <a:t>Questions appear one at a time.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rPr dirty="0"/>
              <a:t>15 seconds each</a:t>
            </a:r>
            <a:r>
              <a:rPr lang="en-US" dirty="0"/>
              <a:t> question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2002536"/>
            <a:ext cx="3566160" cy="20482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47888" y="2002536"/>
            <a:ext cx="59436" cy="2048256"/>
          </a:xfrm>
          <a:prstGeom prst="rect">
            <a:avLst/>
          </a:prstGeom>
          <a:solidFill>
            <a:srgbClr val="805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9056" y="2167128"/>
            <a:ext cx="3182112" cy="32918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t>03   COMPETE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642615"/>
            <a:ext cx="3163824" cy="1261872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t>Correct answers earn points.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263B4F"/>
                </a:solidFill>
                <a:latin typeface="Times New Roman"/>
              </a:defRPr>
            </a:pPr>
            <a:r>
              <a:t>Watch the leaderboard!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361688"/>
            <a:ext cx="10927080" cy="1225296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572000"/>
            <a:ext cx="6839712" cy="35661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t>PRIZES FOR THE TOP 2 WINNERS!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065776"/>
            <a:ext cx="6766560" cy="283464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F7285"/>
                </a:solidFill>
                <a:latin typeface="Times New Roman"/>
              </a:defRPr>
            </a:pPr>
            <a:r>
              <a:t>Stay sharp — every question counts.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4" y="4617720"/>
            <a:ext cx="1444752" cy="694944"/>
          </a:xfrm>
          <a:prstGeom prst="roundRect">
            <a:avLst>
              <a:gd name="adj" fmla="val 7000"/>
            </a:avLst>
          </a:prstGeom>
          <a:solidFill>
            <a:srgbClr val="E7A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4818888"/>
            <a:ext cx="1243584" cy="2651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t>1st PRIZE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93808" y="4617720"/>
            <a:ext cx="1444752" cy="694944"/>
          </a:xfrm>
          <a:prstGeom prst="roundRect">
            <a:avLst>
              <a:gd name="adj" fmla="val 7000"/>
            </a:avLst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03536" y="4818888"/>
            <a:ext cx="1243584" cy="265176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2E47"/>
                </a:solidFill>
                <a:latin typeface="Times New Roman"/>
              </a:defRPr>
            </a:pPr>
            <a:r>
              <a:t>2nd PRIZE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5843016"/>
            <a:ext cx="10954512" cy="393192"/>
          </a:xfrm>
          <a:prstGeom prst="roundRect">
            <a:avLst>
              <a:gd name="adj" fmla="val 7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929884"/>
            <a:ext cx="10771632" cy="264688"/>
          </a:xfrm>
          <a:prstGeom prst="rect">
            <a:avLst/>
          </a:prstGeom>
          <a:noFill/>
        </p:spPr>
        <p:txBody>
          <a:bodyPr wrap="square" lIns="32004" tIns="18288" rIns="32004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 sz="1600" dirty="0"/>
              <a:t>RE</a:t>
            </a:r>
            <a:r>
              <a:rPr lang="en-GB" sz="1600" dirty="0"/>
              <a:t>A</a:t>
            </a:r>
            <a:r>
              <a:rPr sz="1600" dirty="0"/>
              <a:t>DY?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360" y="1929383"/>
            <a:ext cx="10241280" cy="530352"/>
          </a:xfrm>
          <a:prstGeom prst="roundRect">
            <a:avLst>
              <a:gd name="adj" fmla="val 17241"/>
            </a:avLst>
          </a:prstGeom>
          <a:solidFill>
            <a:srgbClr val="FAFCFE"/>
          </a:solidFill>
          <a:ln w="10795">
            <a:solidFill>
              <a:srgbClr val="D8E4E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5672" y="2039111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0" b="1" dirty="0">
                <a:solidFill>
                  <a:srgbClr val="172B4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Databricks medallion architecture</a:t>
            </a:r>
            <a:endParaRPr lang="en-US" sz="14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4779264" y="2039111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u="sng" dirty="0">
                <a:solidFill>
                  <a:srgbClr val="3B82F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https://learn.microsoft.com/en-us/azure/databricks/lakehouse/medallion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75360" y="2633471"/>
            <a:ext cx="10241280" cy="530352"/>
          </a:xfrm>
          <a:prstGeom prst="roundRect">
            <a:avLst>
              <a:gd name="adj" fmla="val 17241"/>
            </a:avLst>
          </a:prstGeom>
          <a:solidFill>
            <a:srgbClr val="FAFCFE"/>
          </a:solidFill>
          <a:ln w="10795">
            <a:solidFill>
              <a:srgbClr val="D8E4E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5672" y="2743199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0" b="1" dirty="0">
                <a:solidFill>
                  <a:srgbClr val="172B4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Microsoft: ETL and ELT concepts</a:t>
            </a:r>
            <a:endParaRPr lang="en-US" sz="14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hlinkClick r:id="rId4"/>
          </p:cNvPr>
          <p:cNvSpPr/>
          <p:nvPr/>
        </p:nvSpPr>
        <p:spPr>
          <a:xfrm>
            <a:off x="4779264" y="2743199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u="sng" dirty="0">
                <a:solidFill>
                  <a:srgbClr val="3B82F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https://learn.microsoft.com/en-us/azure/architecture/data-guide/relational-data/etl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75360" y="3337559"/>
            <a:ext cx="10241280" cy="530352"/>
          </a:xfrm>
          <a:prstGeom prst="roundRect">
            <a:avLst>
              <a:gd name="adj" fmla="val 17241"/>
            </a:avLst>
          </a:prstGeom>
          <a:solidFill>
            <a:srgbClr val="FAFCFE"/>
          </a:solidFill>
          <a:ln w="10795">
            <a:solidFill>
              <a:srgbClr val="D8E4E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5672" y="3447287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0" b="1" dirty="0">
                <a:solidFill>
                  <a:srgbClr val="172B4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Naman Sharma · Portfolio</a:t>
            </a:r>
            <a:endParaRPr lang="en-US" sz="14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hlinkClick r:id="rId5"/>
          </p:cNvPr>
          <p:cNvSpPr/>
          <p:nvPr/>
        </p:nvSpPr>
        <p:spPr>
          <a:xfrm>
            <a:off x="4779264" y="3447287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u="sng" dirty="0">
                <a:solidFill>
                  <a:srgbClr val="3B82F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https://namanofficial10.github.io/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" y="914400"/>
            <a:ext cx="10927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80" b="1" dirty="0">
                <a:solidFill>
                  <a:srgbClr val="172B4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Resources and 1:1 follow-up</a:t>
            </a:r>
            <a:endParaRPr lang="en-US" sz="3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" y="2560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087B7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DAY 2 OVERVIEW &amp; CLOSING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" y="658368"/>
            <a:ext cx="10948111" cy="0"/>
          </a:xfrm>
          <a:prstGeom prst="line">
            <a:avLst/>
          </a:prstGeom>
          <a:noFill/>
          <a:ln w="15240">
            <a:solidFill>
              <a:srgbClr val="DCE4E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" y="6455664"/>
            <a:ext cx="10948111" cy="0"/>
          </a:xfrm>
          <a:prstGeom prst="line">
            <a:avLst/>
          </a:prstGeom>
          <a:noFill/>
          <a:ln w="12700">
            <a:solidFill>
              <a:srgbClr val="DCE4E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" y="6547104"/>
            <a:ext cx="6400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K. R. MANGALAM UNIVERSITY  •  21 OCT 2026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89720" y="654710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NAMAN SHARMA   /   75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F968996-5D2C-A864-7761-E468F3A73045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638064" y="4238458"/>
            <a:ext cx="1599135" cy="1618060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" y="14630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72B4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GOOD DATA. BETTER DECISIONS.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60704" y="3108960"/>
            <a:ext cx="10076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See you tomorrow for the </a:t>
            </a:r>
            <a:r>
              <a:rPr lang="en-US" sz="2200" b="1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hackathon</a:t>
            </a:r>
            <a:r>
              <a:rPr lang="en-US" sz="22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383280" y="469087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7B7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Naman Sharma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2560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087B7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DAY 2 CLOSING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" y="658368"/>
            <a:ext cx="10948111" cy="0"/>
          </a:xfrm>
          <a:prstGeom prst="line">
            <a:avLst/>
          </a:prstGeom>
          <a:noFill/>
          <a:ln w="15240">
            <a:solidFill>
              <a:srgbClr val="34506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" y="6455664"/>
            <a:ext cx="10948111" cy="0"/>
          </a:xfrm>
          <a:prstGeom prst="line">
            <a:avLst/>
          </a:prstGeom>
          <a:noFill/>
          <a:ln w="12700">
            <a:solidFill>
              <a:srgbClr val="34506B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" y="6547104"/>
            <a:ext cx="6400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K. R. MANGALAM UNIVERSITY  •  22 OCT 2026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89720" y="654710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6D8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NAMAN SHARMA   /   76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8470</Words>
  <Application>Microsoft Macintosh PowerPoint</Application>
  <PresentationFormat>Widescreen</PresentationFormat>
  <Paragraphs>1688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1" baseType="lpstr">
      <vt:lpstr>Arial</vt:lpstr>
      <vt:lpstr>Calibri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Naman Sharma</cp:lastModifiedBy>
  <cp:revision>9</cp:revision>
  <dcterms:created xsi:type="dcterms:W3CDTF">2013-01-27T09:14:16Z</dcterms:created>
  <dcterms:modified xsi:type="dcterms:W3CDTF">2026-10-22T02:17:39Z</dcterms:modified>
  <cp:category/>
</cp:coreProperties>
</file>