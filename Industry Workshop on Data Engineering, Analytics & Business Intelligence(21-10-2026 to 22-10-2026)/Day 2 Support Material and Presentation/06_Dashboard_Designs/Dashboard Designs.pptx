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14" r:id="rId2"/>
    <p:sldId id="315" r:id="rId3"/>
    <p:sldId id="316" r:id="rId4"/>
    <p:sldId id="317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635"/>
  </p:normalViewPr>
  <p:slideViewPr>
    <p:cSldViewPr snapToGrid="0" snapToObjects="1">
      <p:cViewPr varScale="1">
        <p:scale>
          <a:sx n="99" d="100"/>
          <a:sy n="99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69041-AD34-0D4E-BC87-4EAAFE90155B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9B5D9-D32B-354F-923D-E15B56105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3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expect students to complete all three dashboards. Three design options are inspiration, each with editable shapes in these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wireframe only. Every displayed element is editable PowerPoint shapes. Students should reproduce this basic composition in Tableau with Gold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94205" y="238575"/>
            <a:ext cx="10787110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K. R. MANGALAM UNIVERSITY  |  DAY 2 · CREATE  |  PICK A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204" y="613381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204" y="851064"/>
            <a:ext cx="10969943" cy="47987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sz="2999"/>
              <a:t>Three simple dashboard designs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488" y="1454411"/>
            <a:ext cx="10969943" cy="249234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sz="1500"/>
              <a:t>Students may follow any ONE design—or make a similarly clear alternative.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204" y="6418309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488" y="6500584"/>
            <a:ext cx="731329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/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5780" y="6500584"/>
            <a:ext cx="149922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 algn="r"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 dirty="0"/>
              <a:t>NAMAN SHARMA / </a:t>
            </a:r>
            <a:r>
              <a:rPr lang="en-US" sz="900" dirty="0"/>
              <a:t>01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58196" y="2313723"/>
            <a:ext cx="3574373" cy="253222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Rectangle 10"/>
          <p:cNvSpPr/>
          <p:nvPr/>
        </p:nvSpPr>
        <p:spPr>
          <a:xfrm>
            <a:off x="658196" y="2313723"/>
            <a:ext cx="63991" cy="253222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2" name="TextBox 11"/>
          <p:cNvSpPr txBox="1"/>
          <p:nvPr/>
        </p:nvSpPr>
        <p:spPr>
          <a:xfrm>
            <a:off x="841027" y="2469130"/>
            <a:ext cx="3199567" cy="29526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 sz="1799"/>
              <a:t>A  Hospital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028" y="2981061"/>
            <a:ext cx="3181283" cy="510776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 sz="1600"/>
              <a:t>KPI cards, daily trend, status breakdown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9392" y="2313723"/>
            <a:ext cx="3574373" cy="253222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5" name="Rectangle 14"/>
          <p:cNvSpPr/>
          <p:nvPr/>
        </p:nvSpPr>
        <p:spPr>
          <a:xfrm>
            <a:off x="4479392" y="2313723"/>
            <a:ext cx="63991" cy="253222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6" name="TextBox 15"/>
          <p:cNvSpPr txBox="1"/>
          <p:nvPr/>
        </p:nvSpPr>
        <p:spPr>
          <a:xfrm>
            <a:off x="4662225" y="2469130"/>
            <a:ext cx="3199567" cy="29526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 sz="1799"/>
              <a:t>B  Doctor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2225" y="2981061"/>
            <a:ext cx="3181283" cy="510776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 sz="1600"/>
              <a:t>Specialization bars and completion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0589" y="2313723"/>
            <a:ext cx="3574373" cy="2532228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9" name="Rectangle 18"/>
          <p:cNvSpPr/>
          <p:nvPr/>
        </p:nvSpPr>
        <p:spPr>
          <a:xfrm>
            <a:off x="8300589" y="2313723"/>
            <a:ext cx="63991" cy="2532228"/>
          </a:xfrm>
          <a:prstGeom prst="rect">
            <a:avLst/>
          </a:prstGeom>
          <a:solidFill>
            <a:srgbClr val="DE9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0" name="TextBox 19"/>
          <p:cNvSpPr txBox="1"/>
          <p:nvPr/>
        </p:nvSpPr>
        <p:spPr>
          <a:xfrm>
            <a:off x="8483421" y="2469130"/>
            <a:ext cx="3199567" cy="29526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82E47"/>
                </a:solidFill>
                <a:latin typeface="Times New Roman"/>
              </a:defRPr>
            </a:pPr>
            <a:r>
              <a:rPr sz="1799"/>
              <a:t>C  Billing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3422" y="2981061"/>
            <a:ext cx="3181283" cy="510776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0">
                <a:solidFill>
                  <a:srgbClr val="263B4F"/>
                </a:solidFill>
                <a:latin typeface="Times New Roman"/>
              </a:defRPr>
            </a:pPr>
            <a:r>
              <a:rPr sz="1600"/>
              <a:t>Paid vs pending and appointment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488" y="5842387"/>
            <a:ext cx="10951659" cy="393090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3" name="TextBox 22"/>
          <p:cNvSpPr txBox="1"/>
          <p:nvPr/>
        </p:nvSpPr>
        <p:spPr>
          <a:xfrm>
            <a:off x="767895" y="5924662"/>
            <a:ext cx="1325535" cy="17231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 sz="1000"/>
              <a:t>DELIVERABLE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6864" y="5906379"/>
            <a:ext cx="9159902" cy="210772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 sz="1250"/>
              <a:t>One functional Tableau dashboard with readable titles and filters.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94205" y="238575"/>
            <a:ext cx="10787110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K. R. MANGALAM UNIVERSITY  |  DAY 2 · CREATE  |  DASHBOARD DESIGN ·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204" y="613381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204" y="851064"/>
            <a:ext cx="10969943" cy="47987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sz="2999"/>
              <a:t>Hospital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488" y="1454411"/>
            <a:ext cx="10969943" cy="249234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sz="1500"/>
              <a:t>A straightforward dashboard for appointment performance.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204" y="6418309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488" y="6500584"/>
            <a:ext cx="731329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/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5780" y="6500584"/>
            <a:ext cx="149922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 algn="r"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 dirty="0"/>
              <a:t>NAMAN SHARMA / </a:t>
            </a:r>
            <a:r>
              <a:rPr lang="en-US" sz="900" dirty="0"/>
              <a:t>02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58196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TextBox 10"/>
          <p:cNvSpPr txBox="1"/>
          <p:nvPr/>
        </p:nvSpPr>
        <p:spPr>
          <a:xfrm>
            <a:off x="831886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86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9392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4" name="TextBox 13"/>
          <p:cNvSpPr txBox="1"/>
          <p:nvPr/>
        </p:nvSpPr>
        <p:spPr>
          <a:xfrm>
            <a:off x="4653083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3083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0589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7" name="TextBox 16"/>
          <p:cNvSpPr txBox="1"/>
          <p:nvPr/>
        </p:nvSpPr>
        <p:spPr>
          <a:xfrm>
            <a:off x="8474280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4280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196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0" name="TextBox 19"/>
          <p:cNvSpPr txBox="1"/>
          <p:nvPr/>
        </p:nvSpPr>
        <p:spPr>
          <a:xfrm>
            <a:off x="822744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Daily trend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144" y="4983075"/>
            <a:ext cx="2797336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2143" y="3675823"/>
            <a:ext cx="0" cy="1307252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06692" y="4443719"/>
            <a:ext cx="475364" cy="310815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2057" y="4443719"/>
            <a:ext cx="475365" cy="219400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57422" y="4142046"/>
            <a:ext cx="475364" cy="521073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2786" y="4142046"/>
            <a:ext cx="475364" cy="137125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08150" y="3986638"/>
            <a:ext cx="475364" cy="292533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1886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gold_daily.csv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9392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0" name="TextBox 29"/>
          <p:cNvSpPr txBox="1"/>
          <p:nvPr/>
        </p:nvSpPr>
        <p:spPr>
          <a:xfrm>
            <a:off x="4643941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Appointment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9650" y="376724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Gen Med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4068" y="3803806"/>
            <a:ext cx="1438159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3" name="TextBox 32"/>
          <p:cNvSpPr txBox="1"/>
          <p:nvPr/>
        </p:nvSpPr>
        <p:spPr>
          <a:xfrm>
            <a:off x="4689650" y="410548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Cardio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14068" y="4142046"/>
            <a:ext cx="984004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5" name="TextBox 34"/>
          <p:cNvSpPr txBox="1"/>
          <p:nvPr/>
        </p:nvSpPr>
        <p:spPr>
          <a:xfrm>
            <a:off x="4689650" y="444372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Ortho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4069" y="4480286"/>
            <a:ext cx="1665237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7" name="TextBox 36"/>
          <p:cNvSpPr txBox="1"/>
          <p:nvPr/>
        </p:nvSpPr>
        <p:spPr>
          <a:xfrm>
            <a:off x="4689650" y="478196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Pediatrics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14068" y="4818526"/>
            <a:ext cx="1173234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9" name="TextBox 38"/>
          <p:cNvSpPr txBox="1"/>
          <p:nvPr/>
        </p:nvSpPr>
        <p:spPr>
          <a:xfrm>
            <a:off x="4653083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gold_summary.csv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0589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1" name="TextBox 40"/>
          <p:cNvSpPr txBox="1"/>
          <p:nvPr/>
        </p:nvSpPr>
        <p:spPr>
          <a:xfrm>
            <a:off x="8465139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Business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3422" y="3822089"/>
            <a:ext cx="3217850" cy="69026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Find the busiest service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Identify preventable no-shows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Recommend one operational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4280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2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488" y="5842387"/>
            <a:ext cx="10951659" cy="393090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5" name="TextBox 44"/>
          <p:cNvSpPr txBox="1"/>
          <p:nvPr/>
        </p:nvSpPr>
        <p:spPr>
          <a:xfrm>
            <a:off x="767895" y="5924662"/>
            <a:ext cx="1325535" cy="17231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 sz="1000"/>
              <a:t>DESIGN 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6864" y="5906379"/>
            <a:ext cx="9159902" cy="210772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 sz="1250"/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94205" y="238575"/>
            <a:ext cx="10787110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K. R. MANGALAM UNIVERSITY  |  DAY 2 · CREATE  |  DASHBOARD DESIGN ·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204" y="613381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204" y="851064"/>
            <a:ext cx="10969943" cy="47987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sz="2999"/>
              <a:t>Doctor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488" y="1454411"/>
            <a:ext cx="10969943" cy="249234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sz="1500"/>
              <a:t>Focus on which hospital specialties carry the highest volume.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204" y="6418309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488" y="6500584"/>
            <a:ext cx="731329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/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5780" y="6500584"/>
            <a:ext cx="149922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 algn="r"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 dirty="0"/>
              <a:t>NAMAN SHARMA / </a:t>
            </a:r>
            <a:r>
              <a:rPr lang="en-US" sz="900" dirty="0"/>
              <a:t>03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58196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TextBox 10"/>
          <p:cNvSpPr txBox="1"/>
          <p:nvPr/>
        </p:nvSpPr>
        <p:spPr>
          <a:xfrm>
            <a:off x="831886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86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9392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4" name="TextBox 13"/>
          <p:cNvSpPr txBox="1"/>
          <p:nvPr/>
        </p:nvSpPr>
        <p:spPr>
          <a:xfrm>
            <a:off x="4653083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3083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0589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7" name="TextBox 16"/>
          <p:cNvSpPr txBox="1"/>
          <p:nvPr/>
        </p:nvSpPr>
        <p:spPr>
          <a:xfrm>
            <a:off x="8474280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4280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196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0" name="TextBox 19"/>
          <p:cNvSpPr txBox="1"/>
          <p:nvPr/>
        </p:nvSpPr>
        <p:spPr>
          <a:xfrm>
            <a:off x="822744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Appointments by specialty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453" y="376724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Gen 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2872" y="3803806"/>
            <a:ext cx="1438159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3" name="TextBox 22"/>
          <p:cNvSpPr txBox="1"/>
          <p:nvPr/>
        </p:nvSpPr>
        <p:spPr>
          <a:xfrm>
            <a:off x="868453" y="410548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Cardio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2871" y="4142046"/>
            <a:ext cx="984004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5" name="TextBox 24"/>
          <p:cNvSpPr txBox="1"/>
          <p:nvPr/>
        </p:nvSpPr>
        <p:spPr>
          <a:xfrm>
            <a:off x="868453" y="444372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Ortho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2872" y="4480286"/>
            <a:ext cx="1665237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7" name="TextBox 26"/>
          <p:cNvSpPr txBox="1"/>
          <p:nvPr/>
        </p:nvSpPr>
        <p:spPr>
          <a:xfrm>
            <a:off x="868453" y="478196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Pediatrics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92872" y="4818526"/>
            <a:ext cx="1173234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9" name="TextBox 28"/>
          <p:cNvSpPr txBox="1"/>
          <p:nvPr/>
        </p:nvSpPr>
        <p:spPr>
          <a:xfrm>
            <a:off x="831886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gold_specialization.csv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79392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1" name="TextBox 30"/>
          <p:cNvSpPr txBox="1"/>
          <p:nvPr/>
        </p:nvSpPr>
        <p:spPr>
          <a:xfrm>
            <a:off x="4643941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Completion 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9650" y="376724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Gen 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4068" y="3803806"/>
            <a:ext cx="1438159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4" name="TextBox 33"/>
          <p:cNvSpPr txBox="1"/>
          <p:nvPr/>
        </p:nvSpPr>
        <p:spPr>
          <a:xfrm>
            <a:off x="4689650" y="410548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Cardio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14068" y="4142046"/>
            <a:ext cx="984004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6" name="TextBox 35"/>
          <p:cNvSpPr txBox="1"/>
          <p:nvPr/>
        </p:nvSpPr>
        <p:spPr>
          <a:xfrm>
            <a:off x="4689650" y="444372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Ortho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14069" y="4480286"/>
            <a:ext cx="1665237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8" name="TextBox 37"/>
          <p:cNvSpPr txBox="1"/>
          <p:nvPr/>
        </p:nvSpPr>
        <p:spPr>
          <a:xfrm>
            <a:off x="4689650" y="478196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Pediatrics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4068" y="4818526"/>
            <a:ext cx="1173234" cy="155408"/>
          </a:xfrm>
          <a:prstGeom prst="rect">
            <a:avLst/>
          </a:prstGeom>
          <a:solidFill>
            <a:srgbClr val="42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0" name="TextBox 39"/>
          <p:cNvSpPr txBox="1"/>
          <p:nvPr/>
        </p:nvSpPr>
        <p:spPr>
          <a:xfrm>
            <a:off x="4653083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gold_specialization.csv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0589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2" name="TextBox 41"/>
          <p:cNvSpPr txBox="1"/>
          <p:nvPr/>
        </p:nvSpPr>
        <p:spPr>
          <a:xfrm>
            <a:off x="8465139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Action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3422" y="3822089"/>
            <a:ext cx="3217850" cy="69026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Find the busiest service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Identify preventable no-shows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Recommend one operational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4280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2 recommendations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488" y="5842387"/>
            <a:ext cx="10951659" cy="393090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6" name="TextBox 45"/>
          <p:cNvSpPr txBox="1"/>
          <p:nvPr/>
        </p:nvSpPr>
        <p:spPr>
          <a:xfrm>
            <a:off x="767895" y="5924662"/>
            <a:ext cx="1325535" cy="17231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 sz="1000"/>
              <a:t>DESIGN TIP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6864" y="5906379"/>
            <a:ext cx="9159902" cy="210772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 sz="1250"/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94205" y="238575"/>
            <a:ext cx="10787110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K. R. MANGALAM UNIVERSITY  |  DAY 2 · CREATE  |  DASHBOARD DESIGN ·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204" y="613381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204" y="851064"/>
            <a:ext cx="10969943" cy="47987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3000" b="1">
                <a:solidFill>
                  <a:srgbClr val="182E47"/>
                </a:solidFill>
                <a:latin typeface="Times New Roman"/>
              </a:defRPr>
            </a:pPr>
            <a:r>
              <a:rPr sz="2999"/>
              <a:t>Billing &amp; Appointments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488" y="1454411"/>
            <a:ext cx="10969943" cy="249234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5F7285"/>
                </a:solidFill>
                <a:latin typeface="Times New Roman"/>
              </a:defRPr>
            </a:pPr>
            <a:r>
              <a:rPr sz="1500"/>
              <a:t>Optional billing detail alongside basic hospital KPIs.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204" y="6418309"/>
            <a:ext cx="10969943" cy="0"/>
          </a:xfrm>
          <a:prstGeom prst="line">
            <a:avLst/>
          </a:prstGeom>
          <a:ln w="12700">
            <a:solidFill>
              <a:srgbClr val="E2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488" y="6500584"/>
            <a:ext cx="731329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/>
              <a:t>K. R. MANGALAM UNIVERSITY   •  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5780" y="6500584"/>
            <a:ext cx="1499225" cy="15692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 algn="r">
              <a:spcAft>
                <a:spcPts val="100"/>
              </a:spcAft>
              <a:defRPr sz="900" b="0">
                <a:solidFill>
                  <a:srgbClr val="5F7285"/>
                </a:solidFill>
                <a:latin typeface="Times New Roman"/>
              </a:defRPr>
            </a:pPr>
            <a:r>
              <a:rPr sz="900" dirty="0"/>
              <a:t>NAMAN SHARMA / </a:t>
            </a:r>
            <a:r>
              <a:rPr lang="en-US" sz="900" dirty="0"/>
              <a:t>04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58196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TextBox 10"/>
          <p:cNvSpPr txBox="1"/>
          <p:nvPr/>
        </p:nvSpPr>
        <p:spPr>
          <a:xfrm>
            <a:off x="831886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86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6,197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9392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4" name="TextBox 13"/>
          <p:cNvSpPr txBox="1"/>
          <p:nvPr/>
        </p:nvSpPr>
        <p:spPr>
          <a:xfrm>
            <a:off x="4653083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3083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4,728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0589" y="1938916"/>
            <a:ext cx="3574373" cy="886737"/>
          </a:xfrm>
          <a:prstGeom prst="roundRect">
            <a:avLst>
              <a:gd name="adj" fmla="val 6000"/>
            </a:avLst>
          </a:prstGeom>
          <a:solidFill>
            <a:srgbClr val="F8FBFC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7" name="TextBox 16"/>
          <p:cNvSpPr txBox="1"/>
          <p:nvPr/>
        </p:nvSpPr>
        <p:spPr>
          <a:xfrm>
            <a:off x="8474280" y="2039474"/>
            <a:ext cx="3199567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8980"/>
                </a:solidFill>
                <a:latin typeface="Times New Roman"/>
              </a:defRPr>
            </a:pPr>
            <a:r>
              <a:rPr sz="1100"/>
              <a:t>COMPLETION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4280" y="2295439"/>
            <a:ext cx="3217850" cy="38756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2400" b="1">
                <a:solidFill>
                  <a:srgbClr val="182E47"/>
                </a:solidFill>
                <a:latin typeface="Times New Roman"/>
              </a:defRPr>
            </a:pPr>
            <a:r>
              <a:rPr sz="2399"/>
              <a:t>76.3%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196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0" name="TextBox 19"/>
          <p:cNvSpPr txBox="1"/>
          <p:nvPr/>
        </p:nvSpPr>
        <p:spPr>
          <a:xfrm>
            <a:off x="822744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Paid versus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453" y="376724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Gen 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2872" y="3803806"/>
            <a:ext cx="1438159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3" name="TextBox 22"/>
          <p:cNvSpPr txBox="1"/>
          <p:nvPr/>
        </p:nvSpPr>
        <p:spPr>
          <a:xfrm>
            <a:off x="868453" y="410548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Cardio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2871" y="4142046"/>
            <a:ext cx="984004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5" name="TextBox 24"/>
          <p:cNvSpPr txBox="1"/>
          <p:nvPr/>
        </p:nvSpPr>
        <p:spPr>
          <a:xfrm>
            <a:off x="868453" y="444372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Ortho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2872" y="4480286"/>
            <a:ext cx="1665237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7" name="TextBox 26"/>
          <p:cNvSpPr txBox="1"/>
          <p:nvPr/>
        </p:nvSpPr>
        <p:spPr>
          <a:xfrm>
            <a:off x="868453" y="4781960"/>
            <a:ext cx="1060428" cy="18769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285"/>
                </a:solidFill>
                <a:latin typeface="Times New Roman"/>
              </a:defRPr>
            </a:pPr>
            <a:r>
              <a:rPr sz="1100"/>
              <a:t>Pediatrics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92872" y="4818526"/>
            <a:ext cx="1173234" cy="155408"/>
          </a:xfrm>
          <a:prstGeom prst="rect">
            <a:avLst/>
          </a:prstGeom>
          <a:solidFill>
            <a:srgbClr val="16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9" name="TextBox 28"/>
          <p:cNvSpPr txBox="1"/>
          <p:nvPr/>
        </p:nvSpPr>
        <p:spPr>
          <a:xfrm>
            <a:off x="831886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gold_billing.csv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79392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1" name="TextBox 30"/>
          <p:cNvSpPr txBox="1"/>
          <p:nvPr/>
        </p:nvSpPr>
        <p:spPr>
          <a:xfrm>
            <a:off x="4643941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Appointment trend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63340" y="4983075"/>
            <a:ext cx="2797335" cy="0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63340" y="3675823"/>
            <a:ext cx="0" cy="1307252"/>
          </a:xfrm>
          <a:prstGeom prst="line">
            <a:avLst/>
          </a:prstGeom>
          <a:ln w="12700">
            <a:solidFill>
              <a:srgbClr val="D3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27889" y="4443719"/>
            <a:ext cx="475365" cy="310815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03255" y="4443719"/>
            <a:ext cx="475363" cy="219400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78617" y="4142046"/>
            <a:ext cx="475364" cy="521073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53981" y="4142046"/>
            <a:ext cx="475364" cy="137125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29346" y="3986638"/>
            <a:ext cx="475365" cy="292533"/>
          </a:xfrm>
          <a:prstGeom prst="line">
            <a:avLst/>
          </a:prstGeom>
          <a:ln w="34290">
            <a:solidFill>
              <a:srgbClr val="42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53083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gold_daily.csv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0589" y="3026769"/>
            <a:ext cx="3574373" cy="2459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1" name="TextBox 40"/>
          <p:cNvSpPr txBox="1"/>
          <p:nvPr/>
        </p:nvSpPr>
        <p:spPr>
          <a:xfrm>
            <a:off x="8465139" y="3173035"/>
            <a:ext cx="3226991" cy="264619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182E47"/>
                </a:solidFill>
                <a:latin typeface="Times New Roman"/>
              </a:defRPr>
            </a:pPr>
            <a:r>
              <a:rPr sz="1600"/>
              <a:t>Collection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3422" y="3822089"/>
            <a:ext cx="3217850" cy="690265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Find the busiest service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Identify preventable no-shows</a:t>
            </a:r>
          </a:p>
          <a:p>
            <a:pPr>
              <a:spcAft>
                <a:spcPts val="100"/>
              </a:spcAft>
              <a:defRPr sz="1400" b="0">
                <a:solidFill>
                  <a:srgbClr val="263B4F"/>
                </a:solidFill>
                <a:latin typeface="Times New Roman"/>
              </a:defRPr>
            </a:pPr>
            <a:r>
              <a:rPr sz="1400"/>
              <a:t>•  Recommend one operational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4280" y="5193332"/>
            <a:ext cx="3217850" cy="184618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5F7285"/>
                </a:solidFill>
                <a:latin typeface="Times New Roman"/>
              </a:defRPr>
            </a:pPr>
            <a:r>
              <a:rPr sz="1080"/>
              <a:t>2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488" y="5842387"/>
            <a:ext cx="10951659" cy="393090"/>
          </a:xfrm>
          <a:prstGeom prst="roundRect">
            <a:avLst>
              <a:gd name="adj" fmla="val 6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5" name="TextBox 44"/>
          <p:cNvSpPr txBox="1"/>
          <p:nvPr/>
        </p:nvSpPr>
        <p:spPr>
          <a:xfrm>
            <a:off x="767895" y="5924662"/>
            <a:ext cx="1325535" cy="172310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68980"/>
                </a:solidFill>
                <a:latin typeface="Times New Roman"/>
              </a:defRPr>
            </a:pPr>
            <a:r>
              <a:rPr sz="1000"/>
              <a:t>DESIGN 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6864" y="5906379"/>
            <a:ext cx="9159902" cy="210772"/>
          </a:xfrm>
          <a:prstGeom prst="rect">
            <a:avLst/>
          </a:prstGeom>
          <a:noFill/>
        </p:spPr>
        <p:txBody>
          <a:bodyPr wrap="square" lIns="18283" tIns="18283" rIns="18283" bIns="0">
            <a:spAutoFit/>
          </a:bodyPr>
          <a:lstStyle/>
          <a:p>
            <a:pPr>
              <a:spcAft>
                <a:spcPts val="100"/>
              </a:spcAft>
              <a:defRPr sz="1250" b="1">
                <a:solidFill>
                  <a:srgbClr val="182E47"/>
                </a:solidFill>
                <a:latin typeface="Times New Roman"/>
              </a:defRPr>
            </a:pPr>
            <a:r>
              <a:rPr sz="1250"/>
              <a:t>Use Gold-layer outputs; do not import all raw tables directly into every chart.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498</Words>
  <Application>Microsoft Macintosh PowerPoint</Application>
  <PresentationFormat>Custom</PresentationFormat>
  <Paragraphs>99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Naman Sharma</cp:lastModifiedBy>
  <cp:revision>3</cp:revision>
  <dcterms:created xsi:type="dcterms:W3CDTF">2013-01-27T09:14:16Z</dcterms:created>
  <dcterms:modified xsi:type="dcterms:W3CDTF">2026-10-22T02:07:16Z</dcterms:modified>
  <cp:category/>
</cp:coreProperties>
</file>