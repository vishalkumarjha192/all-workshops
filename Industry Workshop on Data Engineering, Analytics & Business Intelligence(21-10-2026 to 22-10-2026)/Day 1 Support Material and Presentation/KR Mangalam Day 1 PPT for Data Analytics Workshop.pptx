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9" r:id="rId32"/>
    <p:sldId id="286" r:id="rId33"/>
    <p:sldId id="287" r:id="rId34"/>
    <p:sldId id="288"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8C094F6-03E9-8F13-556C-0B3C93A120C2}" name="Naman Sharma" initials="NS" userId="0163df9155617a22"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73"/>
    <p:restoredTop sz="86438"/>
  </p:normalViewPr>
  <p:slideViewPr>
    <p:cSldViewPr snapToGrid="0" snapToObjects="1">
      <p:cViewPr>
        <p:scale>
          <a:sx n="81" d="100"/>
          <a:sy n="81" d="100"/>
        </p:scale>
        <p:origin x="744" y="58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microsoft.com/office/2018/10/relationships/authors" Targe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5070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RUN OF SHOW — DAY 1</a:t>
            </a:r>
          </a:p>
          <a:p>
            <a:r>
              <a:rPr dirty="0"/>
              <a:t>09:15–09:18 (3 minutes)</a:t>
            </a:r>
          </a:p>
          <a:p>
            <a:r>
              <a:rPr dirty="0"/>
              <a:t>Session: WELCOME &amp; ICEBREAKER</a:t>
            </a:r>
          </a:p>
          <a:p>
            <a:r>
              <a:rPr dirty="0"/>
              <a:t>Slide: From raw data to decisions</a:t>
            </a:r>
          </a:p>
          <a:p>
            <a:endParaRPr dirty="0"/>
          </a:p>
          <a:p>
            <a:r>
              <a:rPr dirty="0"/>
              <a:t>FACILITATOR NOTES</a:t>
            </a:r>
          </a:p>
          <a:p>
            <a:r>
              <a:rPr dirty="0"/>
              <a:t>Open with energy and ask students to notice one data-driven decision they made today. Explain this is not a coding exam.</a:t>
            </a:r>
          </a:p>
          <a:p>
            <a:endParaRPr dirty="0"/>
          </a:p>
          <a:p>
            <a:r>
              <a:rPr dirty="0"/>
              <a:t>CASE DISCLAIMER</a:t>
            </a:r>
          </a:p>
          <a:p>
            <a:r>
              <a:rPr dirty="0" err="1"/>
              <a:t>ClinicPulse</a:t>
            </a:r>
            <a:r>
              <a:rPr dirty="0"/>
              <a:t> Hospital and any patient/appointment data in the deck are fictional and illustrative.</a:t>
            </a:r>
          </a:p>
          <a:p>
            <a:r>
              <a:rPr dirty="0"/>
              <a:t>IMAGE PLACEHOLDER: A light-background data pipeline or hospital analytics illustration. Replace editable dashed box with your own relevant image or screenshot before presenting, or leave it as a visual prompt.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RUN OF SHOW — DAY 1</a:t>
            </a:r>
          </a:p>
          <a:p>
            <a:r>
              <a:rPr dirty="0"/>
              <a:t>09:18–09:23 (5 minutes)</a:t>
            </a:r>
          </a:p>
          <a:p>
            <a:r>
              <a:rPr dirty="0"/>
              <a:t>Session: WELCOME &amp; ICEBREAKER</a:t>
            </a:r>
          </a:p>
          <a:p>
            <a:r>
              <a:rPr dirty="0"/>
              <a:t>Slide: Meet your industry guide</a:t>
            </a:r>
          </a:p>
          <a:p>
            <a:endParaRPr dirty="0"/>
          </a:p>
          <a:p>
            <a:r>
              <a:rPr dirty="0"/>
              <a:t>FACILITATOR NOTES</a:t>
            </a:r>
          </a:p>
          <a:p>
            <a:r>
              <a:rPr dirty="0"/>
              <a:t>Brief introduction: former ZS Associates Business Technology Solutions Associate, June 2024–June 2026. Experience includes healthcare commercial analytics and incentive analytics; do not overstate credentials. Mention a preference for questions over perfect answers.</a:t>
            </a:r>
          </a:p>
          <a:p>
            <a:endParaRPr dirty="0"/>
          </a:p>
          <a:p>
            <a:r>
              <a:rPr dirty="0"/>
              <a:t>CASE DISCLAIMER</a:t>
            </a:r>
          </a:p>
          <a:p>
            <a:r>
              <a:rPr dirty="0" err="1"/>
              <a:t>ClinicPulse</a:t>
            </a:r>
            <a:r>
              <a:rPr dirty="0"/>
              <a:t> Hospital and any patient/appointment data in the deck are fictional and illustrative.</a:t>
            </a:r>
          </a:p>
          <a:p>
            <a:r>
              <a:rPr dirty="0"/>
              <a:t>IMAGE PLACEHOLDER: A professional photo of Naman Sharma. Replace editable dashed box with your own relevant image or screenshot before presenting, or leave it as a visual prompt.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09:23–09:28 (5 minutes)
Session: WELCOME &amp; ICEBREAKER
Slide: The promise for today
FACILITATOR NOTES
Invite students to say their familiarity: beginner, some SQL, advanced. Make everyone comfortable, especially first-years.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09:28–09:35 (7 minutes)
Session: WELCOME &amp; ICEBREAKER
Slide: You already work with data
FACILITATOR NOTES
Think-pair-share: 2 minutes solo, 2 pair, 3 student examples. Point out that data-driven products have pipelines behind them.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09:35–09:43 (8 minutes)
Session: WELCOME &amp; ICEBREAKER
Slide: One hospital. Three complaints.
FACILITATOR NOTES
Introduce fictional ClinicPulse. These are deliberately synthetic learning scenarios. Ask who might own each concern. Avoid real patients or personally identifiable data.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09:43–09:53 (10 minutes)
Session: WELCOME &amp; ICEBREAKER
Slide: Pair challenge: what would you investigate?
FACILITATOR NOTES
Let students design the investigation without giving answers. Ask clarifying follow-up questions and listen for appointment status, doctor, patient, date, revenue.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09:53–10:00 (7 minutes)
Session: WELCOME &amp; ICEBREAKER
Slide: Our storyline for the day
FACILITATOR NOTES
Debrief the pair exercise. Draw the connections: requirements to records to analysis to action. This becomes the through-line for the next six hours.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10:00–10:05 (5 minutes)
Session: INDUSTRY ROLES &amp; CASES
Slide: Three roles. One outcome.
FACILITATOR NOTES
Transition from the opening case. Show role boundaries overlap in smaller teams. These are examples, not rigid job descriptions.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10:05–10:10 (5 minutes)
Session: INDUSTRY ROLES &amp; CASES
Slide: Who is responsible for what?
FACILITATOR NOTES
Ask students which role they are most curious about. Highlight collaboration and overlapping skills.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10:10–10:15 (5 minutes)
Session: INDUSTRY ROLES &amp; CASES
Slide: What the engineer asks
FACILITATOR NOTES
Avoid implying engineers only write code; explain ownership of quality and pipelines.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10:15–10:20 (5 minutes)
Session: INDUSTRY ROLES &amp; CASES
Slide: What the analyst asks
FACILITATOR NOTES
Ask: would a dashboard with incorrect counts be useful? Tie to data quality.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10:20–10:25 (5 minutes)
Session: INDUSTRY ROLES &amp; CASES
Slide: What the business analyst asks
FACILITATOR NOTES
BA can refer to many roles; emphasize requirements and business process analysis, not just technology.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10:25–10:30 (5 minutes)
Session: INDUSTRY ROLES &amp; CASES
Slide: Quick quiz: whose first move?
FACILITATOR NOTES
Poll students by raising hands. Intended responses: engineer; analyst working with engineer; BA facilitates shared metric definition. Many shared responsibilities.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10:30–10:36 (6 minutes)
Session: DATA LIFECYCLE
Slide: The journey of one record
FACILITATOR NOTES
Trace one appointment record through the system. Distinguish information flow from action taken on it.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RUN OF SHOW — DAY 1</a:t>
            </a:r>
          </a:p>
          <a:p>
            <a:r>
              <a:rPr dirty="0"/>
              <a:t>10:36–10:42 (6 minutes)</a:t>
            </a:r>
          </a:p>
          <a:p>
            <a:r>
              <a:rPr dirty="0"/>
              <a:t>Session: DATA LIFECYCLE</a:t>
            </a:r>
          </a:p>
          <a:p>
            <a:r>
              <a:rPr dirty="0"/>
              <a:t>Slide: What does data look like?</a:t>
            </a:r>
          </a:p>
          <a:p>
            <a:endParaRPr dirty="0"/>
          </a:p>
          <a:p>
            <a:r>
              <a:rPr dirty="0"/>
              <a:t>FACILITATOR NOTES</a:t>
            </a:r>
          </a:p>
          <a:p>
            <a:r>
              <a:rPr dirty="0"/>
              <a:t>Use recognizable examples. Explain that we will work mostly with structured data to keep the exercises beginner-friendly.</a:t>
            </a:r>
          </a:p>
          <a:p>
            <a:endParaRPr dirty="0"/>
          </a:p>
          <a:p>
            <a:r>
              <a:rPr dirty="0"/>
              <a:t>CASE DISCLAIMER</a:t>
            </a:r>
          </a:p>
          <a:p>
            <a:r>
              <a:rPr dirty="0" err="1"/>
              <a:t>ClinicPulse</a:t>
            </a:r>
            <a:r>
              <a:rPr dirty="0"/>
              <a:t> Hospital and any patient/appointment data in the deck are fictional and illustrative.</a:t>
            </a:r>
          </a:p>
          <a:p>
            <a:r>
              <a:rPr dirty="0"/>
              <a:t>IMAGE PLACEHOLDER: Suggested screenshots or diagrams: CSV / Excel table example, JSON sample screenshot, Document or message example. Replace editable dashed box with your own relevant image or screenshot before presenting, or leave it as a visual prompt.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10:42–10:48 (6 minutes)
Session: DATA LIFECYCLE
Slide: The lifecycle, end to end
FACILITATOR NOTES
Give one sentence per stage, then ask students where they expect missing data to occur.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10:48–10:54 (6 minutes)
Session: DATA LIFECYCLE
Slide: Three tables, one business question
FACILITATOR NOTES
Show foreign keys patient_id and doctor_id. Introduce join keys without requiring SQL syntax yet.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10:54–11:00 (6 minutes)
Session: DATA LIFECYCLE
Slide: Which field connects the tables?
FACILITATOR NOTES
Ask answers aloud. Give students two minutes to inspect the table; show patient_id and doctor_id. Correct confusion between names and identifiers.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11:00–11:15 (15 minutes)
Session: TEA BREAK
Slide: Tea break
FACILITATOR NOTES
Leave this slide projected. No teaching during break.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11:15–11:19 (4 minutes)
Session: ALL ABOUT DATA ENGINEER
Slide: Behind every dashboard is a pipeline
FACILITATOR NOTES
Launch 90-minute role deep dive: ETL/ELT, medallion architecture, quality management and SQL joins/aggregations.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RUN OF SHOW — DAY 1</a:t>
            </a:r>
          </a:p>
          <a:p>
            <a:r>
              <a:rPr dirty="0"/>
              <a:t>11:19–11:24 (5 minutes)</a:t>
            </a:r>
          </a:p>
          <a:p>
            <a:r>
              <a:rPr dirty="0"/>
              <a:t>Session: ALL ABOUT DATA ENGINEER</a:t>
            </a:r>
          </a:p>
          <a:p>
            <a:r>
              <a:rPr dirty="0"/>
              <a:t>Slide: The messy reality behind the scenes</a:t>
            </a:r>
          </a:p>
          <a:p>
            <a:endParaRPr dirty="0"/>
          </a:p>
          <a:p>
            <a:r>
              <a:rPr dirty="0"/>
              <a:t>FACILITATOR NOTES</a:t>
            </a:r>
          </a:p>
          <a:p>
            <a:r>
              <a:rPr dirty="0"/>
              <a:t>Role-play a handoff from receptionist. Explain one app could export CSVs, another a database, and another an API. Ask which columns could connect these sources.</a:t>
            </a:r>
          </a:p>
          <a:p>
            <a:endParaRPr dirty="0"/>
          </a:p>
          <a:p>
            <a:r>
              <a:rPr dirty="0"/>
              <a:t>CASE DISCLAIMER</a:t>
            </a:r>
          </a:p>
          <a:p>
            <a:r>
              <a:rPr dirty="0" err="1"/>
              <a:t>ClinicPulse</a:t>
            </a:r>
            <a:r>
              <a:rPr dirty="0"/>
              <a:t> Hospital and any patient/appointment data in the deck are fictional and illustrative.</a:t>
            </a:r>
          </a:p>
          <a:p>
            <a:r>
              <a:rPr dirty="0"/>
              <a:t>IMAGE PLACEHOLDER: Suggested screenshots or diagrams: Appointments CSV preview, Doctor roster preview, Billing CSV preview. Replace editable dashed box with your own relevant image or screenshot before presenting, or leave it as a visual prompt.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11:24–11:31 (7 minutes)
Session: ALL ABOUT DATA ENGINEER
Slide: ETL: three verbs to remember
FACILITATOR NOTES
Ask students to map extract/transform/load to a daily-life analogy. Describe lookup, deduplication, casting, and writing a clean table. Source: Microsoft Azure Architecture Center.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11:31–11:37 (6 minutes)
Session: ALL ABOUT DATA ENGINEER
Slide: ETL vs ELT
FACILITATOR NOTES
Be careful: one is not always superior. Explain target systems need capacity to transform for ELT; concept per Microsoft Learn.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11:37–11:44 (7 minutes)
Session: ALL ABOUT DATA ENGINEER
Slide: Batch vs streaming
FACILITATOR NOTES
Ask whether hospital annual report needs streaming; no. An urgent live dashboard could benefit. Mention complexity and cost tradeoffs.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RUN OF SHOW — DAY 1</a:t>
            </a:r>
          </a:p>
          <a:p>
            <a:r>
              <a:rPr dirty="0"/>
              <a:t>11:44–11:52 (8 minutes)</a:t>
            </a:r>
          </a:p>
          <a:p>
            <a:r>
              <a:rPr dirty="0"/>
              <a:t>Session: ALL ABOUT DATA ENGINEER</a:t>
            </a:r>
          </a:p>
          <a:p>
            <a:r>
              <a:rPr dirty="0"/>
              <a:t>Slide: Bronze → Silver → Gold</a:t>
            </a:r>
          </a:p>
          <a:p>
            <a:endParaRPr dirty="0"/>
          </a:p>
          <a:p>
            <a:r>
              <a:rPr dirty="0"/>
              <a:t>FACILITATOR NOTES</a:t>
            </a:r>
          </a:p>
          <a:p>
            <a:r>
              <a:rPr dirty="0"/>
              <a:t>Databricks medallion architecture is a logical design pattern, not a required piece of software. Explain why retaining raw records makes reprocessing possible.</a:t>
            </a:r>
          </a:p>
          <a:p>
            <a:endParaRPr dirty="0"/>
          </a:p>
          <a:p>
            <a:r>
              <a:rPr dirty="0"/>
              <a:t>CASE DISCLAIMER</a:t>
            </a:r>
          </a:p>
          <a:p>
            <a:r>
              <a:rPr dirty="0" err="1"/>
              <a:t>ClinicPulse</a:t>
            </a:r>
            <a:r>
              <a:rPr dirty="0"/>
              <a:t> Hospital and any patient/appointment data in the deck are fictional and illustrative.</a:t>
            </a:r>
          </a:p>
          <a:p>
            <a:r>
              <a:rPr dirty="0"/>
              <a:t>IMAGE PLACEHOLDER: Suggested screenshots or diagrams: Raw records screenshot, Clean records screenshot, KPI output screenshot. Replace editable dashed box with your own relevant image or screenshot before presenting, or leave it as a visual prompt.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11:52–11:58 (6 minutes)
Session: ALL ABOUT DATA ENGINEER
Slide: Bronze: preserve what arrived
FACILITATOR NOTES
All records on this slide are fictional/synthetic for teaching. Ask students to find three problems; A106 duplicate, missing patient ID, non-standard done status.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11:58–12:06 (8 minutes)
Session: ALL ABOUT DATA ENGINEER
Slide: Silver: write three validation rules
FACILITATOR NOTES
Spend 3 minutes individual, 3 discussion, 2 summarizing. Mention auditable handling of invalid records instead of always dropping them.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12:06–12:12 (6 minutes)
Session: ALL ABOUT DATA ENGINEER
Slide: Gold: create business-ready numbers
FACILITATOR NOTES
Each definition requires a decision about which statuses are included. Ask students to consider cancelled appointments in denominator. No one right answer without agreed definition.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12:12–12:18 (6 minutes)
Session: ALL ABOUT DATA ENGINEER
Slide: Four practical quality checks
FACILITATOR NOTES
Ask students to categorize the specific Bronze errors shown two slides earlier.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12:18–12:26 (8 minutes)
Session: ALL ABOUT DATA ENGINEER
Slide: Joins: connect related tables
FACILITATOR NOTES
Draw left, inner and unmatched cases on board if students are ready. First introduce INNER JOIN by linking doctor_id; prevent confusion from repeated names.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12:45–13:45 (60 minutes)
Session: LUNCH
Slide: Lunch break
FACILITATOR NOTES
Leave this break slide projected. No instructional content.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12:26–12:33 (7 minutes)
Session: ALL ABOUT DATA ENGINEER
Slide: SQL JOIN: add doctor specialization
FACILITATOR NOTES
Talk through each SQL line: SELECT columns, FROM appointment rows, JOIN doctors, ON shared key. Emphasize the aliases a and d are just short names. All table names illustrative.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12:33–12:39 (6 minutes)
Session: ALL ABOUT DATA ENGINEER
Slide: SQL GROUP BY: summarize the records
FACILITATOR NOTES
Explain raw rows vs grouped rows. Ask what GROUP BY specialty would return. Simplify COUNT(*) vs DISTINCT at this stage.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12:39–12:45 (6 minutes)
Session: ALL ABOUT DATA ENGINEER
Slide: Engineer checkpoint: explain your plan
FACILITATOR NOTES
4 minutes teams, 2 minute wrap. Remind 1:1 support exists and prior SQL experience is not required.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13:45–13:48 (3 minutes)
Session: ALL ABOUT DATA ANALYST
Slide: From trusted data to business insight
FACILITATOR NOTES
Introduce the analyst as a decision partner rather than someone who only makes charts.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13:48–13:53 (5 minutes)
Session: ALL ABOUT DATA ANALYST
Slide: Where engineering ends and analysis begins
FACILITATOR NOTES
Connect to earlier session. Mention that smaller teams can combine roles.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13:53–13:59 (6 minutes)
Session: ALL ABOUT DATA ANALYST
Slide: Frontend processing: prepare for analysis
FACILITATOR NOTES
This is user workbook terminology frontend processing: interpreted as analytic transformations and preparation in the reporting layer; not web frontend coding. Explain carefully.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13:59–14:04 (5 minutes)
Session: ALL ABOUT DATA ANALYST
Slide: Start with the question, not the chart
FACILITATOR NOTES
Ask for one other measurable question. Explain definitions, time window, population and comparison.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14:04–14:11 (7 minutes)
Session: ALL ABOUT DATA ANALYST
Slide: Understand the dataset before plotting
FACILITATOR NOTES
All data is fictional. Ask students how many appointments are in each status, how many total, and how much was collected from completed appointments (2550). Explain no-show meaning.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14:11–14:18 (7 minutes)
Session: ALL ABOUT DATA ANALYST
Slide: Metric definitions matter
FACILITATOR NOTES
This is mathematical pseudocode, not runnable SQL. Show completion rate 66.7% for chosen definition. With excluding cancelled, 4/5=80%; teach ambiguity and stakeholder sign-off.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14:18–14:25 (7 minutes)
Session: ALL ABOUT DATA ANALYST
Slide: A dashboard: one view, several decisions
FACILITATOR NOTES
All metrics in dashboard are based on the six synthetic records and illustrative. Talk through four KPI cards, specialization volume (D01=3, D02=2, D03=1), and implications. Distinguish observation from recommendation.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RUN OF SHOW — DAY 1</a:t>
            </a:r>
          </a:p>
          <a:p>
            <a:r>
              <a:rPr dirty="0"/>
              <a:t>14:25–14:32 (7 minutes)</a:t>
            </a:r>
          </a:p>
          <a:p>
            <a:r>
              <a:rPr dirty="0"/>
              <a:t>Session: ALL ABOUT DATA ANALYST</a:t>
            </a:r>
          </a:p>
          <a:p>
            <a:r>
              <a:rPr dirty="0"/>
              <a:t>Slide: Which chart tells the right story?</a:t>
            </a:r>
          </a:p>
          <a:p>
            <a:endParaRPr dirty="0"/>
          </a:p>
          <a:p>
            <a:r>
              <a:rPr dirty="0"/>
              <a:t>FACILITATOR NOTES</a:t>
            </a:r>
          </a:p>
          <a:p>
            <a:r>
              <a:rPr dirty="0"/>
              <a:t>Ask why pie charts with many categories are difficult. Then ask students to select charts for counts vs times.</a:t>
            </a:r>
          </a:p>
          <a:p>
            <a:endParaRPr dirty="0"/>
          </a:p>
          <a:p>
            <a:r>
              <a:rPr dirty="0"/>
              <a:t>CASE DISCLAIMER</a:t>
            </a:r>
          </a:p>
          <a:p>
            <a:r>
              <a:rPr dirty="0" err="1"/>
              <a:t>ClinicPulse</a:t>
            </a:r>
            <a:r>
              <a:rPr dirty="0"/>
              <a:t> Hospital and any patient/appointment data in the deck are fictional and illustrative.</a:t>
            </a:r>
          </a:p>
          <a:p>
            <a:r>
              <a:rPr dirty="0"/>
              <a:t>IMAGE PLACEHOLDER: Suggested screenshots or diagrams: Line chart example, Bar chart example, Stacked bar example. Replace editable dashed box with your own relevant image or screenshot before presenting, or leave it as a visual prompt.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14:32–14:38 (6 minutes)
Session: ALL ABOUT DATA ANALYST
Slide: Quality control before delivery
FACILITATOR NOTES
Highlight analytical QC and final delivery from the workbook. Ask for typical sources of dashboard inaccuracies.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14:38–14:44 (6 minutes)
Session: ALL ABOUT DATA ANALYST
Slide: Turn a number into a recommendation
FACILITATOR NOTES
Avoid claiming demand definitively without broader history. Distinguish causation from association.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RUN OF SHOW — DAY 1</a:t>
            </a:r>
          </a:p>
          <a:p>
            <a:r>
              <a:rPr dirty="0"/>
              <a:t>14:44–14:49 (5 minutes)</a:t>
            </a:r>
          </a:p>
          <a:p>
            <a:r>
              <a:rPr dirty="0"/>
              <a:t>Session: ALL ABOUT DATA ANALYST</a:t>
            </a:r>
          </a:p>
          <a:p>
            <a:r>
              <a:rPr dirty="0"/>
              <a:t>Slide: Tools you can start with</a:t>
            </a:r>
          </a:p>
          <a:p>
            <a:endParaRPr dirty="0"/>
          </a:p>
          <a:p>
            <a:r>
              <a:rPr dirty="0"/>
              <a:t>FACILITATOR NOTES</a:t>
            </a:r>
          </a:p>
          <a:p>
            <a:r>
              <a:rPr dirty="0"/>
              <a:t>All are permitted for the student hackathon. Reinforce tool freedom and that solving the problem matters more than sophisticated tech.</a:t>
            </a:r>
          </a:p>
          <a:p>
            <a:endParaRPr dirty="0"/>
          </a:p>
          <a:p>
            <a:r>
              <a:rPr dirty="0"/>
              <a:t>CASE DISCLAIMER</a:t>
            </a:r>
          </a:p>
          <a:p>
            <a:r>
              <a:rPr dirty="0" err="1"/>
              <a:t>ClinicPulse</a:t>
            </a:r>
            <a:r>
              <a:rPr dirty="0"/>
              <a:t> Hospital and any patient/appointment data in the deck are fictional and illustrative.</a:t>
            </a:r>
          </a:p>
          <a:p>
            <a:r>
              <a:rPr dirty="0"/>
              <a:t>IMAGE PLACEHOLDER: Suggested screenshots or diagrams: Excel PivotTable screenshot, Tableau + SQL example, Python notebook screenshot. Replace editable dashed box with your own relevant image or screenshot before presenting, or leave it as a visual prompt.</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14:49–14:56 (7 minutes)
Session: ALL ABOUT DATA ANALYST
Slide: Find the misleading conclusion
FACILITATOR NOTES
2 min analysis, 3 min discussion, 2 min synthesis. Invite respectful disagreement and better questions.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14:56–15:00 (4 minutes)
Session: ALL ABOUT DATA ANALYST
Slide: Analyst delivery checklist
FACILITATOR NOTES
Transition to the business analyst who identifies the decision in the first place.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15:00–15:15 (15 minutes)
Session: TEA BREAK
Slide: Tea break
FACILITATOR NOTES
No instruction during this break.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15:15–15:18 (3 minutes)
Session: ALL ABOUT BUSINESS ANALYST
Slide: Translate needs into useful solutions
FACILITATOR NOTES
Business analyst introduction: not a universal job title; in this session focus on requirements, processes, communication and metrics.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15:18–15:24 (6 minutes)
Session: ALL ABOUT BUSINESS ANALYST
Slide: The BA connects three conversations
FACILITATOR NOTES
Explain stakeholders often ask for a solution rather than a precise problem; BA reframes and scopes.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15:24–15:31 (7 minutes)
Session: ALL ABOUT BUSINESS ANALYST
Slide: Discover requirements before building
FACILITATOR NOTES
Roleplay as hospital manager. Ask each table group to propose one clarifying question. Separate stakeholder needs from technical functionality.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15:31–15:38 (7 minutes)
Session: ALL ABOUT BUSINESS ANALYST
Slide: From vague request to clear requirement
FACILITATOR NOTES
Briefly explain acceptance criteria: as a manager I can filter by week and see correct totals. Demonstrate difference between requirements and design solutions.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15:38–15:44 (6 minutes)
Session: ALL ABOUT BUSINESS ANALYST
Slide: Define “success” precisely
FACILITATOR NOTES
Ask students to articulate two possible metrics. Tie to analyst metric ambiguity slide and engineering data validation.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15:44–15:49 (5 minutes)
Session: ALL ABOUT BUSINESS ANALYST
Slide: A possible BA learning path
FACILITATOR NOTES
This is an illustrative learning path, not guaranteed career progression. Emphasize analytical thinking and stakeholder communication.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15:49–15:53 (4 minutes)
Session: ALL ABOUT BUSINESS ANALYST
Slide: A BA toolkit
FACILITATOR NOTES
Keep practical: tool choice varies by employer. Call out communication and documentation as major skills.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15:53–16:00 (7 minutes)
Session: ALL ABOUT BUSINESS ANALYST
Slide: Role-play: the stakeholder interview
FACILITATOR NOTES
Encourage students to challenge vague requirements politely. End with a concrete example acceptance criterion.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16:00–16:07 (7 minutes)
Session: DAY 2 OVERVIEW &amp; CLOSING
Slide: Tomorrow, we build it.
FACILITATOR NOTES
Preview the guided Data Engineering and Analytics project. Use the previously agreed retail-sales intelligence example as a proposed implementation, not an explicit dataset in the workbook.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RUN OF SHOW — DAY 1</a:t>
            </a:r>
          </a:p>
          <a:p>
            <a:r>
              <a:rPr dirty="0"/>
              <a:t>16:07–16:12 (5 minutes)</a:t>
            </a:r>
          </a:p>
          <a:p>
            <a:r>
              <a:rPr dirty="0"/>
              <a:t>Session: DAY 2 OVERVIEW &amp; CLOSING</a:t>
            </a:r>
          </a:p>
          <a:p>
            <a:r>
              <a:rPr dirty="0"/>
              <a:t>Slide: What Day 2 will look like</a:t>
            </a:r>
          </a:p>
          <a:p>
            <a:endParaRPr dirty="0"/>
          </a:p>
          <a:p>
            <a:r>
              <a:rPr dirty="0"/>
              <a:t>FACILITATOR NOTES</a:t>
            </a:r>
          </a:p>
          <a:p>
            <a:r>
              <a:rPr dirty="0"/>
              <a:t>Explain that the project is guided and a simple, correct output matters more than a polished UI.</a:t>
            </a:r>
          </a:p>
          <a:p>
            <a:endParaRPr dirty="0"/>
          </a:p>
          <a:p>
            <a:r>
              <a:rPr dirty="0"/>
              <a:t>CASE DISCLAIMER</a:t>
            </a:r>
          </a:p>
          <a:p>
            <a:r>
              <a:rPr dirty="0" err="1"/>
              <a:t>ClinicPulse</a:t>
            </a:r>
            <a:r>
              <a:rPr dirty="0"/>
              <a:t> Hospital and any patient/appointment data in the deck are fictional and illustrative.</a:t>
            </a:r>
          </a:p>
          <a:p>
            <a:r>
              <a:rPr dirty="0"/>
              <a:t>IMAGE PLACEHOLDER: Suggested screenshots or diagrams: Data sample, Clean table, SQL result, Final dashboard. Replace editable dashed box with your own relevant image or screenshot before presenting, or leave it as a visual prompt.</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16:12–16:17 (5 minutes)
Session: DAY 2 OVERVIEW &amp; CLOSING
Slide: Your Day 2 checklist
FACILITATOR NOTES
Keep requirements light. Explain accounts/software depend on final workshop setup. No paid API required.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16:17–16:23 (6 minutes)
Session: DAY 2 OVERVIEW &amp; CLOSING
Slide: Five-question knowledge check
FACILITATOR NOTES
Rapid verbal review; allow students to answer without technical jargon. Reinforce that role responsibilities overlap.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16:23–16:27 (4 minutes)
Session: DAY 2 OVERVIEW &amp; CLOSING
Slide: Resources and 1:1 follow-up
FACILITATOR NOTES
Clarify workshop sheet includes 4:30–6:30 PM individual support (online/offline) and an 8:45–9:15 AM offline 1:1 block. These are separate from classroom teaching.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OF SHOW — DAY 1
16:27–16:30 (3 minutes)
Session: DAY 2 OVERVIEW &amp; CLOSING
Slide: Good data. Better decisions.
FACILITATOR NOTES
Thank the room, encourage independent thought, and invite questions. End Day 1 by 4:30 PM.
CASE DISCLAIMER
ClinicPulse Hospital and any patient/appointment data in the deck are fictional and illustrative.</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hyperlink" Target="https://learn.microsoft.com/en-us/azure/databricks/lakehouse/medallion" TargetMode="External"/><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hyperlink" Target="https://namanofficial10.github.io/" TargetMode="External"/><Relationship Id="rId4" Type="http://schemas.openxmlformats.org/officeDocument/2006/relationships/hyperlink" Target="https://learn.microsoft.com/en-us/azure/architecture/data-guide/relational-data/etl" TargetMode="Externa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863840" y="-1417320"/>
            <a:ext cx="5577840" cy="5577840"/>
          </a:xfrm>
          <a:prstGeom prst="arc">
            <a:avLst/>
          </a:prstGeom>
          <a:solidFill>
            <a:srgbClr val="FFFFFF">
              <a:alpha val="0"/>
            </a:srgbClr>
          </a:solidFill>
          <a:ln w="10795">
            <a:solidFill>
              <a:srgbClr val="D8E4EB">
                <a:alpha val="80000"/>
              </a:srgbClr>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Text 5"/>
          <p:cNvSpPr/>
          <p:nvPr/>
        </p:nvSpPr>
        <p:spPr>
          <a:xfrm>
            <a:off x="621792" y="1325880"/>
            <a:ext cx="7498080" cy="1554480"/>
          </a:xfrm>
          <a:prstGeom prst="rect">
            <a:avLst/>
          </a:prstGeom>
          <a:noFill/>
          <a:ln/>
        </p:spPr>
        <p:txBody>
          <a:bodyPr wrap="square" lIns="0" tIns="0" rIns="0" bIns="0" rtlCol="0" anchor="ctr">
            <a:normAutofit/>
          </a:bodyPr>
          <a:lstStyle/>
          <a:p>
            <a:pPr marL="0" indent="0" algn="l">
              <a:buNone/>
            </a:pPr>
            <a:r>
              <a:rPr lang="en-US" sz="4400" b="1" dirty="0">
                <a:solidFill>
                  <a:srgbClr val="172B42"/>
                </a:solidFill>
                <a:latin typeface="Times New Roman" panose="02020603050405020304" pitchFamily="18" charset="0"/>
                <a:ea typeface="Inter" pitchFamily="34" charset="-122"/>
                <a:cs typeface="Times New Roman" panose="02020603050405020304" pitchFamily="18" charset="0"/>
              </a:rPr>
              <a:t>DATA ENGINEERING</a:t>
            </a:r>
            <a:endParaRPr lang="en-US" sz="4400" dirty="0">
              <a:latin typeface="Times New Roman" panose="02020603050405020304" pitchFamily="18" charset="0"/>
              <a:cs typeface="Times New Roman" panose="02020603050405020304" pitchFamily="18" charset="0"/>
            </a:endParaRPr>
          </a:p>
          <a:p>
            <a:pPr marL="0" indent="0" algn="l">
              <a:buNone/>
            </a:pPr>
            <a:r>
              <a:rPr lang="en-US" sz="4400" b="1" dirty="0">
                <a:solidFill>
                  <a:srgbClr val="172B42"/>
                </a:solidFill>
                <a:latin typeface="Times New Roman" panose="02020603050405020304" pitchFamily="18" charset="0"/>
                <a:ea typeface="Inter" pitchFamily="34" charset="-122"/>
                <a:cs typeface="Times New Roman" panose="02020603050405020304" pitchFamily="18" charset="0"/>
              </a:rPr>
              <a:t>&amp; ANALYTICS</a:t>
            </a:r>
            <a:endParaRPr lang="en-US" sz="4400" dirty="0">
              <a:latin typeface="Times New Roman" panose="02020603050405020304" pitchFamily="18" charset="0"/>
              <a:cs typeface="Times New Roman" panose="02020603050405020304" pitchFamily="18" charset="0"/>
            </a:endParaRPr>
          </a:p>
        </p:txBody>
      </p:sp>
      <p:sp>
        <p:nvSpPr>
          <p:cNvPr id="8" name="Text 6"/>
          <p:cNvSpPr/>
          <p:nvPr/>
        </p:nvSpPr>
        <p:spPr>
          <a:xfrm>
            <a:off x="621792" y="3108960"/>
            <a:ext cx="7132320" cy="566928"/>
          </a:xfrm>
          <a:prstGeom prst="rect">
            <a:avLst/>
          </a:prstGeom>
          <a:noFill/>
          <a:ln/>
        </p:spPr>
        <p:txBody>
          <a:bodyPr wrap="square" lIns="0" tIns="0" rIns="0" bIns="0" rtlCol="0" anchor="ctr">
            <a:normAutofit/>
          </a:bodyPr>
          <a:lstStyle/>
          <a:p>
            <a:pPr marL="0" indent="0" algn="l">
              <a:buNone/>
            </a:pPr>
            <a:r>
              <a:rPr lang="en-US" sz="2000" dirty="0">
                <a:solidFill>
                  <a:srgbClr val="5C6D80"/>
                </a:solidFill>
                <a:latin typeface="Times New Roman" panose="02020603050405020304" pitchFamily="18" charset="0"/>
                <a:ea typeface="Inter" pitchFamily="34" charset="-122"/>
                <a:cs typeface="Times New Roman" panose="02020603050405020304" pitchFamily="18" charset="0"/>
              </a:rPr>
              <a:t>From raw records to confident business decisions</a:t>
            </a:r>
            <a:endParaRPr lang="en-US" sz="2000" dirty="0">
              <a:latin typeface="Times New Roman" panose="02020603050405020304" pitchFamily="18" charset="0"/>
              <a:cs typeface="Times New Roman" panose="02020603050405020304" pitchFamily="18" charset="0"/>
            </a:endParaRPr>
          </a:p>
        </p:txBody>
      </p:sp>
      <p:sp>
        <p:nvSpPr>
          <p:cNvPr id="9" name="Shape 7"/>
          <p:cNvSpPr/>
          <p:nvPr/>
        </p:nvSpPr>
        <p:spPr>
          <a:xfrm>
            <a:off x="621792" y="4059936"/>
            <a:ext cx="2148840" cy="329184"/>
          </a:xfrm>
          <a:prstGeom prst="roundRect">
            <a:avLst>
              <a:gd name="adj" fmla="val 33333"/>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0" name="Text 8"/>
          <p:cNvSpPr/>
          <p:nvPr/>
        </p:nvSpPr>
        <p:spPr>
          <a:xfrm>
            <a:off x="713232" y="4078224"/>
            <a:ext cx="1965960" cy="283464"/>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DAY 1  •  CONCEPTS</a:t>
            </a:r>
            <a:endParaRPr lang="en-US" sz="1030" dirty="0">
              <a:latin typeface="Times New Roman" panose="02020603050405020304" pitchFamily="18" charset="0"/>
              <a:cs typeface="Times New Roman" panose="02020603050405020304" pitchFamily="18" charset="0"/>
            </a:endParaRPr>
          </a:p>
        </p:txBody>
      </p:sp>
      <p:sp>
        <p:nvSpPr>
          <p:cNvPr id="11" name="Text 9"/>
          <p:cNvSpPr/>
          <p:nvPr/>
        </p:nvSpPr>
        <p:spPr>
          <a:xfrm>
            <a:off x="621792" y="5029200"/>
            <a:ext cx="7406640" cy="429768"/>
          </a:xfrm>
          <a:prstGeom prst="rect">
            <a:avLst/>
          </a:prstGeom>
          <a:noFill/>
          <a:ln/>
        </p:spPr>
        <p:txBody>
          <a:bodyPr wrap="square" lIns="0" tIns="0" rIns="0" bIns="0" rtlCol="0" anchor="ctr">
            <a:normAutofit/>
          </a:bodyPr>
          <a:lstStyle/>
          <a:p>
            <a:pPr marL="0" indent="0" algn="l">
              <a:buNone/>
            </a:pPr>
            <a:r>
              <a:rPr lang="en-US" sz="1600" dirty="0">
                <a:solidFill>
                  <a:srgbClr val="172B42"/>
                </a:solidFill>
                <a:latin typeface="Times New Roman" panose="02020603050405020304" pitchFamily="18" charset="0"/>
                <a:ea typeface="Inter" pitchFamily="34" charset="-122"/>
                <a:cs typeface="Times New Roman" panose="02020603050405020304" pitchFamily="18" charset="0"/>
              </a:rPr>
              <a:t>Naman Sharma  |  K. R. Mangalam University</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621792" y="5532120"/>
            <a:ext cx="7132320" cy="347472"/>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21 October 2026</a:t>
            </a:r>
            <a:endParaRPr lang="en-US" sz="1300" dirty="0">
              <a:latin typeface="Times New Roman" panose="02020603050405020304" pitchFamily="18" charset="0"/>
              <a:cs typeface="Times New Roman" panose="02020603050405020304" pitchFamily="18" charset="0"/>
            </a:endParaRPr>
          </a:p>
        </p:txBody>
      </p:sp>
      <p:pic>
        <p:nvPicPr>
          <p:cNvPr id="18" name="Picture 17" descr="Generated image 3">
            <a:extLst>
              <a:ext uri="{FF2B5EF4-FFF2-40B4-BE49-F238E27FC236}">
                <a16:creationId xmlns:a16="http://schemas.microsoft.com/office/drawing/2014/main" id="{EDB7EE5B-9F2E-DBF4-0ECC-0A8AA394C0DA}"/>
              </a:ext>
            </a:extLst>
          </p:cNvPr>
          <p:cNvPicPr>
            <a:picLocks noChangeAspect="1"/>
          </p:cNvPicPr>
          <p:nvPr/>
        </p:nvPicPr>
        <p:blipFill>
          <a:blip r:embed="rId3">
            <a:extLst>
              <a:ext uri="{BEBA8EAE-BF5A-486C-A8C5-ECC9F3942E4B}">
                <a14:imgProps xmlns:a14="http://schemas.microsoft.com/office/drawing/2010/main">
                  <a14:imgLayer r:embed="rId4">
                    <a14:imgEffect>
                      <a14:artisticWatercolorSponge/>
                    </a14:imgEffect>
                  </a14:imgLayer>
                </a14:imgProps>
              </a:ext>
            </a:extLst>
          </a:blip>
          <a:stretch>
            <a:fillRect/>
          </a:stretch>
        </p:blipFill>
        <p:spPr>
          <a:xfrm>
            <a:off x="7525017" y="540912"/>
            <a:ext cx="4332131" cy="5776175"/>
          </a:xfrm>
          <a:prstGeom prst="rect">
            <a:avLst/>
          </a:prstGeom>
          <a:effectLst>
            <a:outerShdw blurRad="50800" dist="38100" dir="2700000" algn="tl"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3128" y="1673351"/>
            <a:ext cx="3553968" cy="4526265"/>
          </a:xfrm>
          <a:prstGeom prst="roundRect">
            <a:avLst>
              <a:gd name="adj" fmla="val 4932"/>
            </a:avLst>
          </a:prstGeom>
          <a:solidFill>
            <a:srgbClr val="EAF2F7"/>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5" name="Text 3"/>
          <p:cNvSpPr/>
          <p:nvPr/>
        </p:nvSpPr>
        <p:spPr>
          <a:xfrm>
            <a:off x="905230" y="5293772"/>
            <a:ext cx="2823701" cy="373135"/>
          </a:xfrm>
          <a:prstGeom prst="rect">
            <a:avLst/>
          </a:prstGeom>
          <a:noFill/>
          <a:ln/>
        </p:spPr>
        <p:txBody>
          <a:bodyPr wrap="square" lIns="0" tIns="0" rIns="0" bIns="0" rtlCol="0" anchor="ctr">
            <a:normAutofit/>
          </a:bodyPr>
          <a:lstStyle/>
          <a:p>
            <a:pPr marL="0" indent="0" algn="ctr">
              <a:buNone/>
            </a:pPr>
            <a:r>
              <a:rPr lang="en-US" sz="1800" b="1" dirty="0">
                <a:solidFill>
                  <a:srgbClr val="172B42"/>
                </a:solidFill>
                <a:latin typeface="Times New Roman" panose="02020603050405020304" pitchFamily="18" charset="0"/>
                <a:ea typeface="Inter" pitchFamily="34" charset="-122"/>
                <a:cs typeface="Times New Roman" panose="02020603050405020304" pitchFamily="18" charset="0"/>
              </a:rPr>
              <a:t>NAMAN SHARMA</a:t>
            </a:r>
            <a:endParaRPr lang="en-US" sz="1800" dirty="0">
              <a:latin typeface="Times New Roman" panose="02020603050405020304" pitchFamily="18" charset="0"/>
              <a:cs typeface="Times New Roman" panose="02020603050405020304" pitchFamily="18" charset="0"/>
            </a:endParaRPr>
          </a:p>
        </p:txBody>
      </p:sp>
      <p:sp>
        <p:nvSpPr>
          <p:cNvPr id="6" name="Text 4"/>
          <p:cNvSpPr/>
          <p:nvPr/>
        </p:nvSpPr>
        <p:spPr>
          <a:xfrm>
            <a:off x="856546" y="5653384"/>
            <a:ext cx="2872385" cy="290216"/>
          </a:xfrm>
          <a:prstGeom prst="rect">
            <a:avLst/>
          </a:prstGeom>
          <a:noFill/>
          <a:ln/>
        </p:spPr>
        <p:txBody>
          <a:bodyPr wrap="square" lIns="0" tIns="0" rIns="0" bIns="0" rtlCol="0" anchor="ctr">
            <a:normAutofit/>
          </a:bodyPr>
          <a:lstStyle/>
          <a:p>
            <a:pPr marL="0" indent="0" algn="ctr">
              <a:buNone/>
            </a:pPr>
            <a:r>
              <a:rPr lang="en-US" sz="1180" dirty="0">
                <a:solidFill>
                  <a:srgbClr val="5C6D80"/>
                </a:solidFill>
                <a:latin typeface="Times New Roman" panose="02020603050405020304" pitchFamily="18" charset="0"/>
                <a:ea typeface="Inter" pitchFamily="34" charset="-122"/>
                <a:cs typeface="Times New Roman" panose="02020603050405020304" pitchFamily="18" charset="0"/>
              </a:rPr>
              <a:t>Data Engineering &amp; Analytics</a:t>
            </a:r>
            <a:endParaRPr lang="en-US" sz="1180" dirty="0">
              <a:latin typeface="Times New Roman" panose="02020603050405020304" pitchFamily="18" charset="0"/>
              <a:cs typeface="Times New Roman" panose="02020603050405020304" pitchFamily="18" charset="0"/>
            </a:endParaRPr>
          </a:p>
        </p:txBody>
      </p:sp>
      <p:sp>
        <p:nvSpPr>
          <p:cNvPr id="7" name="Shape 5"/>
          <p:cNvSpPr/>
          <p:nvPr/>
        </p:nvSpPr>
        <p:spPr>
          <a:xfrm>
            <a:off x="4475988" y="1673351"/>
            <a:ext cx="6793992" cy="2602426"/>
          </a:xfrm>
          <a:prstGeom prst="roundRect">
            <a:avLst>
              <a:gd name="adj" fmla="val 12727"/>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4714569" y="1673352"/>
            <a:ext cx="6355080" cy="502920"/>
          </a:xfrm>
          <a:prstGeom prst="rect">
            <a:avLst/>
          </a:prstGeom>
          <a:noFill/>
          <a:ln/>
        </p:spPr>
        <p:txBody>
          <a:bodyPr wrap="square" lIns="0" tIns="0" rIns="0" bIns="0" rtlCol="0" anchor="ctr">
            <a:normAutofit/>
          </a:bodyPr>
          <a:lstStyle/>
          <a:p>
            <a:pPr marL="0" indent="0" algn="l">
              <a:buNone/>
            </a:pPr>
            <a:r>
              <a:rPr lang="en-US" sz="1700" b="1" dirty="0">
                <a:solidFill>
                  <a:srgbClr val="172B42"/>
                </a:solidFill>
                <a:latin typeface="Times New Roman" panose="02020603050405020304" pitchFamily="18" charset="0"/>
                <a:ea typeface="Inter" pitchFamily="34" charset="-122"/>
                <a:cs typeface="Times New Roman" panose="02020603050405020304" pitchFamily="18" charset="0"/>
              </a:rPr>
              <a:t>Industry background</a:t>
            </a:r>
            <a:endParaRPr lang="en-US" sz="1700" dirty="0">
              <a:latin typeface="Times New Roman" panose="02020603050405020304" pitchFamily="18" charset="0"/>
              <a:cs typeface="Times New Roman" panose="02020603050405020304" pitchFamily="18" charset="0"/>
            </a:endParaRPr>
          </a:p>
        </p:txBody>
      </p:sp>
      <p:sp>
        <p:nvSpPr>
          <p:cNvPr id="10" name="Text 8"/>
          <p:cNvSpPr/>
          <p:nvPr/>
        </p:nvSpPr>
        <p:spPr>
          <a:xfrm>
            <a:off x="4713732" y="2176272"/>
            <a:ext cx="6345936" cy="1252728"/>
          </a:xfrm>
          <a:prstGeom prst="rect">
            <a:avLst/>
          </a:prstGeom>
          <a:noFill/>
          <a:ln/>
        </p:spPr>
        <p:txBody>
          <a:bodyPr wrap="square" lIns="0" tIns="0" rIns="0" bIns="0" rtlCol="0" anchor="t">
            <a:noAutofit/>
          </a:bodyPr>
          <a:lstStyle/>
          <a:p>
            <a:pPr algn="just"/>
            <a:r>
              <a:rPr lang="en-GB" sz="1100" dirty="0">
                <a:latin typeface="Times New Roman" panose="02020603050405020304" pitchFamily="18" charset="0"/>
                <a:cs typeface="Times New Roman" panose="02020603050405020304" pitchFamily="18" charset="0"/>
              </a:rPr>
              <a:t>I am a </a:t>
            </a:r>
            <a:r>
              <a:rPr lang="en-GB" sz="1100" b="1" dirty="0">
                <a:latin typeface="Times New Roman" panose="02020603050405020304" pitchFamily="18" charset="0"/>
                <a:cs typeface="Times New Roman" panose="02020603050405020304" pitchFamily="18" charset="0"/>
              </a:rPr>
              <a:t>Data Engineering, Analytics, and AI professional with 4 years of industry experience</a:t>
            </a:r>
            <a:r>
              <a:rPr lang="en-GB" sz="1100" dirty="0">
                <a:latin typeface="Times New Roman" panose="02020603050405020304" pitchFamily="18" charset="0"/>
                <a:cs typeface="Times New Roman" panose="02020603050405020304" pitchFamily="18" charset="0"/>
              </a:rPr>
              <a:t> and the </a:t>
            </a:r>
            <a:r>
              <a:rPr lang="en-GB" sz="1100" b="1" dirty="0">
                <a:latin typeface="Times New Roman" panose="02020603050405020304" pitchFamily="18" charset="0"/>
                <a:cs typeface="Times New Roman" panose="02020603050405020304" pitchFamily="18" charset="0"/>
              </a:rPr>
              <a:t>Founder of </a:t>
            </a:r>
            <a:r>
              <a:rPr lang="en-GB" sz="1100" b="1" dirty="0" err="1">
                <a:latin typeface="Times New Roman" panose="02020603050405020304" pitchFamily="18" charset="0"/>
                <a:cs typeface="Times New Roman" panose="02020603050405020304" pitchFamily="18" charset="0"/>
              </a:rPr>
              <a:t>InnoSN</a:t>
            </a:r>
            <a:r>
              <a:rPr lang="en-GB" sz="1100" b="1" dirty="0">
                <a:latin typeface="Times New Roman" panose="02020603050405020304" pitchFamily="18" charset="0"/>
                <a:cs typeface="Times New Roman" panose="02020603050405020304" pitchFamily="18" charset="0"/>
              </a:rPr>
              <a:t> Soft Tech</a:t>
            </a:r>
            <a:r>
              <a:rPr lang="en-GB" sz="1100" dirty="0">
                <a:latin typeface="Times New Roman" panose="02020603050405020304" pitchFamily="18" charset="0"/>
                <a:cs typeface="Times New Roman" panose="02020603050405020304" pitchFamily="18" charset="0"/>
              </a:rPr>
              <a:t>, a technology-driven venture focused on innovative software, AI, and data solutions. Previously, I worked as a </a:t>
            </a:r>
            <a:r>
              <a:rPr lang="en-GB" sz="1100" b="1" dirty="0">
                <a:latin typeface="Times New Roman" panose="02020603050405020304" pitchFamily="18" charset="0"/>
                <a:cs typeface="Times New Roman" panose="02020603050405020304" pitchFamily="18" charset="0"/>
              </a:rPr>
              <a:t>Business Technology Solutions Associate at ZS Associates</a:t>
            </a:r>
            <a:r>
              <a:rPr lang="en-GB" sz="1100" dirty="0">
                <a:latin typeface="Times New Roman" panose="02020603050405020304" pitchFamily="18" charset="0"/>
                <a:cs typeface="Times New Roman" panose="02020603050405020304" pitchFamily="18" charset="0"/>
              </a:rPr>
              <a:t>, delivering enterprise-scale data engineering, business intelligence, and commercial analytics solutions for Fortune 500 clients across the US healthcare, life sciences, and pharmaceutical sectors. My expertise spans </a:t>
            </a:r>
            <a:r>
              <a:rPr lang="en-GB" sz="1100" b="1" dirty="0">
                <a:latin typeface="Times New Roman" panose="02020603050405020304" pitchFamily="18" charset="0"/>
                <a:cs typeface="Times New Roman" panose="02020603050405020304" pitchFamily="18" charset="0"/>
              </a:rPr>
              <a:t>Data Engineering, Data Analytics, Business Intelligence, Generative AI, and Data Governance</a:t>
            </a:r>
            <a:r>
              <a:rPr lang="en-GB" sz="1100" dirty="0">
                <a:latin typeface="Times New Roman" panose="02020603050405020304" pitchFamily="18" charset="0"/>
                <a:cs typeface="Times New Roman" panose="02020603050405020304" pitchFamily="18" charset="0"/>
              </a:rPr>
              <a:t>, with hands-on proficiency in SQL, Python, Databricks, Snowflake, Amazon Redshift, Tableau, and Microsoft Fabric. I have contributed to enterprise reporting and analytics solutions supporting </a:t>
            </a:r>
            <a:r>
              <a:rPr lang="en-GB" sz="1100" b="1" dirty="0">
                <a:latin typeface="Times New Roman" panose="02020603050405020304" pitchFamily="18" charset="0"/>
                <a:cs typeface="Times New Roman" panose="02020603050405020304" pitchFamily="18" charset="0"/>
              </a:rPr>
              <a:t>500+ business users across the United States</a:t>
            </a:r>
            <a:r>
              <a:rPr lang="en-GB" sz="1100" dirty="0">
                <a:latin typeface="Times New Roman" panose="02020603050405020304" pitchFamily="18" charset="0"/>
                <a:cs typeface="Times New Roman" panose="02020603050405020304" pitchFamily="18" charset="0"/>
              </a:rPr>
              <a:t>. Beyond corporate consulting, I am passionate about technology innovation, entrepreneurship, and bridging the gap between academic knowledge and real-world industry applications by empowering aspiring engineers with practical, industry-relevant skills.</a:t>
            </a:r>
          </a:p>
        </p:txBody>
      </p:sp>
      <p:sp>
        <p:nvSpPr>
          <p:cNvPr id="19" name="Text 17"/>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Who am I?</a:t>
            </a:r>
            <a:endParaRPr lang="en-US" sz="3180" dirty="0">
              <a:latin typeface="Times New Roman" panose="02020603050405020304" pitchFamily="18" charset="0"/>
              <a:cs typeface="Times New Roman" panose="02020603050405020304" pitchFamily="18" charset="0"/>
            </a:endParaRPr>
          </a:p>
        </p:txBody>
      </p:sp>
      <p:sp>
        <p:nvSpPr>
          <p:cNvPr id="21" name="Text 19"/>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WELCOME &amp; ICEBREAKER</a:t>
            </a:r>
            <a:endParaRPr lang="en-US" sz="1050" dirty="0">
              <a:latin typeface="Times New Roman" panose="02020603050405020304" pitchFamily="18" charset="0"/>
              <a:cs typeface="Times New Roman" panose="02020603050405020304" pitchFamily="18" charset="0"/>
            </a:endParaRPr>
          </a:p>
        </p:txBody>
      </p:sp>
      <p:sp>
        <p:nvSpPr>
          <p:cNvPr id="23" name="Shape 21"/>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4" name="Shape 22"/>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5" name="Text 23"/>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26" name="Text 24"/>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02</a:t>
            </a:r>
            <a:endParaRPr lang="en-US" sz="900" dirty="0">
              <a:latin typeface="Times New Roman" panose="02020603050405020304" pitchFamily="18" charset="0"/>
              <a:cs typeface="Times New Roman" panose="02020603050405020304" pitchFamily="18" charset="0"/>
            </a:endParaRPr>
          </a:p>
        </p:txBody>
      </p:sp>
      <p:pic>
        <p:nvPicPr>
          <p:cNvPr id="32" name="Picture 31">
            <a:extLst>
              <a:ext uri="{FF2B5EF4-FFF2-40B4-BE49-F238E27FC236}">
                <a16:creationId xmlns:a16="http://schemas.microsoft.com/office/drawing/2014/main" id="{C844CBDB-2D53-D703-EB07-F5FA93CCFD53}"/>
              </a:ext>
            </a:extLst>
          </p:cNvPr>
          <p:cNvPicPr>
            <a:picLocks noChangeAspect="1"/>
          </p:cNvPicPr>
          <p:nvPr/>
        </p:nvPicPr>
        <p:blipFill>
          <a:blip r:embed="rId3"/>
          <a:stretch>
            <a:fillRect/>
          </a:stretch>
        </p:blipFill>
        <p:spPr>
          <a:xfrm>
            <a:off x="1017207" y="2032964"/>
            <a:ext cx="2842189" cy="2842189"/>
          </a:xfrm>
          <a:prstGeom prst="rect">
            <a:avLst/>
          </a:prstGeom>
          <a:ln w="12700" cap="sq">
            <a:solidFill>
              <a:srgbClr val="000000"/>
            </a:solidFill>
            <a:miter lim="800000"/>
          </a:ln>
          <a:effectLst>
            <a:outerShdw blurRad="57150" dist="50800" dir="2700000" algn="tl" rotWithShape="0">
              <a:srgbClr val="000000">
                <a:alpha val="40000"/>
              </a:srgbClr>
            </a:outerShdw>
          </a:effectLst>
        </p:spPr>
      </p:pic>
      <p:pic>
        <p:nvPicPr>
          <p:cNvPr id="36" name="Picture 35">
            <a:extLst>
              <a:ext uri="{FF2B5EF4-FFF2-40B4-BE49-F238E27FC236}">
                <a16:creationId xmlns:a16="http://schemas.microsoft.com/office/drawing/2014/main" id="{AE72DB1B-E1B5-8A09-7171-F297B1F67F19}"/>
              </a:ext>
            </a:extLst>
          </p:cNvPr>
          <p:cNvPicPr>
            <a:picLocks noChangeAspect="1"/>
          </p:cNvPicPr>
          <p:nvPr/>
        </p:nvPicPr>
        <p:blipFill>
          <a:blip r:embed="rId4"/>
          <a:stretch>
            <a:fillRect/>
          </a:stretch>
        </p:blipFill>
        <p:spPr>
          <a:xfrm>
            <a:off x="5156615" y="4421719"/>
            <a:ext cx="5432738" cy="1270614"/>
          </a:xfrm>
          <a:prstGeom prst="rect">
            <a:avLst/>
          </a:prstGeom>
        </p:spPr>
      </p:pic>
      <p:pic>
        <p:nvPicPr>
          <p:cNvPr id="37" name="Picture 36" descr="React Js">
            <a:extLst>
              <a:ext uri="{FF2B5EF4-FFF2-40B4-BE49-F238E27FC236}">
                <a16:creationId xmlns:a16="http://schemas.microsoft.com/office/drawing/2014/main" id="{48ACCF8A-1598-9697-53C5-BAF8F5104C0B}"/>
              </a:ext>
            </a:extLst>
          </p:cNvPr>
          <p:cNvPicPr>
            <a:picLocks noChangeAspect="1"/>
          </p:cNvPicPr>
          <p:nvPr/>
        </p:nvPicPr>
        <p:blipFill>
          <a:blip r:embed="rId5"/>
          <a:stretch>
            <a:fillRect/>
          </a:stretch>
        </p:blipFill>
        <p:spPr>
          <a:xfrm>
            <a:off x="4648747" y="5832892"/>
            <a:ext cx="494127" cy="494127"/>
          </a:xfrm>
          <a:prstGeom prst="rect">
            <a:avLst/>
          </a:prstGeom>
        </p:spPr>
      </p:pic>
      <p:pic>
        <p:nvPicPr>
          <p:cNvPr id="38" name="Picture 37" descr="React Js">
            <a:extLst>
              <a:ext uri="{FF2B5EF4-FFF2-40B4-BE49-F238E27FC236}">
                <a16:creationId xmlns:a16="http://schemas.microsoft.com/office/drawing/2014/main" id="{9D322D27-FF71-A749-5EDF-5F9EEC5A063E}"/>
              </a:ext>
            </a:extLst>
          </p:cNvPr>
          <p:cNvPicPr>
            <a:picLocks noChangeAspect="1"/>
          </p:cNvPicPr>
          <p:nvPr/>
        </p:nvPicPr>
        <p:blipFill>
          <a:blip r:embed="rId6"/>
          <a:stretch>
            <a:fillRect/>
          </a:stretch>
        </p:blipFill>
        <p:spPr>
          <a:xfrm>
            <a:off x="5976106" y="5854949"/>
            <a:ext cx="456284" cy="456284"/>
          </a:xfrm>
          <a:prstGeom prst="rect">
            <a:avLst/>
          </a:prstGeom>
        </p:spPr>
      </p:pic>
      <p:pic>
        <p:nvPicPr>
          <p:cNvPr id="39" name="Picture 38" descr="React Js">
            <a:extLst>
              <a:ext uri="{FF2B5EF4-FFF2-40B4-BE49-F238E27FC236}">
                <a16:creationId xmlns:a16="http://schemas.microsoft.com/office/drawing/2014/main" id="{74BB1501-28BD-E5D1-61FF-98B566979792}"/>
              </a:ext>
            </a:extLst>
          </p:cNvPr>
          <p:cNvPicPr>
            <a:picLocks noChangeAspect="1"/>
          </p:cNvPicPr>
          <p:nvPr/>
        </p:nvPicPr>
        <p:blipFill>
          <a:blip r:embed="rId7"/>
          <a:stretch>
            <a:fillRect/>
          </a:stretch>
        </p:blipFill>
        <p:spPr>
          <a:xfrm>
            <a:off x="5281388" y="5817106"/>
            <a:ext cx="494127" cy="494127"/>
          </a:xfrm>
          <a:prstGeom prst="rect">
            <a:avLst/>
          </a:prstGeom>
        </p:spPr>
      </p:pic>
      <p:pic>
        <p:nvPicPr>
          <p:cNvPr id="40" name="Picture 39" descr="React Js">
            <a:extLst>
              <a:ext uri="{FF2B5EF4-FFF2-40B4-BE49-F238E27FC236}">
                <a16:creationId xmlns:a16="http://schemas.microsoft.com/office/drawing/2014/main" id="{2041FD0B-8490-9631-08F4-63632E662D25}"/>
              </a:ext>
            </a:extLst>
          </p:cNvPr>
          <p:cNvPicPr>
            <a:picLocks noChangeAspect="1"/>
          </p:cNvPicPr>
          <p:nvPr/>
        </p:nvPicPr>
        <p:blipFill>
          <a:blip r:embed="rId8"/>
          <a:stretch>
            <a:fillRect/>
          </a:stretch>
        </p:blipFill>
        <p:spPr>
          <a:xfrm>
            <a:off x="11070640" y="5743943"/>
            <a:ext cx="733346" cy="733346"/>
          </a:xfrm>
          <a:prstGeom prst="rect">
            <a:avLst/>
          </a:prstGeom>
        </p:spPr>
      </p:pic>
      <p:pic>
        <p:nvPicPr>
          <p:cNvPr id="41" name="Picture 40" descr="React Js">
            <a:extLst>
              <a:ext uri="{FF2B5EF4-FFF2-40B4-BE49-F238E27FC236}">
                <a16:creationId xmlns:a16="http://schemas.microsoft.com/office/drawing/2014/main" id="{593C3CC7-A541-8773-76E7-DE2BA2D57A90}"/>
              </a:ext>
            </a:extLst>
          </p:cNvPr>
          <p:cNvPicPr>
            <a:picLocks noChangeAspect="1"/>
          </p:cNvPicPr>
          <p:nvPr/>
        </p:nvPicPr>
        <p:blipFill>
          <a:blip r:embed="rId9"/>
          <a:stretch>
            <a:fillRect/>
          </a:stretch>
        </p:blipFill>
        <p:spPr>
          <a:xfrm>
            <a:off x="10561624" y="5845578"/>
            <a:ext cx="481962" cy="481962"/>
          </a:xfrm>
          <a:prstGeom prst="rect">
            <a:avLst/>
          </a:prstGeom>
        </p:spPr>
      </p:pic>
      <p:pic>
        <p:nvPicPr>
          <p:cNvPr id="42" name="Picture 41" descr="React Js">
            <a:extLst>
              <a:ext uri="{FF2B5EF4-FFF2-40B4-BE49-F238E27FC236}">
                <a16:creationId xmlns:a16="http://schemas.microsoft.com/office/drawing/2014/main" id="{94FFFD7E-0EF5-9DEB-45BD-7EE0CCFEAB82}"/>
              </a:ext>
            </a:extLst>
          </p:cNvPr>
          <p:cNvPicPr>
            <a:picLocks noChangeAspect="1"/>
          </p:cNvPicPr>
          <p:nvPr/>
        </p:nvPicPr>
        <p:blipFill>
          <a:blip r:embed="rId10"/>
          <a:stretch>
            <a:fillRect/>
          </a:stretch>
        </p:blipFill>
        <p:spPr>
          <a:xfrm>
            <a:off x="9862177" y="5844301"/>
            <a:ext cx="540720" cy="540720"/>
          </a:xfrm>
          <a:prstGeom prst="rect">
            <a:avLst/>
          </a:prstGeom>
        </p:spPr>
      </p:pic>
      <p:pic>
        <p:nvPicPr>
          <p:cNvPr id="46" name="Picture 45">
            <a:extLst>
              <a:ext uri="{FF2B5EF4-FFF2-40B4-BE49-F238E27FC236}">
                <a16:creationId xmlns:a16="http://schemas.microsoft.com/office/drawing/2014/main" id="{11E266C6-8970-3547-49E5-B3BD37F9E03A}"/>
              </a:ext>
            </a:extLst>
          </p:cNvPr>
          <p:cNvPicPr>
            <a:picLocks noChangeAspect="1"/>
          </p:cNvPicPr>
          <p:nvPr/>
        </p:nvPicPr>
        <p:blipFill>
          <a:blip r:embed="rId11"/>
          <a:stretch>
            <a:fillRect/>
          </a:stretch>
        </p:blipFill>
        <p:spPr>
          <a:xfrm>
            <a:off x="6594344" y="6002210"/>
            <a:ext cx="1485900" cy="223234"/>
          </a:xfrm>
          <a:prstGeom prst="rect">
            <a:avLst/>
          </a:prstGeom>
        </p:spPr>
      </p:pic>
      <p:pic>
        <p:nvPicPr>
          <p:cNvPr id="47" name="Picture 46" descr="Tableau Logo and symbol, meaning, history, PNG, brand">
            <a:extLst>
              <a:ext uri="{FF2B5EF4-FFF2-40B4-BE49-F238E27FC236}">
                <a16:creationId xmlns:a16="http://schemas.microsoft.com/office/drawing/2014/main" id="{748A8A85-2AFF-C6F7-8ED8-4F17FC1014A5}"/>
              </a:ext>
            </a:extLst>
          </p:cNvPr>
          <p:cNvPicPr>
            <a:picLocks noChangeAspect="1"/>
          </p:cNvPicPr>
          <p:nvPr/>
        </p:nvPicPr>
        <p:blipFill>
          <a:blip r:embed="rId12"/>
          <a:stretch>
            <a:fillRect/>
          </a:stretch>
        </p:blipFill>
        <p:spPr>
          <a:xfrm>
            <a:off x="8136173" y="5824527"/>
            <a:ext cx="1118851" cy="629354"/>
          </a:xfrm>
          <a:prstGeom prst="rect">
            <a:avLst/>
          </a:prstGeom>
        </p:spPr>
      </p:pic>
      <p:pic>
        <p:nvPicPr>
          <p:cNvPr id="49" name="Picture 48">
            <a:extLst>
              <a:ext uri="{FF2B5EF4-FFF2-40B4-BE49-F238E27FC236}">
                <a16:creationId xmlns:a16="http://schemas.microsoft.com/office/drawing/2014/main" id="{AA47583E-5E9F-447B-AD10-6B5FE4B44D03}"/>
              </a:ext>
            </a:extLst>
          </p:cNvPr>
          <p:cNvPicPr>
            <a:picLocks noChangeAspect="1"/>
          </p:cNvPicPr>
          <p:nvPr/>
        </p:nvPicPr>
        <p:blipFill>
          <a:blip r:embed="rId13"/>
          <a:stretch>
            <a:fillRect/>
          </a:stretch>
        </p:blipFill>
        <p:spPr>
          <a:xfrm>
            <a:off x="9347391" y="5906466"/>
            <a:ext cx="395541" cy="40830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621792" y="2487168"/>
            <a:ext cx="64008" cy="2834640"/>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859536"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See the big picture</a:t>
            </a:r>
            <a:endParaRPr lang="en-US" sz="1900" dirty="0">
              <a:latin typeface="Times New Roman" panose="02020603050405020304" pitchFamily="18" charset="0"/>
              <a:cs typeface="Times New Roman" panose="02020603050405020304" pitchFamily="18" charset="0"/>
            </a:endParaRPr>
          </a:p>
        </p:txBody>
      </p:sp>
      <p:sp>
        <p:nvSpPr>
          <p:cNvPr id="5" name="Text 3"/>
          <p:cNvSpPr/>
          <p:nvPr/>
        </p:nvSpPr>
        <p:spPr>
          <a:xfrm>
            <a:off x="859536"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Understand how data moves from raw records to business decisions.</a:t>
            </a:r>
            <a:endParaRPr lang="en-US" sz="1510" dirty="0">
              <a:latin typeface="Times New Roman" panose="02020603050405020304" pitchFamily="18" charset="0"/>
              <a:cs typeface="Times New Roman" panose="02020603050405020304" pitchFamily="18" charset="0"/>
            </a:endParaRPr>
          </a:p>
        </p:txBody>
      </p:sp>
      <p:sp>
        <p:nvSpPr>
          <p:cNvPr id="6" name="Shape 4"/>
          <p:cNvSpPr/>
          <p:nvPr/>
        </p:nvSpPr>
        <p:spPr>
          <a:xfrm>
            <a:off x="4335170"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4335170" y="2487168"/>
            <a:ext cx="64008" cy="2834640"/>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4572914"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Try the building blocks</a:t>
            </a:r>
            <a:endParaRPr lang="en-US" sz="1900" dirty="0">
              <a:latin typeface="Times New Roman" panose="02020603050405020304" pitchFamily="18" charset="0"/>
              <a:cs typeface="Times New Roman" panose="02020603050405020304" pitchFamily="18" charset="0"/>
            </a:endParaRPr>
          </a:p>
        </p:txBody>
      </p:sp>
      <p:sp>
        <p:nvSpPr>
          <p:cNvPr id="9" name="Text 7"/>
          <p:cNvSpPr/>
          <p:nvPr/>
        </p:nvSpPr>
        <p:spPr>
          <a:xfrm>
            <a:off x="4572914"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Practice reasoning about data, joins, checks and KPIs.</a:t>
            </a:r>
            <a:endParaRPr lang="en-US" sz="1510" dirty="0">
              <a:latin typeface="Times New Roman" panose="02020603050405020304" pitchFamily="18" charset="0"/>
              <a:cs typeface="Times New Roman" panose="02020603050405020304" pitchFamily="18" charset="0"/>
            </a:endParaRPr>
          </a:p>
        </p:txBody>
      </p:sp>
      <p:sp>
        <p:nvSpPr>
          <p:cNvPr id="10" name="Shape 8"/>
          <p:cNvSpPr/>
          <p:nvPr/>
        </p:nvSpPr>
        <p:spPr>
          <a:xfrm>
            <a:off x="8048549"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Shape 9"/>
          <p:cNvSpPr/>
          <p:nvPr/>
        </p:nvSpPr>
        <p:spPr>
          <a:xfrm>
            <a:off x="8048549" y="2487168"/>
            <a:ext cx="64008" cy="2834640"/>
          </a:xfrm>
          <a:prstGeom prst="rect">
            <a:avLst/>
          </a:prstGeom>
          <a:solidFill>
            <a:srgbClr val="8052D8"/>
          </a:solidFill>
          <a:ln w="12700">
            <a:solidFill>
              <a:srgbClr val="8052D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Text 10"/>
          <p:cNvSpPr/>
          <p:nvPr/>
        </p:nvSpPr>
        <p:spPr>
          <a:xfrm>
            <a:off x="8286293"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Think like three roles</a:t>
            </a:r>
            <a:endParaRPr lang="en-US" sz="1900" dirty="0">
              <a:latin typeface="Times New Roman" panose="02020603050405020304" pitchFamily="18" charset="0"/>
              <a:cs typeface="Times New Roman" panose="02020603050405020304" pitchFamily="18" charset="0"/>
            </a:endParaRPr>
          </a:p>
        </p:txBody>
      </p:sp>
      <p:sp>
        <p:nvSpPr>
          <p:cNvPr id="13" name="Text 11"/>
          <p:cNvSpPr/>
          <p:nvPr/>
        </p:nvSpPr>
        <p:spPr>
          <a:xfrm>
            <a:off x="8286293"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Experience the Data Engineer, Data Analyst and Business Analyst perspectives.</a:t>
            </a:r>
            <a:endParaRPr lang="en-US" sz="1510" dirty="0">
              <a:latin typeface="Times New Roman" panose="02020603050405020304" pitchFamily="18" charset="0"/>
              <a:cs typeface="Times New Roman" panose="02020603050405020304" pitchFamily="18" charset="0"/>
            </a:endParaRPr>
          </a:p>
        </p:txBody>
      </p:sp>
      <p:sp>
        <p:nvSpPr>
          <p:cNvPr id="17" name="Text 15"/>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The promise for today</a:t>
            </a:r>
            <a:endParaRPr lang="en-US" sz="3180" dirty="0">
              <a:latin typeface="Times New Roman" panose="02020603050405020304" pitchFamily="18" charset="0"/>
              <a:cs typeface="Times New Roman" panose="02020603050405020304" pitchFamily="18" charset="0"/>
            </a:endParaRPr>
          </a:p>
        </p:txBody>
      </p:sp>
      <p:sp>
        <p:nvSpPr>
          <p:cNvPr id="18" name="Text 16"/>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WELCOME &amp; ICEBREAKER</a:t>
            </a:r>
            <a:endParaRPr lang="en-US" sz="1050" dirty="0">
              <a:latin typeface="Times New Roman" panose="02020603050405020304" pitchFamily="18" charset="0"/>
              <a:cs typeface="Times New Roman" panose="02020603050405020304" pitchFamily="18" charset="0"/>
            </a:endParaRPr>
          </a:p>
        </p:txBody>
      </p:sp>
      <p:sp>
        <p:nvSpPr>
          <p:cNvPr id="20" name="Shape 18"/>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1" name="Shape 19"/>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2" name="Text 20"/>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23" name="Text 21"/>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03</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04672" y="2340864"/>
            <a:ext cx="7040880" cy="2898648"/>
          </a:xfrm>
          <a:prstGeom prst="roundRect">
            <a:avLst>
              <a:gd name="adj" fmla="val 5363"/>
            </a:avLst>
          </a:prstGeom>
          <a:solidFill>
            <a:srgbClr val="EAF2F7"/>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Text 1"/>
          <p:cNvSpPr/>
          <p:nvPr/>
        </p:nvSpPr>
        <p:spPr>
          <a:xfrm>
            <a:off x="1161288" y="2816352"/>
            <a:ext cx="6355080" cy="2011680"/>
          </a:xfrm>
          <a:prstGeom prst="rect">
            <a:avLst/>
          </a:prstGeom>
          <a:noFill/>
          <a:ln/>
        </p:spPr>
        <p:txBody>
          <a:bodyPr wrap="square" lIns="0" tIns="0" rIns="0" bIns="0" rtlCol="0" anchor="ctr">
            <a:normAutofit/>
          </a:bodyPr>
          <a:lstStyle/>
          <a:p>
            <a:pPr marL="0" indent="0" algn="l">
              <a:buNone/>
            </a:pPr>
            <a:r>
              <a:rPr lang="en-US" sz="3000" b="1" dirty="0">
                <a:solidFill>
                  <a:srgbClr val="172B42"/>
                </a:solidFill>
                <a:latin typeface="Times New Roman" panose="02020603050405020304" pitchFamily="18" charset="0"/>
                <a:ea typeface="Inter" pitchFamily="34" charset="-122"/>
                <a:cs typeface="Times New Roman" panose="02020603050405020304" pitchFamily="18" charset="0"/>
              </a:rPr>
              <a:t>Where did data influence your choices today?</a:t>
            </a:r>
            <a:endParaRPr lang="en-US" sz="3000" dirty="0">
              <a:latin typeface="Times New Roman" panose="02020603050405020304" pitchFamily="18" charset="0"/>
              <a:cs typeface="Times New Roman" panose="02020603050405020304" pitchFamily="18" charset="0"/>
            </a:endParaRPr>
          </a:p>
        </p:txBody>
      </p:sp>
      <p:sp>
        <p:nvSpPr>
          <p:cNvPr id="4" name="Shape 2"/>
          <p:cNvSpPr/>
          <p:nvPr/>
        </p:nvSpPr>
        <p:spPr>
          <a:xfrm>
            <a:off x="8092440" y="2340864"/>
            <a:ext cx="3273552" cy="2898648"/>
          </a:xfrm>
          <a:prstGeom prst="roundRect">
            <a:avLst>
              <a:gd name="adj" fmla="val 5363"/>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5" name="Text 3"/>
          <p:cNvSpPr/>
          <p:nvPr/>
        </p:nvSpPr>
        <p:spPr>
          <a:xfrm>
            <a:off x="8375904" y="2670048"/>
            <a:ext cx="2724912" cy="384048"/>
          </a:xfrm>
          <a:prstGeom prst="rect">
            <a:avLst/>
          </a:prstGeom>
          <a:noFill/>
          <a:ln/>
        </p:spPr>
        <p:txBody>
          <a:bodyPr wrap="square" lIns="0" tIns="0" rIns="0" bIns="0" rtlCol="0" anchor="ctr">
            <a:normAutofit/>
          </a:bodyPr>
          <a:lstStyle/>
          <a:p>
            <a:pPr marL="0" indent="0" algn="l">
              <a:buNone/>
            </a:pPr>
            <a:r>
              <a:rPr lang="en-US" sz="1700" b="1" dirty="0">
                <a:solidFill>
                  <a:srgbClr val="087B75"/>
                </a:solidFill>
                <a:latin typeface="Times New Roman" panose="02020603050405020304" pitchFamily="18" charset="0"/>
                <a:ea typeface="Inter" pitchFamily="34" charset="-122"/>
                <a:cs typeface="Times New Roman" panose="02020603050405020304" pitchFamily="18" charset="0"/>
              </a:rPr>
              <a:t>EXAMPLES</a:t>
            </a:r>
            <a:endParaRPr lang="en-US" sz="1700" dirty="0">
              <a:latin typeface="Times New Roman" panose="02020603050405020304" pitchFamily="18" charset="0"/>
              <a:cs typeface="Times New Roman" panose="02020603050405020304" pitchFamily="18" charset="0"/>
            </a:endParaRPr>
          </a:p>
        </p:txBody>
      </p:sp>
      <p:sp>
        <p:nvSpPr>
          <p:cNvPr id="6" name="Text 4"/>
          <p:cNvSpPr/>
          <p:nvPr/>
        </p:nvSpPr>
        <p:spPr>
          <a:xfrm>
            <a:off x="8375904" y="3282696"/>
            <a:ext cx="2670048" cy="1243584"/>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A map route · an app recommendation · food ratings · a bank alert</a:t>
            </a:r>
            <a:endParaRPr lang="en-US" sz="1900" dirty="0">
              <a:latin typeface="Times New Roman" panose="02020603050405020304" pitchFamily="18" charset="0"/>
              <a:cs typeface="Times New Roman" panose="02020603050405020304" pitchFamily="18" charset="0"/>
            </a:endParaRPr>
          </a:p>
        </p:txBody>
      </p:sp>
      <p:sp>
        <p:nvSpPr>
          <p:cNvPr id="7" name="Text 5"/>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You already work with data</a:t>
            </a:r>
            <a:endParaRPr lang="en-US" sz="3180" dirty="0">
              <a:latin typeface="Times New Roman" panose="02020603050405020304" pitchFamily="18" charset="0"/>
              <a:cs typeface="Times New Roman" panose="02020603050405020304" pitchFamily="18" charset="0"/>
            </a:endParaRPr>
          </a:p>
        </p:txBody>
      </p:sp>
      <p:sp>
        <p:nvSpPr>
          <p:cNvPr id="8" name="Text 6"/>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WELCOME &amp; ICEBREAKER</a:t>
            </a:r>
            <a:endParaRPr lang="en-US" sz="1050" dirty="0">
              <a:latin typeface="Times New Roman" panose="02020603050405020304" pitchFamily="18" charset="0"/>
              <a:cs typeface="Times New Roman" panose="02020603050405020304" pitchFamily="18" charset="0"/>
            </a:endParaRPr>
          </a:p>
        </p:txBody>
      </p:sp>
      <p:sp>
        <p:nvSpPr>
          <p:cNvPr id="10" name="Shape 8"/>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Shape 9"/>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Text 10"/>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3" name="Text 11"/>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04</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41832" y="2377440"/>
            <a:ext cx="3154680" cy="2432304"/>
          </a:xfrm>
          <a:prstGeom prst="roundRect">
            <a:avLst>
              <a:gd name="adj" fmla="val 526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941832" y="2377440"/>
            <a:ext cx="64008" cy="2432304"/>
          </a:xfrm>
          <a:prstGeom prst="rect">
            <a:avLst/>
          </a:prstGeom>
          <a:solidFill>
            <a:srgbClr val="D95E6A"/>
          </a:solidFill>
          <a:ln w="12700">
            <a:solidFill>
              <a:srgbClr val="D95E6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1179576" y="2596896"/>
            <a:ext cx="2715768" cy="502920"/>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A patient</a:t>
            </a:r>
            <a:endParaRPr lang="en-US" sz="2000" dirty="0">
              <a:latin typeface="Times New Roman" panose="02020603050405020304" pitchFamily="18" charset="0"/>
              <a:cs typeface="Times New Roman" panose="02020603050405020304" pitchFamily="18" charset="0"/>
            </a:endParaRPr>
          </a:p>
        </p:txBody>
      </p:sp>
      <p:sp>
        <p:nvSpPr>
          <p:cNvPr id="5" name="Text 3"/>
          <p:cNvSpPr/>
          <p:nvPr/>
        </p:nvSpPr>
        <p:spPr>
          <a:xfrm>
            <a:off x="1179576" y="3172968"/>
            <a:ext cx="2651760" cy="1453896"/>
          </a:xfrm>
          <a:prstGeom prst="rect">
            <a:avLst/>
          </a:prstGeom>
          <a:noFill/>
          <a:ln/>
        </p:spPr>
        <p:txBody>
          <a:bodyPr wrap="square" lIns="0" tIns="0" rIns="0" bIns="0" rtlCol="0" anchor="t">
            <a:normAutofit/>
          </a:bodyPr>
          <a:lstStyle/>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My appointment was cancelled.</a:t>
            </a:r>
            <a:endParaRPr lang="en-US" sz="1800" dirty="0">
              <a:latin typeface="Times New Roman" panose="02020603050405020304" pitchFamily="18" charset="0"/>
              <a:cs typeface="Times New Roman" panose="02020603050405020304" pitchFamily="18" charset="0"/>
            </a:endParaRPr>
          </a:p>
        </p:txBody>
      </p:sp>
      <p:sp>
        <p:nvSpPr>
          <p:cNvPr id="6" name="Shape 4"/>
          <p:cNvSpPr/>
          <p:nvPr/>
        </p:nvSpPr>
        <p:spPr>
          <a:xfrm>
            <a:off x="4507992" y="2377440"/>
            <a:ext cx="3154680" cy="2432304"/>
          </a:xfrm>
          <a:prstGeom prst="roundRect">
            <a:avLst>
              <a:gd name="adj" fmla="val 526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4507992" y="2377440"/>
            <a:ext cx="64008" cy="2432304"/>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4745736" y="2596896"/>
            <a:ext cx="2715768" cy="502920"/>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A doctor</a:t>
            </a:r>
            <a:endParaRPr lang="en-US" sz="2000" dirty="0">
              <a:latin typeface="Times New Roman" panose="02020603050405020304" pitchFamily="18" charset="0"/>
              <a:cs typeface="Times New Roman" panose="02020603050405020304" pitchFamily="18" charset="0"/>
            </a:endParaRPr>
          </a:p>
        </p:txBody>
      </p:sp>
      <p:sp>
        <p:nvSpPr>
          <p:cNvPr id="9" name="Text 7"/>
          <p:cNvSpPr/>
          <p:nvPr/>
        </p:nvSpPr>
        <p:spPr>
          <a:xfrm>
            <a:off x="4745736" y="3172968"/>
            <a:ext cx="2651760" cy="1453896"/>
          </a:xfrm>
          <a:prstGeom prst="rect">
            <a:avLst/>
          </a:prstGeom>
          <a:noFill/>
          <a:ln/>
        </p:spPr>
        <p:txBody>
          <a:bodyPr wrap="square" lIns="0" tIns="0" rIns="0" bIns="0" rtlCol="0" anchor="t">
            <a:normAutofit/>
          </a:bodyPr>
          <a:lstStyle/>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Some hours are overloaded; others are quiet.</a:t>
            </a:r>
            <a:endParaRPr lang="en-US" sz="1800" dirty="0">
              <a:latin typeface="Times New Roman" panose="02020603050405020304" pitchFamily="18" charset="0"/>
              <a:cs typeface="Times New Roman" panose="02020603050405020304" pitchFamily="18" charset="0"/>
            </a:endParaRPr>
          </a:p>
        </p:txBody>
      </p:sp>
      <p:sp>
        <p:nvSpPr>
          <p:cNvPr id="10" name="Shape 8"/>
          <p:cNvSpPr/>
          <p:nvPr/>
        </p:nvSpPr>
        <p:spPr>
          <a:xfrm>
            <a:off x="8092440" y="2377440"/>
            <a:ext cx="3154680" cy="2432304"/>
          </a:xfrm>
          <a:prstGeom prst="roundRect">
            <a:avLst>
              <a:gd name="adj" fmla="val 526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Shape 9"/>
          <p:cNvSpPr/>
          <p:nvPr/>
        </p:nvSpPr>
        <p:spPr>
          <a:xfrm>
            <a:off x="8092440" y="2377440"/>
            <a:ext cx="64008" cy="2432304"/>
          </a:xfrm>
          <a:prstGeom prst="rect">
            <a:avLst/>
          </a:prstGeom>
          <a:solidFill>
            <a:srgbClr val="E8A23A"/>
          </a:solidFill>
          <a:ln w="12700">
            <a:solidFill>
              <a:srgbClr val="E8A23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Text 10"/>
          <p:cNvSpPr/>
          <p:nvPr/>
        </p:nvSpPr>
        <p:spPr>
          <a:xfrm>
            <a:off x="8330184" y="2596896"/>
            <a:ext cx="2715768" cy="502920"/>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Hospital manager</a:t>
            </a:r>
            <a:endParaRPr lang="en-US" sz="2000" dirty="0">
              <a:latin typeface="Times New Roman" panose="02020603050405020304" pitchFamily="18" charset="0"/>
              <a:cs typeface="Times New Roman" panose="02020603050405020304" pitchFamily="18" charset="0"/>
            </a:endParaRPr>
          </a:p>
        </p:txBody>
      </p:sp>
      <p:sp>
        <p:nvSpPr>
          <p:cNvPr id="13" name="Text 11"/>
          <p:cNvSpPr/>
          <p:nvPr/>
        </p:nvSpPr>
        <p:spPr>
          <a:xfrm>
            <a:off x="8330184" y="3172968"/>
            <a:ext cx="2651760" cy="1453896"/>
          </a:xfrm>
          <a:prstGeom prst="rect">
            <a:avLst/>
          </a:prstGeom>
          <a:noFill/>
          <a:ln/>
        </p:spPr>
        <p:txBody>
          <a:bodyPr wrap="square" lIns="0" tIns="0" rIns="0" bIns="0" rtlCol="0" anchor="t">
            <a:normAutofit/>
          </a:bodyPr>
          <a:lstStyle/>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Show me what is happening—and why.</a:t>
            </a:r>
            <a:endParaRPr lang="en-US" sz="1800" dirty="0">
              <a:latin typeface="Times New Roman" panose="02020603050405020304" pitchFamily="18" charset="0"/>
              <a:cs typeface="Times New Roman" panose="02020603050405020304" pitchFamily="18" charset="0"/>
            </a:endParaRPr>
          </a:p>
        </p:txBody>
      </p:sp>
      <p:sp>
        <p:nvSpPr>
          <p:cNvPr id="14" name="Shape 12"/>
          <p:cNvSpPr/>
          <p:nvPr/>
        </p:nvSpPr>
        <p:spPr>
          <a:xfrm>
            <a:off x="621792" y="5650992"/>
            <a:ext cx="10948111" cy="493776"/>
          </a:xfrm>
          <a:prstGeom prst="roundRect">
            <a:avLst>
              <a:gd name="adj" fmla="val 22222"/>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5" name="Text 13"/>
          <p:cNvSpPr/>
          <p:nvPr/>
        </p:nvSpPr>
        <p:spPr>
          <a:xfrm>
            <a:off x="822960" y="5705856"/>
            <a:ext cx="1316736" cy="365760"/>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THE BRIEF</a:t>
            </a:r>
            <a:endParaRPr lang="en-US" sz="1030" dirty="0">
              <a:latin typeface="Times New Roman" panose="02020603050405020304" pitchFamily="18" charset="0"/>
              <a:cs typeface="Times New Roman" panose="02020603050405020304" pitchFamily="18" charset="0"/>
            </a:endParaRPr>
          </a:p>
        </p:txBody>
      </p:sp>
      <p:sp>
        <p:nvSpPr>
          <p:cNvPr id="16" name="Text 14"/>
          <p:cNvSpPr/>
          <p:nvPr/>
        </p:nvSpPr>
        <p:spPr>
          <a:xfrm>
            <a:off x="2221992" y="5705856"/>
            <a:ext cx="9101023" cy="365760"/>
          </a:xfrm>
          <a:prstGeom prst="rect">
            <a:avLst/>
          </a:prstGeom>
          <a:noFill/>
          <a:ln/>
        </p:spPr>
        <p:txBody>
          <a:bodyPr wrap="square" lIns="0" tIns="0" rIns="0" bIns="0" rtlCol="0" anchor="ctr">
            <a:normAutofit/>
          </a:bodyPr>
          <a:lstStyle/>
          <a:p>
            <a:pPr marL="0" indent="0" algn="l">
              <a:buNone/>
            </a:pPr>
            <a:r>
              <a:rPr lang="en-US" sz="1340" b="1" dirty="0">
                <a:solidFill>
                  <a:srgbClr val="172B42"/>
                </a:solidFill>
                <a:latin typeface="Times New Roman" panose="02020603050405020304" pitchFamily="18" charset="0"/>
                <a:ea typeface="Inter" pitchFamily="34" charset="-122"/>
                <a:cs typeface="Times New Roman" panose="02020603050405020304" pitchFamily="18" charset="0"/>
              </a:rPr>
              <a:t>How can one messy dataset answer three different questions?</a:t>
            </a:r>
            <a:endParaRPr lang="en-US" sz="1340" dirty="0">
              <a:latin typeface="Times New Roman" panose="02020603050405020304" pitchFamily="18" charset="0"/>
              <a:cs typeface="Times New Roman" panose="02020603050405020304" pitchFamily="18" charset="0"/>
            </a:endParaRPr>
          </a:p>
        </p:txBody>
      </p:sp>
      <p:sp>
        <p:nvSpPr>
          <p:cNvPr id="17" name="Text 15"/>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One hospital. Three complaints.</a:t>
            </a:r>
            <a:endParaRPr lang="en-US" sz="3180" dirty="0">
              <a:latin typeface="Times New Roman" panose="02020603050405020304" pitchFamily="18" charset="0"/>
              <a:cs typeface="Times New Roman" panose="02020603050405020304" pitchFamily="18" charset="0"/>
            </a:endParaRPr>
          </a:p>
        </p:txBody>
      </p:sp>
      <p:sp>
        <p:nvSpPr>
          <p:cNvPr id="18" name="Text 16"/>
          <p:cNvSpPr/>
          <p:nvPr/>
        </p:nvSpPr>
        <p:spPr>
          <a:xfrm>
            <a:off x="621792" y="1728216"/>
            <a:ext cx="10652760" cy="548640"/>
          </a:xfrm>
          <a:prstGeom prst="rect">
            <a:avLst/>
          </a:prstGeom>
          <a:noFill/>
          <a:ln/>
        </p:spPr>
        <p:txBody>
          <a:bodyPr wrap="square" lIns="0" tIns="0" rIns="0" bIns="0" rtlCol="0" anchor="t">
            <a:normAutofit/>
          </a:bodyPr>
          <a:lstStyle/>
          <a:p>
            <a:pPr marL="0" indent="0" algn="l">
              <a:buNone/>
            </a:pPr>
            <a:r>
              <a:rPr lang="en-US" sz="1550" dirty="0">
                <a:solidFill>
                  <a:srgbClr val="5C6D80"/>
                </a:solidFill>
                <a:latin typeface="Times New Roman" panose="02020603050405020304" pitchFamily="18" charset="0"/>
                <a:ea typeface="Inter" pitchFamily="34" charset="-122"/>
                <a:cs typeface="Times New Roman" panose="02020603050405020304" pitchFamily="18" charset="0"/>
              </a:rPr>
              <a:t>Our fictional case: ClinicPulse Hospital on a busy Monday morning</a:t>
            </a:r>
            <a:endParaRPr lang="en-US" sz="1550" dirty="0">
              <a:latin typeface="Times New Roman" panose="02020603050405020304" pitchFamily="18" charset="0"/>
              <a:cs typeface="Times New Roman" panose="02020603050405020304" pitchFamily="18" charset="0"/>
            </a:endParaRPr>
          </a:p>
        </p:txBody>
      </p:sp>
      <p:sp>
        <p:nvSpPr>
          <p:cNvPr id="19" name="Text 17"/>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WELCOME &amp; ICEBREAKER</a:t>
            </a:r>
            <a:endParaRPr lang="en-US" sz="1050" dirty="0">
              <a:latin typeface="Times New Roman" panose="02020603050405020304" pitchFamily="18" charset="0"/>
              <a:cs typeface="Times New Roman" panose="02020603050405020304" pitchFamily="18" charset="0"/>
            </a:endParaRPr>
          </a:p>
        </p:txBody>
      </p:sp>
      <p:sp>
        <p:nvSpPr>
          <p:cNvPr id="21" name="Shape 19"/>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2" name="Shape 20"/>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3" name="Text 21"/>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24" name="Text 22"/>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05</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 y="2331720"/>
            <a:ext cx="10652760" cy="3108960"/>
          </a:xfrm>
          <a:prstGeom prst="roundRect">
            <a:avLst>
              <a:gd name="adj" fmla="val 470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Text 1"/>
          <p:cNvSpPr/>
          <p:nvPr/>
        </p:nvSpPr>
        <p:spPr>
          <a:xfrm>
            <a:off x="1088136" y="2606040"/>
            <a:ext cx="1645920" cy="292608"/>
          </a:xfrm>
          <a:prstGeom prst="rect">
            <a:avLst/>
          </a:prstGeom>
          <a:noFill/>
          <a:ln/>
        </p:spPr>
        <p:txBody>
          <a:bodyPr wrap="square" lIns="0" tIns="0" rIns="0" bIns="0" rtlCol="0" anchor="ctr">
            <a:normAutofit/>
          </a:bodyPr>
          <a:lstStyle/>
          <a:p>
            <a:pPr marL="0" indent="0" algn="l">
              <a:buNone/>
            </a:pPr>
            <a:r>
              <a:rPr lang="en-US" sz="1200" b="1" dirty="0">
                <a:solidFill>
                  <a:srgbClr val="087B75"/>
                </a:solidFill>
                <a:latin typeface="Times New Roman" panose="02020603050405020304" pitchFamily="18" charset="0"/>
                <a:ea typeface="Inter" pitchFamily="34" charset="-122"/>
                <a:cs typeface="Times New Roman" panose="02020603050405020304" pitchFamily="18" charset="0"/>
              </a:rPr>
              <a:t>TASK</a:t>
            </a:r>
            <a:endParaRPr lang="en-US" sz="1200" dirty="0">
              <a:latin typeface="Times New Roman" panose="02020603050405020304" pitchFamily="18" charset="0"/>
              <a:cs typeface="Times New Roman" panose="02020603050405020304" pitchFamily="18" charset="0"/>
            </a:endParaRPr>
          </a:p>
        </p:txBody>
      </p:sp>
      <p:sp>
        <p:nvSpPr>
          <p:cNvPr id="4" name="Shape 2"/>
          <p:cNvSpPr/>
          <p:nvPr/>
        </p:nvSpPr>
        <p:spPr>
          <a:xfrm>
            <a:off x="1078992" y="3154680"/>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5" name="Text 3"/>
          <p:cNvSpPr/>
          <p:nvPr/>
        </p:nvSpPr>
        <p:spPr>
          <a:xfrm>
            <a:off x="1325880" y="2888730"/>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Write three questions the hospital should ask.</a:t>
            </a:r>
            <a:endParaRPr lang="en-US" sz="1900" dirty="0">
              <a:latin typeface="Times New Roman" panose="02020603050405020304" pitchFamily="18" charset="0"/>
              <a:cs typeface="Times New Roman" panose="02020603050405020304" pitchFamily="18" charset="0"/>
            </a:endParaRPr>
          </a:p>
        </p:txBody>
      </p:sp>
      <p:sp>
        <p:nvSpPr>
          <p:cNvPr id="6" name="Shape 4"/>
          <p:cNvSpPr/>
          <p:nvPr/>
        </p:nvSpPr>
        <p:spPr>
          <a:xfrm>
            <a:off x="1078992" y="3776472"/>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Text 5"/>
          <p:cNvSpPr/>
          <p:nvPr/>
        </p:nvSpPr>
        <p:spPr>
          <a:xfrm>
            <a:off x="1325880" y="3510522"/>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Identify two datasets you would request.</a:t>
            </a:r>
            <a:endParaRPr lang="en-US" sz="1900" dirty="0">
              <a:latin typeface="Times New Roman" panose="02020603050405020304" pitchFamily="18" charset="0"/>
              <a:cs typeface="Times New Roman" panose="02020603050405020304" pitchFamily="18" charset="0"/>
            </a:endParaRPr>
          </a:p>
        </p:txBody>
      </p:sp>
      <p:sp>
        <p:nvSpPr>
          <p:cNvPr id="8" name="Shape 6"/>
          <p:cNvSpPr/>
          <p:nvPr/>
        </p:nvSpPr>
        <p:spPr>
          <a:xfrm>
            <a:off x="1078992" y="4398264"/>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1325880" y="4132314"/>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Choose one number management should track.</a:t>
            </a:r>
            <a:endParaRPr lang="en-US" sz="1900" dirty="0">
              <a:latin typeface="Times New Roman" panose="02020603050405020304" pitchFamily="18" charset="0"/>
              <a:cs typeface="Times New Roman" panose="02020603050405020304" pitchFamily="18" charset="0"/>
            </a:endParaRPr>
          </a:p>
        </p:txBody>
      </p:sp>
      <p:sp>
        <p:nvSpPr>
          <p:cNvPr id="13" name="Text 11"/>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What would you investigate?</a:t>
            </a:r>
            <a:endParaRPr lang="en-US" sz="318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WELCOME &amp; ICEBREAKER</a:t>
            </a:r>
            <a:endParaRPr lang="en-US" sz="1050" dirty="0">
              <a:latin typeface="Times New Roman" panose="02020603050405020304" pitchFamily="18" charset="0"/>
              <a:cs typeface="Times New Roman" panose="02020603050405020304" pitchFamily="18" charset="0"/>
            </a:endParaRPr>
          </a:p>
        </p:txBody>
      </p:sp>
      <p:sp>
        <p:nvSpPr>
          <p:cNvPr id="16" name="Shape 14"/>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Shape 15"/>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Text 16"/>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9" name="Text 17"/>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06</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2633472"/>
            <a:ext cx="2586152"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621792" y="2633472"/>
            <a:ext cx="2586152" cy="73152"/>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813816" y="2871216"/>
            <a:ext cx="2202104"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Business question</a:t>
            </a:r>
            <a:endParaRPr lang="en-US" sz="2000" dirty="0">
              <a:latin typeface="Times New Roman" panose="02020603050405020304" pitchFamily="18" charset="0"/>
              <a:cs typeface="Times New Roman" panose="02020603050405020304" pitchFamily="18" charset="0"/>
            </a:endParaRPr>
          </a:p>
        </p:txBody>
      </p:sp>
      <p:sp>
        <p:nvSpPr>
          <p:cNvPr id="5" name="Text 3"/>
          <p:cNvSpPr/>
          <p:nvPr/>
        </p:nvSpPr>
        <p:spPr>
          <a:xfrm>
            <a:off x="813816" y="3401568"/>
            <a:ext cx="2202104"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What should improve?</a:t>
            </a:r>
            <a:endParaRPr lang="en-US" sz="1430" dirty="0">
              <a:latin typeface="Times New Roman" panose="02020603050405020304" pitchFamily="18" charset="0"/>
              <a:cs typeface="Times New Roman" panose="02020603050405020304" pitchFamily="18" charset="0"/>
            </a:endParaRPr>
          </a:p>
        </p:txBody>
      </p:sp>
      <p:sp>
        <p:nvSpPr>
          <p:cNvPr id="6" name="Shape 4"/>
          <p:cNvSpPr/>
          <p:nvPr/>
        </p:nvSpPr>
        <p:spPr>
          <a:xfrm>
            <a:off x="3223489" y="3566160"/>
            <a:ext cx="164592" cy="301752"/>
          </a:xfrm>
          <a:prstGeom prst="chevron">
            <a:avLst/>
          </a:prstGeom>
          <a:solidFill>
            <a:srgbClr val="B5C2D0"/>
          </a:solidFill>
          <a:ln w="12700">
            <a:solidFill>
              <a:srgbClr val="B5C2D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3409112" y="2633472"/>
            <a:ext cx="2586152"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Shape 6"/>
          <p:cNvSpPr/>
          <p:nvPr/>
        </p:nvSpPr>
        <p:spPr>
          <a:xfrm>
            <a:off x="3409112" y="2633472"/>
            <a:ext cx="2586152" cy="73152"/>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3601136" y="2871216"/>
            <a:ext cx="2202104"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Data engineering</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3601136" y="3401568"/>
            <a:ext cx="2202104"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Can we trust the records?</a:t>
            </a:r>
            <a:endParaRPr lang="en-US" sz="1430" dirty="0">
              <a:latin typeface="Times New Roman" panose="02020603050405020304" pitchFamily="18" charset="0"/>
              <a:cs typeface="Times New Roman" panose="02020603050405020304" pitchFamily="18" charset="0"/>
            </a:endParaRPr>
          </a:p>
        </p:txBody>
      </p:sp>
      <p:sp>
        <p:nvSpPr>
          <p:cNvPr id="11" name="Shape 9"/>
          <p:cNvSpPr/>
          <p:nvPr/>
        </p:nvSpPr>
        <p:spPr>
          <a:xfrm>
            <a:off x="6010808" y="3566160"/>
            <a:ext cx="164592" cy="301752"/>
          </a:xfrm>
          <a:prstGeom prst="chevron">
            <a:avLst/>
          </a:prstGeom>
          <a:solidFill>
            <a:srgbClr val="B5C2D0"/>
          </a:solidFill>
          <a:ln w="12700">
            <a:solidFill>
              <a:srgbClr val="B5C2D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Shape 10"/>
          <p:cNvSpPr/>
          <p:nvPr/>
        </p:nvSpPr>
        <p:spPr>
          <a:xfrm>
            <a:off x="6196432" y="2633472"/>
            <a:ext cx="2586152"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3" name="Shape 11"/>
          <p:cNvSpPr/>
          <p:nvPr/>
        </p:nvSpPr>
        <p:spPr>
          <a:xfrm>
            <a:off x="6196432" y="2633472"/>
            <a:ext cx="2586152" cy="73152"/>
          </a:xfrm>
          <a:prstGeom prst="rect">
            <a:avLst/>
          </a:prstGeom>
          <a:solidFill>
            <a:srgbClr val="8052D8"/>
          </a:solidFill>
          <a:ln w="12700">
            <a:solidFill>
              <a:srgbClr val="8052D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4" name="Text 12"/>
          <p:cNvSpPr/>
          <p:nvPr/>
        </p:nvSpPr>
        <p:spPr>
          <a:xfrm>
            <a:off x="6388456" y="2871216"/>
            <a:ext cx="2202104"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Data analytics</a:t>
            </a:r>
            <a:endParaRPr lang="en-US" sz="2000" dirty="0">
              <a:latin typeface="Times New Roman" panose="02020603050405020304" pitchFamily="18" charset="0"/>
              <a:cs typeface="Times New Roman" panose="02020603050405020304" pitchFamily="18" charset="0"/>
            </a:endParaRPr>
          </a:p>
        </p:txBody>
      </p:sp>
      <p:sp>
        <p:nvSpPr>
          <p:cNvPr id="15" name="Text 13"/>
          <p:cNvSpPr/>
          <p:nvPr/>
        </p:nvSpPr>
        <p:spPr>
          <a:xfrm>
            <a:off x="6388456" y="3401568"/>
            <a:ext cx="2202104"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What patterns exist?</a:t>
            </a:r>
            <a:endParaRPr lang="en-US" sz="1430" dirty="0">
              <a:latin typeface="Times New Roman" panose="02020603050405020304" pitchFamily="18" charset="0"/>
              <a:cs typeface="Times New Roman" panose="02020603050405020304" pitchFamily="18" charset="0"/>
            </a:endParaRPr>
          </a:p>
        </p:txBody>
      </p:sp>
      <p:sp>
        <p:nvSpPr>
          <p:cNvPr id="16" name="Shape 14"/>
          <p:cNvSpPr/>
          <p:nvPr/>
        </p:nvSpPr>
        <p:spPr>
          <a:xfrm>
            <a:off x="8798128" y="3566160"/>
            <a:ext cx="164592" cy="301752"/>
          </a:xfrm>
          <a:prstGeom prst="chevron">
            <a:avLst/>
          </a:prstGeom>
          <a:solidFill>
            <a:srgbClr val="B5C2D0"/>
          </a:solidFill>
          <a:ln w="12700">
            <a:solidFill>
              <a:srgbClr val="B5C2D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Shape 15"/>
          <p:cNvSpPr/>
          <p:nvPr/>
        </p:nvSpPr>
        <p:spPr>
          <a:xfrm>
            <a:off x="8983751" y="2633472"/>
            <a:ext cx="2586152"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Shape 16"/>
          <p:cNvSpPr/>
          <p:nvPr/>
        </p:nvSpPr>
        <p:spPr>
          <a:xfrm>
            <a:off x="8983751" y="2633472"/>
            <a:ext cx="2586152" cy="73152"/>
          </a:xfrm>
          <a:prstGeom prst="rect">
            <a:avLst/>
          </a:prstGeom>
          <a:solidFill>
            <a:srgbClr val="E8A23A"/>
          </a:solidFill>
          <a:ln w="12700">
            <a:solidFill>
              <a:srgbClr val="E8A23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9" name="Text 17"/>
          <p:cNvSpPr/>
          <p:nvPr/>
        </p:nvSpPr>
        <p:spPr>
          <a:xfrm>
            <a:off x="9175775" y="2871216"/>
            <a:ext cx="2202104"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Business action</a:t>
            </a:r>
            <a:endParaRPr lang="en-US" sz="2000" dirty="0">
              <a:latin typeface="Times New Roman" panose="02020603050405020304" pitchFamily="18" charset="0"/>
              <a:cs typeface="Times New Roman" panose="02020603050405020304" pitchFamily="18" charset="0"/>
            </a:endParaRPr>
          </a:p>
        </p:txBody>
      </p:sp>
      <p:sp>
        <p:nvSpPr>
          <p:cNvPr id="20" name="Text 18"/>
          <p:cNvSpPr/>
          <p:nvPr/>
        </p:nvSpPr>
        <p:spPr>
          <a:xfrm>
            <a:off x="9175775" y="3401568"/>
            <a:ext cx="2202104"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What should change?</a:t>
            </a:r>
            <a:endParaRPr lang="en-US" sz="1430" dirty="0">
              <a:latin typeface="Times New Roman" panose="02020603050405020304" pitchFamily="18" charset="0"/>
              <a:cs typeface="Times New Roman" panose="02020603050405020304" pitchFamily="18" charset="0"/>
            </a:endParaRPr>
          </a:p>
        </p:txBody>
      </p:sp>
      <p:sp>
        <p:nvSpPr>
          <p:cNvPr id="21" name="Shape 19"/>
          <p:cNvSpPr/>
          <p:nvPr/>
        </p:nvSpPr>
        <p:spPr>
          <a:xfrm>
            <a:off x="621792" y="5650992"/>
            <a:ext cx="10948111" cy="493776"/>
          </a:xfrm>
          <a:prstGeom prst="roundRect">
            <a:avLst>
              <a:gd name="adj" fmla="val 22222"/>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2" name="Text 20"/>
          <p:cNvSpPr/>
          <p:nvPr/>
        </p:nvSpPr>
        <p:spPr>
          <a:xfrm>
            <a:off x="822960" y="5705856"/>
            <a:ext cx="1316736" cy="365760"/>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REMEMBER</a:t>
            </a:r>
            <a:endParaRPr lang="en-US" sz="1030" dirty="0">
              <a:latin typeface="Times New Roman" panose="02020603050405020304" pitchFamily="18" charset="0"/>
              <a:cs typeface="Times New Roman" panose="02020603050405020304" pitchFamily="18" charset="0"/>
            </a:endParaRPr>
          </a:p>
        </p:txBody>
      </p:sp>
      <p:sp>
        <p:nvSpPr>
          <p:cNvPr id="23" name="Text 21"/>
          <p:cNvSpPr/>
          <p:nvPr/>
        </p:nvSpPr>
        <p:spPr>
          <a:xfrm>
            <a:off x="2221992" y="5705856"/>
            <a:ext cx="9101023" cy="365760"/>
          </a:xfrm>
          <a:prstGeom prst="rect">
            <a:avLst/>
          </a:prstGeom>
          <a:noFill/>
          <a:ln/>
        </p:spPr>
        <p:txBody>
          <a:bodyPr wrap="square" lIns="0" tIns="0" rIns="0" bIns="0" rtlCol="0" anchor="ctr">
            <a:normAutofit/>
          </a:bodyPr>
          <a:lstStyle/>
          <a:p>
            <a:pPr marL="0" indent="0" algn="l">
              <a:buNone/>
            </a:pPr>
            <a:r>
              <a:rPr lang="en-US" sz="1340" b="1" dirty="0">
                <a:solidFill>
                  <a:srgbClr val="172B42"/>
                </a:solidFill>
                <a:latin typeface="Times New Roman" panose="02020603050405020304" pitchFamily="18" charset="0"/>
                <a:ea typeface="Inter" pitchFamily="34" charset="-122"/>
                <a:cs typeface="Times New Roman" panose="02020603050405020304" pitchFamily="18" charset="0"/>
              </a:rPr>
              <a:t>A working report is the end of a chain—not the beginning.</a:t>
            </a:r>
            <a:endParaRPr lang="en-US" sz="1340" dirty="0">
              <a:latin typeface="Times New Roman" panose="02020603050405020304" pitchFamily="18" charset="0"/>
              <a:cs typeface="Times New Roman" panose="02020603050405020304" pitchFamily="18" charset="0"/>
            </a:endParaRPr>
          </a:p>
        </p:txBody>
      </p:sp>
      <p:sp>
        <p:nvSpPr>
          <p:cNvPr id="24" name="Text 22"/>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Our storyline for the day</a:t>
            </a:r>
            <a:endParaRPr lang="en-US" sz="3180" dirty="0">
              <a:latin typeface="Times New Roman" panose="02020603050405020304" pitchFamily="18" charset="0"/>
              <a:cs typeface="Times New Roman" panose="02020603050405020304" pitchFamily="18" charset="0"/>
            </a:endParaRPr>
          </a:p>
        </p:txBody>
      </p:sp>
      <p:sp>
        <p:nvSpPr>
          <p:cNvPr id="25" name="Text 23"/>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WELCOME &amp; ICEBREAKER</a:t>
            </a:r>
            <a:endParaRPr lang="en-US" sz="1050" dirty="0">
              <a:latin typeface="Times New Roman" panose="02020603050405020304" pitchFamily="18" charset="0"/>
              <a:cs typeface="Times New Roman" panose="02020603050405020304" pitchFamily="18" charset="0"/>
            </a:endParaRPr>
          </a:p>
        </p:txBody>
      </p:sp>
      <p:sp>
        <p:nvSpPr>
          <p:cNvPr id="27" name="Shape 25"/>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8" name="Shape 26"/>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9" name="Text 27"/>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30" name="Text 28"/>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07</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60120" y="1051560"/>
            <a:ext cx="2743200" cy="813816"/>
          </a:xfrm>
          <a:prstGeom prst="rect">
            <a:avLst/>
          </a:prstGeom>
          <a:noFill/>
          <a:ln/>
        </p:spPr>
        <p:txBody>
          <a:bodyPr wrap="square" lIns="0" tIns="0" rIns="0" bIns="0" rtlCol="0" anchor="ctr">
            <a:normAutofit fontScale="92500" lnSpcReduction="20000"/>
          </a:bodyPr>
          <a:lstStyle/>
          <a:p>
            <a:pPr marL="0" indent="0" algn="l">
              <a:buNone/>
            </a:pPr>
            <a:r>
              <a:rPr lang="en-US" sz="7100" b="1" dirty="0">
                <a:solidFill>
                  <a:srgbClr val="172B42"/>
                </a:solidFill>
                <a:latin typeface="Times New Roman" panose="02020603050405020304" pitchFamily="18" charset="0"/>
                <a:ea typeface="Inter" pitchFamily="34" charset="-122"/>
                <a:cs typeface="Times New Roman" panose="02020603050405020304" pitchFamily="18" charset="0"/>
              </a:rPr>
              <a:t>01</a:t>
            </a:r>
            <a:endParaRPr lang="en-US" sz="7100" dirty="0">
              <a:latin typeface="Times New Roman" panose="02020603050405020304" pitchFamily="18" charset="0"/>
              <a:cs typeface="Times New Roman" panose="02020603050405020304" pitchFamily="18" charset="0"/>
            </a:endParaRPr>
          </a:p>
        </p:txBody>
      </p:sp>
      <p:sp>
        <p:nvSpPr>
          <p:cNvPr id="3" name="Text 1"/>
          <p:cNvSpPr/>
          <p:nvPr/>
        </p:nvSpPr>
        <p:spPr>
          <a:xfrm>
            <a:off x="960120" y="2231136"/>
            <a:ext cx="10378440" cy="914400"/>
          </a:xfrm>
          <a:prstGeom prst="rect">
            <a:avLst/>
          </a:prstGeom>
          <a:noFill/>
          <a:ln/>
        </p:spPr>
        <p:txBody>
          <a:bodyPr wrap="square" lIns="0" tIns="0" rIns="0" bIns="0" rtlCol="0" anchor="ctr">
            <a:normAutofit/>
          </a:bodyPr>
          <a:lstStyle/>
          <a:p>
            <a:pPr marL="0" indent="0" algn="l">
              <a:buNone/>
            </a:pPr>
            <a:r>
              <a:rPr lang="en-US" sz="4400" b="1" dirty="0">
                <a:solidFill>
                  <a:srgbClr val="172B42"/>
                </a:solidFill>
                <a:latin typeface="Times New Roman" panose="02020603050405020304" pitchFamily="18" charset="0"/>
                <a:ea typeface="Inter" pitchFamily="34" charset="-122"/>
                <a:cs typeface="Times New Roman" panose="02020603050405020304" pitchFamily="18" charset="0"/>
              </a:rPr>
              <a:t>Three roles. One outcome.</a:t>
            </a:r>
            <a:endParaRPr lang="en-US" sz="4400" dirty="0">
              <a:latin typeface="Times New Roman" panose="02020603050405020304" pitchFamily="18" charset="0"/>
              <a:cs typeface="Times New Roman" panose="02020603050405020304" pitchFamily="18" charset="0"/>
            </a:endParaRPr>
          </a:p>
        </p:txBody>
      </p:sp>
      <p:sp>
        <p:nvSpPr>
          <p:cNvPr id="4" name="Text 2"/>
          <p:cNvSpPr/>
          <p:nvPr/>
        </p:nvSpPr>
        <p:spPr>
          <a:xfrm>
            <a:off x="996696" y="3429000"/>
            <a:ext cx="9829800" cy="914400"/>
          </a:xfrm>
          <a:prstGeom prst="rect">
            <a:avLst/>
          </a:prstGeom>
          <a:noFill/>
          <a:ln/>
        </p:spPr>
        <p:txBody>
          <a:bodyPr wrap="square" lIns="0" tIns="0" rIns="0" bIns="0" rtlCol="0" anchor="ctr">
            <a:normAutofit/>
          </a:bodyPr>
          <a:lstStyle/>
          <a:p>
            <a:pPr marL="0" indent="0" algn="l">
              <a:buNone/>
            </a:pPr>
            <a:r>
              <a:rPr lang="en-US" sz="2100" dirty="0">
                <a:solidFill>
                  <a:srgbClr val="5C6D80"/>
                </a:solidFill>
                <a:latin typeface="Times New Roman" panose="02020603050405020304" pitchFamily="18" charset="0"/>
                <a:ea typeface="Inter" pitchFamily="34" charset="-122"/>
                <a:cs typeface="Times New Roman" panose="02020603050405020304" pitchFamily="18" charset="0"/>
              </a:rPr>
              <a:t>The same business problem looks different to different teams.</a:t>
            </a:r>
            <a:endParaRPr lang="en-US" sz="2100" dirty="0">
              <a:latin typeface="Times New Roman" panose="02020603050405020304" pitchFamily="18" charset="0"/>
              <a:cs typeface="Times New Roman" panose="02020603050405020304" pitchFamily="18" charset="0"/>
            </a:endParaRPr>
          </a:p>
        </p:txBody>
      </p:sp>
      <p:sp>
        <p:nvSpPr>
          <p:cNvPr id="5" name="Shape 3"/>
          <p:cNvSpPr/>
          <p:nvPr/>
        </p:nvSpPr>
        <p:spPr>
          <a:xfrm>
            <a:off x="978408" y="4718304"/>
            <a:ext cx="1106424" cy="91440"/>
          </a:xfrm>
          <a:prstGeom prst="roundRect">
            <a:avLst>
              <a:gd name="adj" fmla="val 40000"/>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6" name="Text 4"/>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INDUSTRY ROLES &amp; CASES</a:t>
            </a:r>
            <a:endParaRPr lang="en-US" sz="1050" dirty="0">
              <a:latin typeface="Times New Roman" panose="02020603050405020304" pitchFamily="18" charset="0"/>
              <a:cs typeface="Times New Roman" panose="02020603050405020304" pitchFamily="18" charset="0"/>
            </a:endParaRPr>
          </a:p>
        </p:txBody>
      </p:sp>
      <p:sp>
        <p:nvSpPr>
          <p:cNvPr id="8" name="Shape 6"/>
          <p:cNvSpPr/>
          <p:nvPr/>
        </p:nvSpPr>
        <p:spPr>
          <a:xfrm>
            <a:off x="621792" y="658368"/>
            <a:ext cx="10948111" cy="0"/>
          </a:xfrm>
          <a:prstGeom prst="line">
            <a:avLst/>
          </a:prstGeom>
          <a:noFill/>
          <a:ln w="15240">
            <a:solidFill>
              <a:srgbClr val="34506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Shape 7"/>
          <p:cNvSpPr/>
          <p:nvPr/>
        </p:nvSpPr>
        <p:spPr>
          <a:xfrm>
            <a:off x="621792" y="6455664"/>
            <a:ext cx="10948111" cy="0"/>
          </a:xfrm>
          <a:prstGeom prst="line">
            <a:avLst/>
          </a:prstGeom>
          <a:noFill/>
          <a:ln w="12700">
            <a:solidFill>
              <a:srgbClr val="34506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0" name="Text 8"/>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1" name="Text 9"/>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08</a:t>
            </a:r>
            <a:endParaRPr lang="en-US" sz="900" dirty="0">
              <a:latin typeface="Times New Roman" panose="02020603050405020304" pitchFamily="18" charset="0"/>
              <a:cs typeface="Times New Roman" panose="02020603050405020304" pitchFamily="18" charset="0"/>
            </a:endParaRPr>
          </a:p>
        </p:txBody>
      </p:sp>
      <p:sp>
        <p:nvSpPr>
          <p:cNvPr id="12" name="Section underline"/>
          <p:cNvSpPr/>
          <p:nvPr/>
        </p:nvSpPr>
        <p:spPr>
          <a:xfrm>
            <a:off x="987552" y="4846320"/>
            <a:ext cx="1005840" cy="32004"/>
          </a:xfrm>
          <a:prstGeom prst="rect">
            <a:avLst/>
          </a:prstGeom>
          <a:solidFill>
            <a:srgbClr val="10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621792" y="2487168"/>
            <a:ext cx="64008" cy="2834640"/>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859536"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Data Engineer</a:t>
            </a:r>
            <a:endParaRPr lang="en-US" sz="1900" dirty="0">
              <a:latin typeface="Times New Roman" panose="02020603050405020304" pitchFamily="18" charset="0"/>
              <a:cs typeface="Times New Roman" panose="02020603050405020304" pitchFamily="18" charset="0"/>
            </a:endParaRPr>
          </a:p>
        </p:txBody>
      </p:sp>
      <p:sp>
        <p:nvSpPr>
          <p:cNvPr id="5" name="Text 3"/>
          <p:cNvSpPr/>
          <p:nvPr/>
        </p:nvSpPr>
        <p:spPr>
          <a:xfrm>
            <a:off x="859536"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Creates reliable pipelines and tables from messy source data.</a:t>
            </a:r>
            <a:endParaRPr lang="en-US" sz="1510" dirty="0">
              <a:latin typeface="Times New Roman" panose="02020603050405020304" pitchFamily="18" charset="0"/>
              <a:cs typeface="Times New Roman" panose="02020603050405020304" pitchFamily="18" charset="0"/>
            </a:endParaRPr>
          </a:p>
        </p:txBody>
      </p:sp>
      <p:sp>
        <p:nvSpPr>
          <p:cNvPr id="6" name="Shape 4"/>
          <p:cNvSpPr/>
          <p:nvPr/>
        </p:nvSpPr>
        <p:spPr>
          <a:xfrm>
            <a:off x="4335170"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4335170" y="2487168"/>
            <a:ext cx="64008" cy="2834640"/>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4572914"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Data Analyst</a:t>
            </a:r>
            <a:endParaRPr lang="en-US" sz="1900" dirty="0">
              <a:latin typeface="Times New Roman" panose="02020603050405020304" pitchFamily="18" charset="0"/>
              <a:cs typeface="Times New Roman" panose="02020603050405020304" pitchFamily="18" charset="0"/>
            </a:endParaRPr>
          </a:p>
        </p:txBody>
      </p:sp>
      <p:sp>
        <p:nvSpPr>
          <p:cNvPr id="9" name="Text 7"/>
          <p:cNvSpPr/>
          <p:nvPr/>
        </p:nvSpPr>
        <p:spPr>
          <a:xfrm>
            <a:off x="4572914"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Transforms trusted data into metrics, visuals and explanations.</a:t>
            </a:r>
            <a:endParaRPr lang="en-US" sz="1510" dirty="0">
              <a:latin typeface="Times New Roman" panose="02020603050405020304" pitchFamily="18" charset="0"/>
              <a:cs typeface="Times New Roman" panose="02020603050405020304" pitchFamily="18" charset="0"/>
            </a:endParaRPr>
          </a:p>
        </p:txBody>
      </p:sp>
      <p:sp>
        <p:nvSpPr>
          <p:cNvPr id="10" name="Shape 8"/>
          <p:cNvSpPr/>
          <p:nvPr/>
        </p:nvSpPr>
        <p:spPr>
          <a:xfrm>
            <a:off x="8048549"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Shape 9"/>
          <p:cNvSpPr/>
          <p:nvPr/>
        </p:nvSpPr>
        <p:spPr>
          <a:xfrm>
            <a:off x="8048549" y="2487168"/>
            <a:ext cx="64008" cy="2834640"/>
          </a:xfrm>
          <a:prstGeom prst="rect">
            <a:avLst/>
          </a:prstGeom>
          <a:solidFill>
            <a:srgbClr val="E8A23A"/>
          </a:solidFill>
          <a:ln w="12700">
            <a:solidFill>
              <a:srgbClr val="E8A23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Text 10"/>
          <p:cNvSpPr/>
          <p:nvPr/>
        </p:nvSpPr>
        <p:spPr>
          <a:xfrm>
            <a:off x="8286293"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Business Analyst</a:t>
            </a:r>
            <a:endParaRPr lang="en-US" sz="1900" dirty="0">
              <a:latin typeface="Times New Roman" panose="02020603050405020304" pitchFamily="18" charset="0"/>
              <a:cs typeface="Times New Roman" panose="02020603050405020304" pitchFamily="18" charset="0"/>
            </a:endParaRPr>
          </a:p>
        </p:txBody>
      </p:sp>
      <p:sp>
        <p:nvSpPr>
          <p:cNvPr id="13" name="Text 11"/>
          <p:cNvSpPr/>
          <p:nvPr/>
        </p:nvSpPr>
        <p:spPr>
          <a:xfrm>
            <a:off x="8286293"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Defines the business problem, requirements and success criteria.</a:t>
            </a:r>
            <a:endParaRPr lang="en-US" sz="151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Who is responsible for what?</a:t>
            </a:r>
            <a:endParaRPr lang="en-US" sz="3180" dirty="0">
              <a:latin typeface="Times New Roman" panose="02020603050405020304" pitchFamily="18" charset="0"/>
              <a:cs typeface="Times New Roman" panose="02020603050405020304" pitchFamily="18" charset="0"/>
            </a:endParaRPr>
          </a:p>
        </p:txBody>
      </p:sp>
      <p:sp>
        <p:nvSpPr>
          <p:cNvPr id="15" name="Text 13"/>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INDUSTRY ROLES &amp; CASES</a:t>
            </a:r>
            <a:endParaRPr lang="en-US" sz="1050" dirty="0">
              <a:latin typeface="Times New Roman" panose="02020603050405020304" pitchFamily="18" charset="0"/>
              <a:cs typeface="Times New Roman" panose="02020603050405020304" pitchFamily="18" charset="0"/>
            </a:endParaRPr>
          </a:p>
        </p:txBody>
      </p:sp>
      <p:sp>
        <p:nvSpPr>
          <p:cNvPr id="17" name="Shape 15"/>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Shape 16"/>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9" name="Text 17"/>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20" name="Text 18"/>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09</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7824" y="2432304"/>
            <a:ext cx="5074920" cy="2807208"/>
          </a:xfrm>
          <a:prstGeom prst="roundRect">
            <a:avLst>
              <a:gd name="adj" fmla="val 4560"/>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877824" y="2432304"/>
            <a:ext cx="64008" cy="2807208"/>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1115568" y="2651760"/>
            <a:ext cx="4636008" cy="502920"/>
          </a:xfrm>
          <a:prstGeom prst="rect">
            <a:avLst/>
          </a:prstGeom>
          <a:noFill/>
          <a:ln/>
        </p:spPr>
        <p:txBody>
          <a:bodyPr wrap="square" lIns="0" tIns="0" rIns="0" bIns="0" rtlCol="0" anchor="ctr">
            <a:normAutofit/>
          </a:bodyPr>
          <a:lstStyle/>
          <a:p>
            <a:pPr marL="0" indent="0" algn="l">
              <a:buNone/>
            </a:pPr>
            <a:r>
              <a:rPr lang="en-US" sz="2400" b="1" dirty="0">
                <a:solidFill>
                  <a:srgbClr val="172B42"/>
                </a:solidFill>
                <a:latin typeface="Times New Roman" panose="02020603050405020304" pitchFamily="18" charset="0"/>
                <a:ea typeface="Inter" pitchFamily="34" charset="-122"/>
                <a:cs typeface="Times New Roman" panose="02020603050405020304" pitchFamily="18" charset="0"/>
              </a:rPr>
              <a:t>Can we trust the data?</a:t>
            </a:r>
            <a:endParaRPr lang="en-US" sz="2400" dirty="0">
              <a:latin typeface="Times New Roman" panose="02020603050405020304" pitchFamily="18" charset="0"/>
              <a:cs typeface="Times New Roman" panose="02020603050405020304" pitchFamily="18" charset="0"/>
            </a:endParaRPr>
          </a:p>
        </p:txBody>
      </p:sp>
      <p:sp>
        <p:nvSpPr>
          <p:cNvPr id="5" name="Text 3"/>
          <p:cNvSpPr/>
          <p:nvPr/>
        </p:nvSpPr>
        <p:spPr>
          <a:xfrm>
            <a:off x="1115568" y="3227832"/>
            <a:ext cx="4572000" cy="1828800"/>
          </a:xfrm>
          <a:prstGeom prst="rect">
            <a:avLst/>
          </a:prstGeom>
          <a:noFill/>
          <a:ln/>
        </p:spPr>
        <p:txBody>
          <a:bodyPr wrap="square" lIns="0" tIns="0" rIns="0" bIns="0" rtlCol="0" anchor="t">
            <a:normAutofit/>
          </a:bodyPr>
          <a:lstStyle/>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Are records complete, correct, joinable and updated when needed?</a:t>
            </a:r>
            <a:endParaRPr lang="en-US" sz="1800" dirty="0">
              <a:latin typeface="Times New Roman" panose="02020603050405020304" pitchFamily="18" charset="0"/>
              <a:cs typeface="Times New Roman" panose="02020603050405020304" pitchFamily="18" charset="0"/>
            </a:endParaRPr>
          </a:p>
        </p:txBody>
      </p:sp>
      <p:sp>
        <p:nvSpPr>
          <p:cNvPr id="6" name="Shape 4"/>
          <p:cNvSpPr/>
          <p:nvPr/>
        </p:nvSpPr>
        <p:spPr>
          <a:xfrm>
            <a:off x="6263640" y="2432304"/>
            <a:ext cx="5074920" cy="2807208"/>
          </a:xfrm>
          <a:prstGeom prst="roundRect">
            <a:avLst>
              <a:gd name="adj" fmla="val 4560"/>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6263640" y="2432304"/>
            <a:ext cx="64008" cy="2807208"/>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6501384" y="2651760"/>
            <a:ext cx="4636008" cy="502920"/>
          </a:xfrm>
          <a:prstGeom prst="rect">
            <a:avLst/>
          </a:prstGeom>
          <a:noFill/>
          <a:ln/>
        </p:spPr>
        <p:txBody>
          <a:bodyPr wrap="square" lIns="0" tIns="0" rIns="0" bIns="0" rtlCol="0" anchor="ctr">
            <a:normAutofit/>
          </a:bodyPr>
          <a:lstStyle/>
          <a:p>
            <a:pPr marL="0" indent="0" algn="l">
              <a:buNone/>
            </a:pPr>
            <a:r>
              <a:rPr lang="en-US" sz="2400" b="1" dirty="0">
                <a:solidFill>
                  <a:srgbClr val="172B42"/>
                </a:solidFill>
                <a:latin typeface="Times New Roman" panose="02020603050405020304" pitchFamily="18" charset="0"/>
                <a:ea typeface="Inter" pitchFamily="34" charset="-122"/>
                <a:cs typeface="Times New Roman" panose="02020603050405020304" pitchFamily="18" charset="0"/>
              </a:rPr>
              <a:t>Example deliverable</a:t>
            </a:r>
            <a:endParaRPr lang="en-US" sz="2400" dirty="0">
              <a:latin typeface="Times New Roman" panose="02020603050405020304" pitchFamily="18" charset="0"/>
              <a:cs typeface="Times New Roman" panose="02020603050405020304" pitchFamily="18" charset="0"/>
            </a:endParaRPr>
          </a:p>
        </p:txBody>
      </p:sp>
      <p:sp>
        <p:nvSpPr>
          <p:cNvPr id="9" name="Text 7"/>
          <p:cNvSpPr/>
          <p:nvPr/>
        </p:nvSpPr>
        <p:spPr>
          <a:xfrm>
            <a:off x="6501384" y="3227832"/>
            <a:ext cx="4572000" cy="1828800"/>
          </a:xfrm>
          <a:prstGeom prst="rect">
            <a:avLst/>
          </a:prstGeom>
          <a:noFill/>
          <a:ln/>
        </p:spPr>
        <p:txBody>
          <a:bodyPr wrap="square" lIns="0" tIns="0" rIns="0" bIns="0" rtlCol="0" anchor="t">
            <a:normAutofit/>
          </a:bodyPr>
          <a:lstStyle/>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One validated appointments table refreshed on schedule.</a:t>
            </a:r>
            <a:endParaRPr lang="en-US" sz="1800" dirty="0">
              <a:latin typeface="Times New Roman" panose="02020603050405020304" pitchFamily="18" charset="0"/>
              <a:cs typeface="Times New Roman" panose="02020603050405020304" pitchFamily="18" charset="0"/>
            </a:endParaRPr>
          </a:p>
        </p:txBody>
      </p:sp>
      <p:sp>
        <p:nvSpPr>
          <p:cNvPr id="10" name="Shape 8"/>
          <p:cNvSpPr/>
          <p:nvPr/>
        </p:nvSpPr>
        <p:spPr>
          <a:xfrm>
            <a:off x="621792" y="5650992"/>
            <a:ext cx="10948111" cy="493776"/>
          </a:xfrm>
          <a:prstGeom prst="roundRect">
            <a:avLst>
              <a:gd name="adj" fmla="val 22222"/>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Text 9"/>
          <p:cNvSpPr/>
          <p:nvPr/>
        </p:nvSpPr>
        <p:spPr>
          <a:xfrm>
            <a:off x="822960" y="5705856"/>
            <a:ext cx="1316736" cy="365760"/>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THE POINT</a:t>
            </a:r>
            <a:endParaRPr lang="en-US" sz="1030" dirty="0">
              <a:latin typeface="Times New Roman" panose="02020603050405020304" pitchFamily="18" charset="0"/>
              <a:cs typeface="Times New Roman" panose="02020603050405020304" pitchFamily="18" charset="0"/>
            </a:endParaRPr>
          </a:p>
        </p:txBody>
      </p:sp>
      <p:sp>
        <p:nvSpPr>
          <p:cNvPr id="12" name="Text 10"/>
          <p:cNvSpPr/>
          <p:nvPr/>
        </p:nvSpPr>
        <p:spPr>
          <a:xfrm>
            <a:off x="2221992" y="5705856"/>
            <a:ext cx="9101023" cy="365760"/>
          </a:xfrm>
          <a:prstGeom prst="rect">
            <a:avLst/>
          </a:prstGeom>
          <a:noFill/>
          <a:ln/>
        </p:spPr>
        <p:txBody>
          <a:bodyPr wrap="square" lIns="0" tIns="0" rIns="0" bIns="0" rtlCol="0" anchor="ctr">
            <a:normAutofit/>
          </a:bodyPr>
          <a:lstStyle/>
          <a:p>
            <a:pPr marL="0" indent="0" algn="l">
              <a:buNone/>
            </a:pPr>
            <a:r>
              <a:rPr lang="en-US" sz="1340" b="1" dirty="0">
                <a:solidFill>
                  <a:srgbClr val="172B42"/>
                </a:solidFill>
                <a:latin typeface="Times New Roman" panose="02020603050405020304" pitchFamily="18" charset="0"/>
                <a:ea typeface="Inter" pitchFamily="34" charset="-122"/>
                <a:cs typeface="Times New Roman" panose="02020603050405020304" pitchFamily="18" charset="0"/>
              </a:rPr>
              <a:t>Engineering success = usable, reproducible and reliable data.</a:t>
            </a:r>
            <a:endParaRPr lang="en-US" sz="1340" dirty="0">
              <a:latin typeface="Times New Roman" panose="02020603050405020304" pitchFamily="18" charset="0"/>
              <a:cs typeface="Times New Roman" panose="02020603050405020304" pitchFamily="18" charset="0"/>
            </a:endParaRPr>
          </a:p>
        </p:txBody>
      </p:sp>
      <p:sp>
        <p:nvSpPr>
          <p:cNvPr id="13" name="Text 11"/>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What the data engineer asks</a:t>
            </a:r>
            <a:endParaRPr lang="en-US" sz="318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INDUSTRY ROLES &amp; CASES</a:t>
            </a:r>
            <a:endParaRPr lang="en-US" sz="1050" dirty="0">
              <a:latin typeface="Times New Roman" panose="02020603050405020304" pitchFamily="18" charset="0"/>
              <a:cs typeface="Times New Roman" panose="02020603050405020304" pitchFamily="18" charset="0"/>
            </a:endParaRPr>
          </a:p>
        </p:txBody>
      </p:sp>
      <p:sp>
        <p:nvSpPr>
          <p:cNvPr id="16" name="Shape 14"/>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Shape 15"/>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Text 16"/>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9" name="Text 17"/>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10</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7824" y="2432304"/>
            <a:ext cx="5074920" cy="2807208"/>
          </a:xfrm>
          <a:prstGeom prst="roundRect">
            <a:avLst>
              <a:gd name="adj" fmla="val 4560"/>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877824" y="2432304"/>
            <a:ext cx="64008" cy="2807208"/>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1115568" y="2651760"/>
            <a:ext cx="4636008" cy="502920"/>
          </a:xfrm>
          <a:prstGeom prst="rect">
            <a:avLst/>
          </a:prstGeom>
          <a:noFill/>
          <a:ln/>
        </p:spPr>
        <p:txBody>
          <a:bodyPr wrap="square" lIns="0" tIns="0" rIns="0" bIns="0" rtlCol="0" anchor="ctr">
            <a:normAutofit/>
          </a:bodyPr>
          <a:lstStyle/>
          <a:p>
            <a:pPr marL="0" indent="0" algn="l">
              <a:buNone/>
            </a:pPr>
            <a:r>
              <a:rPr lang="en-US" sz="2400" b="1" dirty="0">
                <a:solidFill>
                  <a:srgbClr val="172B42"/>
                </a:solidFill>
                <a:latin typeface="Times New Roman" panose="02020603050405020304" pitchFamily="18" charset="0"/>
                <a:ea typeface="Inter" pitchFamily="34" charset="-122"/>
                <a:cs typeface="Times New Roman" panose="02020603050405020304" pitchFamily="18" charset="0"/>
              </a:rPr>
              <a:t>What is happening?</a:t>
            </a:r>
            <a:endParaRPr lang="en-US" sz="2400" dirty="0">
              <a:latin typeface="Times New Roman" panose="02020603050405020304" pitchFamily="18" charset="0"/>
              <a:cs typeface="Times New Roman" panose="02020603050405020304" pitchFamily="18" charset="0"/>
            </a:endParaRPr>
          </a:p>
        </p:txBody>
      </p:sp>
      <p:sp>
        <p:nvSpPr>
          <p:cNvPr id="5" name="Text 3"/>
          <p:cNvSpPr/>
          <p:nvPr/>
        </p:nvSpPr>
        <p:spPr>
          <a:xfrm>
            <a:off x="1115568" y="3227832"/>
            <a:ext cx="4572000" cy="1828800"/>
          </a:xfrm>
          <a:prstGeom prst="rect">
            <a:avLst/>
          </a:prstGeom>
          <a:noFill/>
          <a:ln/>
        </p:spPr>
        <p:txBody>
          <a:bodyPr wrap="square" lIns="0" tIns="0" rIns="0" bIns="0" rtlCol="0" anchor="t">
            <a:normAutofit/>
          </a:bodyPr>
          <a:lstStyle/>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Which doctors are overloaded? How often do cancellations occur?</a:t>
            </a:r>
            <a:endParaRPr lang="en-US" sz="1800" dirty="0">
              <a:latin typeface="Times New Roman" panose="02020603050405020304" pitchFamily="18" charset="0"/>
              <a:cs typeface="Times New Roman" panose="02020603050405020304" pitchFamily="18" charset="0"/>
            </a:endParaRPr>
          </a:p>
        </p:txBody>
      </p:sp>
      <p:sp>
        <p:nvSpPr>
          <p:cNvPr id="6" name="Shape 4"/>
          <p:cNvSpPr/>
          <p:nvPr/>
        </p:nvSpPr>
        <p:spPr>
          <a:xfrm>
            <a:off x="6263640" y="2432304"/>
            <a:ext cx="5074920" cy="2807208"/>
          </a:xfrm>
          <a:prstGeom prst="roundRect">
            <a:avLst>
              <a:gd name="adj" fmla="val 4560"/>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6263640" y="2432304"/>
            <a:ext cx="64008" cy="2807208"/>
          </a:xfrm>
          <a:prstGeom prst="rect">
            <a:avLst/>
          </a:prstGeom>
          <a:solidFill>
            <a:srgbClr val="8052D8"/>
          </a:solidFill>
          <a:ln w="12700">
            <a:solidFill>
              <a:srgbClr val="8052D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6501384" y="2651760"/>
            <a:ext cx="4636008" cy="502920"/>
          </a:xfrm>
          <a:prstGeom prst="rect">
            <a:avLst/>
          </a:prstGeom>
          <a:noFill/>
          <a:ln/>
        </p:spPr>
        <p:txBody>
          <a:bodyPr wrap="square" lIns="0" tIns="0" rIns="0" bIns="0" rtlCol="0" anchor="ctr">
            <a:normAutofit/>
          </a:bodyPr>
          <a:lstStyle/>
          <a:p>
            <a:pPr marL="0" indent="0" algn="l">
              <a:buNone/>
            </a:pPr>
            <a:r>
              <a:rPr lang="en-US" sz="2400" b="1" dirty="0">
                <a:solidFill>
                  <a:srgbClr val="172B42"/>
                </a:solidFill>
                <a:latin typeface="Times New Roman" panose="02020603050405020304" pitchFamily="18" charset="0"/>
                <a:ea typeface="Inter" pitchFamily="34" charset="-122"/>
                <a:cs typeface="Times New Roman" panose="02020603050405020304" pitchFamily="18" charset="0"/>
              </a:rPr>
              <a:t>Example deliverable</a:t>
            </a:r>
            <a:endParaRPr lang="en-US" sz="2400" dirty="0">
              <a:latin typeface="Times New Roman" panose="02020603050405020304" pitchFamily="18" charset="0"/>
              <a:cs typeface="Times New Roman" panose="02020603050405020304" pitchFamily="18" charset="0"/>
            </a:endParaRPr>
          </a:p>
        </p:txBody>
      </p:sp>
      <p:sp>
        <p:nvSpPr>
          <p:cNvPr id="9" name="Text 7"/>
          <p:cNvSpPr/>
          <p:nvPr/>
        </p:nvSpPr>
        <p:spPr>
          <a:xfrm>
            <a:off x="6501384" y="3227832"/>
            <a:ext cx="4572000" cy="1828800"/>
          </a:xfrm>
          <a:prstGeom prst="rect">
            <a:avLst/>
          </a:prstGeom>
          <a:noFill/>
          <a:ln/>
        </p:spPr>
        <p:txBody>
          <a:bodyPr wrap="square" lIns="0" tIns="0" rIns="0" bIns="0" rtlCol="0" anchor="t">
            <a:normAutofit/>
          </a:bodyPr>
          <a:lstStyle/>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A dashboard that explains patterns and offers recommendations.</a:t>
            </a:r>
            <a:endParaRPr lang="en-US" sz="1800" dirty="0">
              <a:latin typeface="Times New Roman" panose="02020603050405020304" pitchFamily="18" charset="0"/>
              <a:cs typeface="Times New Roman" panose="02020603050405020304" pitchFamily="18" charset="0"/>
            </a:endParaRPr>
          </a:p>
        </p:txBody>
      </p:sp>
      <p:sp>
        <p:nvSpPr>
          <p:cNvPr id="10" name="Shape 8"/>
          <p:cNvSpPr/>
          <p:nvPr/>
        </p:nvSpPr>
        <p:spPr>
          <a:xfrm>
            <a:off x="621792" y="5650992"/>
            <a:ext cx="10948111" cy="493776"/>
          </a:xfrm>
          <a:prstGeom prst="roundRect">
            <a:avLst>
              <a:gd name="adj" fmla="val 22222"/>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Text 9"/>
          <p:cNvSpPr/>
          <p:nvPr/>
        </p:nvSpPr>
        <p:spPr>
          <a:xfrm>
            <a:off x="822960" y="5705856"/>
            <a:ext cx="1316736" cy="365760"/>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THE POINT</a:t>
            </a:r>
            <a:endParaRPr lang="en-US" sz="1030" dirty="0">
              <a:latin typeface="Times New Roman" panose="02020603050405020304" pitchFamily="18" charset="0"/>
              <a:cs typeface="Times New Roman" panose="02020603050405020304" pitchFamily="18" charset="0"/>
            </a:endParaRPr>
          </a:p>
        </p:txBody>
      </p:sp>
      <p:sp>
        <p:nvSpPr>
          <p:cNvPr id="12" name="Text 10"/>
          <p:cNvSpPr/>
          <p:nvPr/>
        </p:nvSpPr>
        <p:spPr>
          <a:xfrm>
            <a:off x="2221992" y="5705856"/>
            <a:ext cx="9101023" cy="365760"/>
          </a:xfrm>
          <a:prstGeom prst="rect">
            <a:avLst/>
          </a:prstGeom>
          <a:noFill/>
          <a:ln/>
        </p:spPr>
        <p:txBody>
          <a:bodyPr wrap="square" lIns="0" tIns="0" rIns="0" bIns="0" rtlCol="0" anchor="ctr">
            <a:normAutofit/>
          </a:bodyPr>
          <a:lstStyle/>
          <a:p>
            <a:pPr marL="0" indent="0" algn="l">
              <a:buNone/>
            </a:pPr>
            <a:r>
              <a:rPr lang="en-US" sz="1340" b="1" dirty="0">
                <a:solidFill>
                  <a:srgbClr val="172B42"/>
                </a:solidFill>
                <a:latin typeface="Times New Roman" panose="02020603050405020304" pitchFamily="18" charset="0"/>
                <a:ea typeface="Inter" pitchFamily="34" charset="-122"/>
                <a:cs typeface="Times New Roman" panose="02020603050405020304" pitchFamily="18" charset="0"/>
              </a:rPr>
              <a:t>Analytics success = decisions backed by correctly defined metrics.</a:t>
            </a:r>
            <a:endParaRPr lang="en-US" sz="1340" dirty="0">
              <a:latin typeface="Times New Roman" panose="02020603050405020304" pitchFamily="18" charset="0"/>
              <a:cs typeface="Times New Roman" panose="02020603050405020304" pitchFamily="18" charset="0"/>
            </a:endParaRPr>
          </a:p>
        </p:txBody>
      </p:sp>
      <p:sp>
        <p:nvSpPr>
          <p:cNvPr id="13" name="Text 11"/>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What the data analyst asks</a:t>
            </a:r>
            <a:endParaRPr lang="en-US" sz="318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INDUSTRY ROLES &amp; CASES</a:t>
            </a:r>
            <a:endParaRPr lang="en-US" sz="1050" dirty="0">
              <a:latin typeface="Times New Roman" panose="02020603050405020304" pitchFamily="18" charset="0"/>
              <a:cs typeface="Times New Roman" panose="02020603050405020304" pitchFamily="18" charset="0"/>
            </a:endParaRPr>
          </a:p>
        </p:txBody>
      </p:sp>
      <p:sp>
        <p:nvSpPr>
          <p:cNvPr id="16" name="Shape 14"/>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Shape 15"/>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Text 16"/>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9" name="Text 17"/>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11</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7824" y="2432304"/>
            <a:ext cx="5074920" cy="2807208"/>
          </a:xfrm>
          <a:prstGeom prst="roundRect">
            <a:avLst>
              <a:gd name="adj" fmla="val 4560"/>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877824" y="2432304"/>
            <a:ext cx="64008" cy="2807208"/>
          </a:xfrm>
          <a:prstGeom prst="rect">
            <a:avLst/>
          </a:prstGeom>
          <a:solidFill>
            <a:srgbClr val="E8A23A"/>
          </a:solidFill>
          <a:ln w="12700">
            <a:solidFill>
              <a:srgbClr val="E8A23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1115568" y="2651760"/>
            <a:ext cx="4636008" cy="502920"/>
          </a:xfrm>
          <a:prstGeom prst="rect">
            <a:avLst/>
          </a:prstGeom>
          <a:noFill/>
          <a:ln/>
        </p:spPr>
        <p:txBody>
          <a:bodyPr wrap="square" lIns="0" tIns="0" rIns="0" bIns="0" rtlCol="0" anchor="ctr">
            <a:normAutofit/>
          </a:bodyPr>
          <a:lstStyle/>
          <a:p>
            <a:pPr marL="0" indent="0" algn="l">
              <a:buNone/>
            </a:pPr>
            <a:r>
              <a:rPr lang="en-US" sz="2400" b="1" dirty="0">
                <a:solidFill>
                  <a:srgbClr val="172B42"/>
                </a:solidFill>
                <a:latin typeface="Times New Roman" panose="02020603050405020304" pitchFamily="18" charset="0"/>
                <a:ea typeface="Inter" pitchFamily="34" charset="-122"/>
                <a:cs typeface="Times New Roman" panose="02020603050405020304" pitchFamily="18" charset="0"/>
              </a:rPr>
              <a:t>What decision is needed?</a:t>
            </a:r>
            <a:endParaRPr lang="en-US" sz="2400" dirty="0">
              <a:latin typeface="Times New Roman" panose="02020603050405020304" pitchFamily="18" charset="0"/>
              <a:cs typeface="Times New Roman" panose="02020603050405020304" pitchFamily="18" charset="0"/>
            </a:endParaRPr>
          </a:p>
        </p:txBody>
      </p:sp>
      <p:sp>
        <p:nvSpPr>
          <p:cNvPr id="5" name="Text 3"/>
          <p:cNvSpPr/>
          <p:nvPr/>
        </p:nvSpPr>
        <p:spPr>
          <a:xfrm>
            <a:off x="1115568" y="3227832"/>
            <a:ext cx="4572000" cy="1828800"/>
          </a:xfrm>
          <a:prstGeom prst="rect">
            <a:avLst/>
          </a:prstGeom>
          <a:noFill/>
          <a:ln/>
        </p:spPr>
        <p:txBody>
          <a:bodyPr wrap="square" lIns="0" tIns="0" rIns="0" bIns="0" rtlCol="0" anchor="t">
            <a:normAutofit/>
          </a:bodyPr>
          <a:lstStyle/>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Who needs the answer, by when, and what would “improvement” mean?</a:t>
            </a:r>
            <a:endParaRPr lang="en-US" sz="1800" dirty="0">
              <a:latin typeface="Times New Roman" panose="02020603050405020304" pitchFamily="18" charset="0"/>
              <a:cs typeface="Times New Roman" panose="02020603050405020304" pitchFamily="18" charset="0"/>
            </a:endParaRPr>
          </a:p>
        </p:txBody>
      </p:sp>
      <p:sp>
        <p:nvSpPr>
          <p:cNvPr id="6" name="Shape 4"/>
          <p:cNvSpPr/>
          <p:nvPr/>
        </p:nvSpPr>
        <p:spPr>
          <a:xfrm>
            <a:off x="6263640" y="2432304"/>
            <a:ext cx="5074920" cy="2807208"/>
          </a:xfrm>
          <a:prstGeom prst="roundRect">
            <a:avLst>
              <a:gd name="adj" fmla="val 4560"/>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6263640" y="2432304"/>
            <a:ext cx="64008" cy="2807208"/>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6501384" y="2651760"/>
            <a:ext cx="4636008" cy="502920"/>
          </a:xfrm>
          <a:prstGeom prst="rect">
            <a:avLst/>
          </a:prstGeom>
          <a:noFill/>
          <a:ln/>
        </p:spPr>
        <p:txBody>
          <a:bodyPr wrap="square" lIns="0" tIns="0" rIns="0" bIns="0" rtlCol="0" anchor="ctr">
            <a:normAutofit/>
          </a:bodyPr>
          <a:lstStyle/>
          <a:p>
            <a:pPr marL="0" indent="0" algn="l">
              <a:buNone/>
            </a:pPr>
            <a:r>
              <a:rPr lang="en-US" sz="2400" b="1" dirty="0">
                <a:solidFill>
                  <a:srgbClr val="172B42"/>
                </a:solidFill>
                <a:latin typeface="Times New Roman" panose="02020603050405020304" pitchFamily="18" charset="0"/>
                <a:ea typeface="Inter" pitchFamily="34" charset="-122"/>
                <a:cs typeface="Times New Roman" panose="02020603050405020304" pitchFamily="18" charset="0"/>
              </a:rPr>
              <a:t>Example deliverable</a:t>
            </a:r>
            <a:endParaRPr lang="en-US" sz="2400" dirty="0">
              <a:latin typeface="Times New Roman" panose="02020603050405020304" pitchFamily="18" charset="0"/>
              <a:cs typeface="Times New Roman" panose="02020603050405020304" pitchFamily="18" charset="0"/>
            </a:endParaRPr>
          </a:p>
        </p:txBody>
      </p:sp>
      <p:sp>
        <p:nvSpPr>
          <p:cNvPr id="9" name="Text 7"/>
          <p:cNvSpPr/>
          <p:nvPr/>
        </p:nvSpPr>
        <p:spPr>
          <a:xfrm>
            <a:off x="6501384" y="3227832"/>
            <a:ext cx="4572000" cy="1828800"/>
          </a:xfrm>
          <a:prstGeom prst="rect">
            <a:avLst/>
          </a:prstGeom>
          <a:noFill/>
          <a:ln/>
        </p:spPr>
        <p:txBody>
          <a:bodyPr wrap="square" lIns="0" tIns="0" rIns="0" bIns="0" rtlCol="0" anchor="t">
            <a:normAutofit/>
          </a:bodyPr>
          <a:lstStyle/>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Prioritized requirements, a KPI definition and acceptance criteria.</a:t>
            </a:r>
            <a:endParaRPr lang="en-US" sz="1800" dirty="0">
              <a:latin typeface="Times New Roman" panose="02020603050405020304" pitchFamily="18" charset="0"/>
              <a:cs typeface="Times New Roman" panose="02020603050405020304" pitchFamily="18" charset="0"/>
            </a:endParaRPr>
          </a:p>
        </p:txBody>
      </p:sp>
      <p:sp>
        <p:nvSpPr>
          <p:cNvPr id="10" name="Shape 8"/>
          <p:cNvSpPr/>
          <p:nvPr/>
        </p:nvSpPr>
        <p:spPr>
          <a:xfrm>
            <a:off x="621792" y="5650992"/>
            <a:ext cx="10948111" cy="493776"/>
          </a:xfrm>
          <a:prstGeom prst="roundRect">
            <a:avLst>
              <a:gd name="adj" fmla="val 22222"/>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Text 9"/>
          <p:cNvSpPr/>
          <p:nvPr/>
        </p:nvSpPr>
        <p:spPr>
          <a:xfrm>
            <a:off x="822960" y="5705856"/>
            <a:ext cx="1316736" cy="365760"/>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THE POINT</a:t>
            </a:r>
            <a:endParaRPr lang="en-US" sz="1030" dirty="0">
              <a:latin typeface="Times New Roman" panose="02020603050405020304" pitchFamily="18" charset="0"/>
              <a:cs typeface="Times New Roman" panose="02020603050405020304" pitchFamily="18" charset="0"/>
            </a:endParaRPr>
          </a:p>
        </p:txBody>
      </p:sp>
      <p:sp>
        <p:nvSpPr>
          <p:cNvPr id="12" name="Text 10"/>
          <p:cNvSpPr/>
          <p:nvPr/>
        </p:nvSpPr>
        <p:spPr>
          <a:xfrm>
            <a:off x="2221992" y="5705856"/>
            <a:ext cx="9101023" cy="365760"/>
          </a:xfrm>
          <a:prstGeom prst="rect">
            <a:avLst/>
          </a:prstGeom>
          <a:noFill/>
          <a:ln/>
        </p:spPr>
        <p:txBody>
          <a:bodyPr wrap="square" lIns="0" tIns="0" rIns="0" bIns="0" rtlCol="0" anchor="ctr">
            <a:normAutofit/>
          </a:bodyPr>
          <a:lstStyle/>
          <a:p>
            <a:pPr marL="0" indent="0" algn="l">
              <a:buNone/>
            </a:pPr>
            <a:r>
              <a:rPr lang="en-US" sz="1340" b="1" dirty="0">
                <a:solidFill>
                  <a:srgbClr val="172B42"/>
                </a:solidFill>
                <a:latin typeface="Times New Roman" panose="02020603050405020304" pitchFamily="18" charset="0"/>
                <a:ea typeface="Inter" pitchFamily="34" charset="-122"/>
                <a:cs typeface="Times New Roman" panose="02020603050405020304" pitchFamily="18" charset="0"/>
              </a:rPr>
              <a:t>Business analysis success = solving the right problem.</a:t>
            </a:r>
            <a:endParaRPr lang="en-US" sz="1340" dirty="0">
              <a:latin typeface="Times New Roman" panose="02020603050405020304" pitchFamily="18" charset="0"/>
              <a:cs typeface="Times New Roman" panose="02020603050405020304" pitchFamily="18" charset="0"/>
            </a:endParaRPr>
          </a:p>
        </p:txBody>
      </p:sp>
      <p:sp>
        <p:nvSpPr>
          <p:cNvPr id="13" name="Text 11"/>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What the business analyst asks</a:t>
            </a:r>
            <a:endParaRPr lang="en-US" sz="318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INDUSTRY ROLES &amp; CASES</a:t>
            </a:r>
            <a:endParaRPr lang="en-US" sz="1050" dirty="0">
              <a:latin typeface="Times New Roman" panose="02020603050405020304" pitchFamily="18" charset="0"/>
              <a:cs typeface="Times New Roman" panose="02020603050405020304" pitchFamily="18" charset="0"/>
            </a:endParaRPr>
          </a:p>
        </p:txBody>
      </p:sp>
      <p:sp>
        <p:nvSpPr>
          <p:cNvPr id="16" name="Shape 14"/>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Shape 15"/>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Text 16"/>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9" name="Text 17"/>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12</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 y="2331720"/>
            <a:ext cx="6784848" cy="3108960"/>
          </a:xfrm>
          <a:prstGeom prst="roundRect">
            <a:avLst>
              <a:gd name="adj" fmla="val 470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Text 1"/>
          <p:cNvSpPr/>
          <p:nvPr/>
        </p:nvSpPr>
        <p:spPr>
          <a:xfrm>
            <a:off x="1088136" y="2606040"/>
            <a:ext cx="1645920" cy="292608"/>
          </a:xfrm>
          <a:prstGeom prst="rect">
            <a:avLst/>
          </a:prstGeom>
          <a:noFill/>
          <a:ln/>
        </p:spPr>
        <p:txBody>
          <a:bodyPr wrap="square" lIns="0" tIns="0" rIns="0" bIns="0" rtlCol="0" anchor="ctr">
            <a:normAutofit/>
          </a:bodyPr>
          <a:lstStyle/>
          <a:p>
            <a:pPr marL="0" indent="0" algn="l">
              <a:buNone/>
            </a:pPr>
            <a:r>
              <a:rPr lang="en-US" sz="1200" b="1" dirty="0">
                <a:solidFill>
                  <a:srgbClr val="087B75"/>
                </a:solidFill>
                <a:latin typeface="Times New Roman" panose="02020603050405020304" pitchFamily="18" charset="0"/>
                <a:ea typeface="Inter" pitchFamily="34" charset="-122"/>
                <a:cs typeface="Times New Roman" panose="02020603050405020304" pitchFamily="18" charset="0"/>
              </a:rPr>
              <a:t>TASK</a:t>
            </a:r>
            <a:endParaRPr lang="en-US" sz="1200" dirty="0">
              <a:latin typeface="Times New Roman" panose="02020603050405020304" pitchFamily="18" charset="0"/>
              <a:cs typeface="Times New Roman" panose="02020603050405020304" pitchFamily="18" charset="0"/>
            </a:endParaRPr>
          </a:p>
        </p:txBody>
      </p:sp>
      <p:sp>
        <p:nvSpPr>
          <p:cNvPr id="4" name="Shape 2"/>
          <p:cNvSpPr/>
          <p:nvPr/>
        </p:nvSpPr>
        <p:spPr>
          <a:xfrm>
            <a:off x="1078992" y="3154680"/>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5" name="Text 3"/>
          <p:cNvSpPr/>
          <p:nvPr/>
        </p:nvSpPr>
        <p:spPr>
          <a:xfrm>
            <a:off x="1325880" y="3017520"/>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Appointments contain duplicate rows.</a:t>
            </a:r>
            <a:endParaRPr lang="en-US" sz="1900" dirty="0">
              <a:latin typeface="Times New Roman" panose="02020603050405020304" pitchFamily="18" charset="0"/>
              <a:cs typeface="Times New Roman" panose="02020603050405020304" pitchFamily="18" charset="0"/>
            </a:endParaRPr>
          </a:p>
        </p:txBody>
      </p:sp>
      <p:sp>
        <p:nvSpPr>
          <p:cNvPr id="6" name="Shape 4"/>
          <p:cNvSpPr/>
          <p:nvPr/>
        </p:nvSpPr>
        <p:spPr>
          <a:xfrm>
            <a:off x="1078992" y="3776472"/>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Text 5"/>
          <p:cNvSpPr/>
          <p:nvPr/>
        </p:nvSpPr>
        <p:spPr>
          <a:xfrm>
            <a:off x="1325880" y="3639312"/>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The dashboard shows an unexplained cancellation spike.</a:t>
            </a:r>
            <a:endParaRPr lang="en-US" sz="1900" dirty="0">
              <a:latin typeface="Times New Roman" panose="02020603050405020304" pitchFamily="18" charset="0"/>
              <a:cs typeface="Times New Roman" panose="02020603050405020304" pitchFamily="18" charset="0"/>
            </a:endParaRPr>
          </a:p>
        </p:txBody>
      </p:sp>
      <p:sp>
        <p:nvSpPr>
          <p:cNvPr id="8" name="Shape 6"/>
          <p:cNvSpPr/>
          <p:nvPr/>
        </p:nvSpPr>
        <p:spPr>
          <a:xfrm>
            <a:off x="1078992" y="4398264"/>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1325880" y="4261104"/>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Two managers disagree on what “cancelled” means.</a:t>
            </a:r>
            <a:endParaRPr lang="en-US" sz="1900" dirty="0">
              <a:latin typeface="Times New Roman" panose="02020603050405020304" pitchFamily="18" charset="0"/>
              <a:cs typeface="Times New Roman" panose="02020603050405020304" pitchFamily="18" charset="0"/>
            </a:endParaRPr>
          </a:p>
        </p:txBody>
      </p:sp>
      <p:sp>
        <p:nvSpPr>
          <p:cNvPr id="10" name="Shape 8"/>
          <p:cNvSpPr/>
          <p:nvPr/>
        </p:nvSpPr>
        <p:spPr>
          <a:xfrm>
            <a:off x="7918704" y="2331720"/>
            <a:ext cx="3383280" cy="3108960"/>
          </a:xfrm>
          <a:prstGeom prst="roundRect">
            <a:avLst>
              <a:gd name="adj" fmla="val 4412"/>
            </a:avLst>
          </a:prstGeom>
          <a:solidFill>
            <a:srgbClr val="EAF2F7"/>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Text 9"/>
          <p:cNvSpPr/>
          <p:nvPr/>
        </p:nvSpPr>
        <p:spPr>
          <a:xfrm>
            <a:off x="8193024" y="2651760"/>
            <a:ext cx="2761488" cy="301752"/>
          </a:xfrm>
          <a:prstGeom prst="rect">
            <a:avLst/>
          </a:prstGeom>
          <a:noFill/>
          <a:ln/>
        </p:spPr>
        <p:txBody>
          <a:bodyPr wrap="square" lIns="0" tIns="0" rIns="0" bIns="0" rtlCol="0" anchor="ctr">
            <a:normAutofit/>
          </a:bodyPr>
          <a:lstStyle/>
          <a:p>
            <a:pPr marL="0" indent="0" algn="l">
              <a:buNone/>
            </a:pPr>
            <a:r>
              <a:rPr lang="en-US" sz="1300" b="1" dirty="0">
                <a:solidFill>
                  <a:srgbClr val="087B75"/>
                </a:solidFill>
                <a:latin typeface="Times New Roman" panose="02020603050405020304" pitchFamily="18" charset="0"/>
                <a:ea typeface="Inter" pitchFamily="34" charset="-122"/>
                <a:cs typeface="Times New Roman" panose="02020603050405020304" pitchFamily="18" charset="0"/>
              </a:rPr>
              <a:t>VOTE</a:t>
            </a:r>
            <a:endParaRPr lang="en-US" sz="1300" dirty="0">
              <a:latin typeface="Times New Roman" panose="02020603050405020304" pitchFamily="18" charset="0"/>
              <a:cs typeface="Times New Roman" panose="02020603050405020304" pitchFamily="18" charset="0"/>
            </a:endParaRPr>
          </a:p>
        </p:txBody>
      </p:sp>
      <p:sp>
        <p:nvSpPr>
          <p:cNvPr id="12" name="Text 10"/>
          <p:cNvSpPr/>
          <p:nvPr/>
        </p:nvSpPr>
        <p:spPr>
          <a:xfrm>
            <a:off x="8193024" y="3191256"/>
            <a:ext cx="2743200" cy="1755648"/>
          </a:xfrm>
          <a:prstGeom prst="rect">
            <a:avLst/>
          </a:prstGeom>
          <a:noFill/>
          <a:ln/>
        </p:spPr>
        <p:txBody>
          <a:bodyPr wrap="square" lIns="0" tIns="0" rIns="0" bIns="0" rtlCol="0" anchor="t">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Engineer? Analyst? BA?</a:t>
            </a:r>
            <a:endParaRPr lang="en-US" sz="1900" dirty="0">
              <a:latin typeface="Times New Roman" panose="02020603050405020304" pitchFamily="18" charset="0"/>
              <a:cs typeface="Times New Roman" panose="02020603050405020304" pitchFamily="18" charset="0"/>
            </a:endParaRPr>
          </a:p>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Sometimes more than one role.</a:t>
            </a:r>
            <a:endParaRPr lang="en-US" sz="1900" dirty="0">
              <a:latin typeface="Times New Roman" panose="02020603050405020304" pitchFamily="18" charset="0"/>
              <a:cs typeface="Times New Roman" panose="02020603050405020304" pitchFamily="18" charset="0"/>
            </a:endParaRPr>
          </a:p>
        </p:txBody>
      </p:sp>
      <p:sp>
        <p:nvSpPr>
          <p:cNvPr id="13" name="Text 11"/>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Quick quiz: whose first move?</a:t>
            </a:r>
            <a:endParaRPr lang="en-US" sz="318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INDUSTRY ROLES &amp; CASES</a:t>
            </a:r>
            <a:endParaRPr lang="en-US" sz="1050" dirty="0">
              <a:latin typeface="Times New Roman" panose="02020603050405020304" pitchFamily="18" charset="0"/>
              <a:cs typeface="Times New Roman" panose="02020603050405020304" pitchFamily="18" charset="0"/>
            </a:endParaRPr>
          </a:p>
        </p:txBody>
      </p:sp>
      <p:sp>
        <p:nvSpPr>
          <p:cNvPr id="16" name="Shape 14"/>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Shape 15"/>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Text 16"/>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9" name="Text 17"/>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13</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60120" y="1051560"/>
            <a:ext cx="2743200" cy="813816"/>
          </a:xfrm>
          <a:prstGeom prst="rect">
            <a:avLst/>
          </a:prstGeom>
          <a:noFill/>
          <a:ln/>
        </p:spPr>
        <p:txBody>
          <a:bodyPr wrap="square" lIns="0" tIns="0" rIns="0" bIns="0" rtlCol="0" anchor="ctr">
            <a:normAutofit fontScale="92500" lnSpcReduction="20000"/>
          </a:bodyPr>
          <a:lstStyle/>
          <a:p>
            <a:pPr marL="0" indent="0" algn="l">
              <a:buNone/>
            </a:pPr>
            <a:r>
              <a:rPr lang="en-US" sz="7100" b="1" dirty="0">
                <a:solidFill>
                  <a:srgbClr val="172B42"/>
                </a:solidFill>
                <a:latin typeface="Times New Roman" panose="02020603050405020304" pitchFamily="18" charset="0"/>
                <a:ea typeface="Inter" pitchFamily="34" charset="-122"/>
                <a:cs typeface="Times New Roman" panose="02020603050405020304" pitchFamily="18" charset="0"/>
              </a:rPr>
              <a:t>02</a:t>
            </a:r>
            <a:endParaRPr lang="en-US" sz="7100" dirty="0">
              <a:latin typeface="Times New Roman" panose="02020603050405020304" pitchFamily="18" charset="0"/>
              <a:cs typeface="Times New Roman" panose="02020603050405020304" pitchFamily="18" charset="0"/>
            </a:endParaRPr>
          </a:p>
        </p:txBody>
      </p:sp>
      <p:sp>
        <p:nvSpPr>
          <p:cNvPr id="3" name="Text 1"/>
          <p:cNvSpPr/>
          <p:nvPr/>
        </p:nvSpPr>
        <p:spPr>
          <a:xfrm>
            <a:off x="960120" y="2231136"/>
            <a:ext cx="10378440" cy="914400"/>
          </a:xfrm>
          <a:prstGeom prst="rect">
            <a:avLst/>
          </a:prstGeom>
          <a:noFill/>
          <a:ln/>
        </p:spPr>
        <p:txBody>
          <a:bodyPr wrap="square" lIns="0" tIns="0" rIns="0" bIns="0" rtlCol="0" anchor="ctr">
            <a:normAutofit/>
          </a:bodyPr>
          <a:lstStyle/>
          <a:p>
            <a:pPr marL="0" indent="0" algn="l">
              <a:buNone/>
            </a:pPr>
            <a:r>
              <a:rPr lang="en-US" sz="4400" b="1" dirty="0">
                <a:solidFill>
                  <a:srgbClr val="172B42"/>
                </a:solidFill>
                <a:latin typeface="Times New Roman" panose="02020603050405020304" pitchFamily="18" charset="0"/>
                <a:ea typeface="Inter" pitchFamily="34" charset="-122"/>
                <a:cs typeface="Times New Roman" panose="02020603050405020304" pitchFamily="18" charset="0"/>
              </a:rPr>
              <a:t>The journey of one record</a:t>
            </a:r>
            <a:endParaRPr lang="en-US" sz="4400" dirty="0">
              <a:latin typeface="Times New Roman" panose="02020603050405020304" pitchFamily="18" charset="0"/>
              <a:cs typeface="Times New Roman" panose="02020603050405020304" pitchFamily="18" charset="0"/>
            </a:endParaRPr>
          </a:p>
        </p:txBody>
      </p:sp>
      <p:sp>
        <p:nvSpPr>
          <p:cNvPr id="4" name="Text 2"/>
          <p:cNvSpPr/>
          <p:nvPr/>
        </p:nvSpPr>
        <p:spPr>
          <a:xfrm>
            <a:off x="996696" y="3429000"/>
            <a:ext cx="9829800" cy="914400"/>
          </a:xfrm>
          <a:prstGeom prst="rect">
            <a:avLst/>
          </a:prstGeom>
          <a:noFill/>
          <a:ln/>
        </p:spPr>
        <p:txBody>
          <a:bodyPr wrap="square" lIns="0" tIns="0" rIns="0" bIns="0" rtlCol="0" anchor="ctr">
            <a:normAutofit/>
          </a:bodyPr>
          <a:lstStyle/>
          <a:p>
            <a:pPr marL="0" indent="0" algn="l">
              <a:buNone/>
            </a:pPr>
            <a:r>
              <a:rPr lang="en-US" sz="2100" dirty="0">
                <a:solidFill>
                  <a:srgbClr val="5C6D80"/>
                </a:solidFill>
                <a:latin typeface="Times New Roman" panose="02020603050405020304" pitchFamily="18" charset="0"/>
                <a:ea typeface="Inter" pitchFamily="34" charset="-122"/>
                <a:cs typeface="Times New Roman" panose="02020603050405020304" pitchFamily="18" charset="0"/>
              </a:rPr>
              <a:t>From an appointment created at reception to a decision in a meeting.</a:t>
            </a:r>
            <a:endParaRPr lang="en-US" sz="2100" dirty="0">
              <a:latin typeface="Times New Roman" panose="02020603050405020304" pitchFamily="18" charset="0"/>
              <a:cs typeface="Times New Roman" panose="02020603050405020304" pitchFamily="18" charset="0"/>
            </a:endParaRPr>
          </a:p>
        </p:txBody>
      </p:sp>
      <p:sp>
        <p:nvSpPr>
          <p:cNvPr id="5" name="Shape 3"/>
          <p:cNvSpPr/>
          <p:nvPr/>
        </p:nvSpPr>
        <p:spPr>
          <a:xfrm>
            <a:off x="978408" y="4718304"/>
            <a:ext cx="1106424" cy="91440"/>
          </a:xfrm>
          <a:prstGeom prst="roundRect">
            <a:avLst>
              <a:gd name="adj" fmla="val 40000"/>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6" name="Text 4"/>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DATA LIFECYCLE</a:t>
            </a:r>
            <a:endParaRPr lang="en-US" sz="1050" dirty="0">
              <a:latin typeface="Times New Roman" panose="02020603050405020304" pitchFamily="18" charset="0"/>
              <a:cs typeface="Times New Roman" panose="02020603050405020304" pitchFamily="18" charset="0"/>
            </a:endParaRPr>
          </a:p>
        </p:txBody>
      </p:sp>
      <p:sp>
        <p:nvSpPr>
          <p:cNvPr id="8" name="Shape 6"/>
          <p:cNvSpPr/>
          <p:nvPr/>
        </p:nvSpPr>
        <p:spPr>
          <a:xfrm>
            <a:off x="621792" y="658368"/>
            <a:ext cx="10948111" cy="0"/>
          </a:xfrm>
          <a:prstGeom prst="line">
            <a:avLst/>
          </a:prstGeom>
          <a:noFill/>
          <a:ln w="15240">
            <a:solidFill>
              <a:srgbClr val="34506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Shape 7"/>
          <p:cNvSpPr/>
          <p:nvPr/>
        </p:nvSpPr>
        <p:spPr>
          <a:xfrm>
            <a:off x="621792" y="6455664"/>
            <a:ext cx="10948111" cy="0"/>
          </a:xfrm>
          <a:prstGeom prst="line">
            <a:avLst/>
          </a:prstGeom>
          <a:noFill/>
          <a:ln w="12700">
            <a:solidFill>
              <a:srgbClr val="34506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0" name="Text 8"/>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1" name="Text 9"/>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14</a:t>
            </a:r>
            <a:endParaRPr lang="en-US" sz="900" dirty="0">
              <a:latin typeface="Times New Roman" panose="02020603050405020304" pitchFamily="18" charset="0"/>
              <a:cs typeface="Times New Roman" panose="02020603050405020304" pitchFamily="18" charset="0"/>
            </a:endParaRPr>
          </a:p>
        </p:txBody>
      </p:sp>
      <p:sp>
        <p:nvSpPr>
          <p:cNvPr id="12" name="Section underline"/>
          <p:cNvSpPr/>
          <p:nvPr/>
        </p:nvSpPr>
        <p:spPr>
          <a:xfrm>
            <a:off x="987552" y="4846320"/>
            <a:ext cx="1005840" cy="32004"/>
          </a:xfrm>
          <a:prstGeom prst="rect">
            <a:avLst/>
          </a:prstGeom>
          <a:solidFill>
            <a:srgbClr val="10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621792" y="2487168"/>
            <a:ext cx="64008" cy="2834640"/>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859536"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Structured</a:t>
            </a:r>
            <a:endParaRPr lang="en-US" sz="1900" dirty="0">
              <a:latin typeface="Times New Roman" panose="02020603050405020304" pitchFamily="18" charset="0"/>
              <a:cs typeface="Times New Roman" panose="02020603050405020304" pitchFamily="18" charset="0"/>
            </a:endParaRPr>
          </a:p>
        </p:txBody>
      </p:sp>
      <p:sp>
        <p:nvSpPr>
          <p:cNvPr id="5" name="Text 3"/>
          <p:cNvSpPr/>
          <p:nvPr/>
        </p:nvSpPr>
        <p:spPr>
          <a:xfrm>
            <a:off x="859536"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Rows and columns: patient_id, doctor_id and appointment_date.</a:t>
            </a:r>
            <a:endParaRPr lang="en-US" sz="1510" dirty="0">
              <a:latin typeface="Times New Roman" panose="02020603050405020304" pitchFamily="18" charset="0"/>
              <a:cs typeface="Times New Roman" panose="02020603050405020304" pitchFamily="18" charset="0"/>
            </a:endParaRPr>
          </a:p>
        </p:txBody>
      </p:sp>
      <p:sp>
        <p:nvSpPr>
          <p:cNvPr id="6" name="Shape 4"/>
          <p:cNvSpPr/>
          <p:nvPr/>
        </p:nvSpPr>
        <p:spPr>
          <a:xfrm>
            <a:off x="4335170"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4335170" y="2487168"/>
            <a:ext cx="64008" cy="2834640"/>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4572914"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Semi-structured</a:t>
            </a:r>
            <a:endParaRPr lang="en-US" sz="1900" dirty="0">
              <a:latin typeface="Times New Roman" panose="02020603050405020304" pitchFamily="18" charset="0"/>
              <a:cs typeface="Times New Roman" panose="02020603050405020304" pitchFamily="18" charset="0"/>
            </a:endParaRPr>
          </a:p>
        </p:txBody>
      </p:sp>
      <p:sp>
        <p:nvSpPr>
          <p:cNvPr id="9" name="Text 7"/>
          <p:cNvSpPr/>
          <p:nvPr/>
        </p:nvSpPr>
        <p:spPr>
          <a:xfrm>
            <a:off x="4572914"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JSON events from a scheduling app or API.</a:t>
            </a:r>
            <a:endParaRPr lang="en-US" sz="1510" dirty="0">
              <a:latin typeface="Times New Roman" panose="02020603050405020304" pitchFamily="18" charset="0"/>
              <a:cs typeface="Times New Roman" panose="02020603050405020304" pitchFamily="18" charset="0"/>
            </a:endParaRPr>
          </a:p>
        </p:txBody>
      </p:sp>
      <p:sp>
        <p:nvSpPr>
          <p:cNvPr id="10" name="Shape 8"/>
          <p:cNvSpPr/>
          <p:nvPr/>
        </p:nvSpPr>
        <p:spPr>
          <a:xfrm>
            <a:off x="8048549"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Shape 9"/>
          <p:cNvSpPr/>
          <p:nvPr/>
        </p:nvSpPr>
        <p:spPr>
          <a:xfrm>
            <a:off x="8048549" y="2487168"/>
            <a:ext cx="64008" cy="2834640"/>
          </a:xfrm>
          <a:prstGeom prst="rect">
            <a:avLst/>
          </a:prstGeom>
          <a:solidFill>
            <a:srgbClr val="8052D8"/>
          </a:solidFill>
          <a:ln w="12700">
            <a:solidFill>
              <a:srgbClr val="8052D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Text 10"/>
          <p:cNvSpPr/>
          <p:nvPr/>
        </p:nvSpPr>
        <p:spPr>
          <a:xfrm>
            <a:off x="8286293"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Unstructured</a:t>
            </a:r>
            <a:endParaRPr lang="en-US" sz="1900" dirty="0">
              <a:latin typeface="Times New Roman" panose="02020603050405020304" pitchFamily="18" charset="0"/>
              <a:cs typeface="Times New Roman" panose="02020603050405020304" pitchFamily="18" charset="0"/>
            </a:endParaRPr>
          </a:p>
        </p:txBody>
      </p:sp>
      <p:sp>
        <p:nvSpPr>
          <p:cNvPr id="13" name="Text 11"/>
          <p:cNvSpPr/>
          <p:nvPr/>
        </p:nvSpPr>
        <p:spPr>
          <a:xfrm>
            <a:off x="8286293"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Call transcripts, feedback messages and scanned forms.</a:t>
            </a:r>
            <a:endParaRPr lang="en-US" sz="151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What does data look like?</a:t>
            </a:r>
            <a:endParaRPr lang="en-US" sz="3180" dirty="0">
              <a:latin typeface="Times New Roman" panose="02020603050405020304" pitchFamily="18" charset="0"/>
              <a:cs typeface="Times New Roman" panose="02020603050405020304" pitchFamily="18" charset="0"/>
            </a:endParaRPr>
          </a:p>
        </p:txBody>
      </p:sp>
      <p:sp>
        <p:nvSpPr>
          <p:cNvPr id="15" name="Text 13"/>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DATA LIFECYCLE</a:t>
            </a:r>
            <a:endParaRPr lang="en-US" sz="1050" dirty="0">
              <a:latin typeface="Times New Roman" panose="02020603050405020304" pitchFamily="18" charset="0"/>
              <a:cs typeface="Times New Roman" panose="02020603050405020304" pitchFamily="18" charset="0"/>
            </a:endParaRPr>
          </a:p>
        </p:txBody>
      </p:sp>
      <p:sp>
        <p:nvSpPr>
          <p:cNvPr id="17" name="Shape 15"/>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Shape 16"/>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9" name="Text 17"/>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20" name="Text 18"/>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15</a:t>
            </a:r>
            <a:endParaRPr lang="en-US" sz="900" dirty="0">
              <a:latin typeface="Times New Roman" panose="02020603050405020304" pitchFamily="18" charset="0"/>
              <a:cs typeface="Times New Roman" panose="02020603050405020304" pitchFamily="18" charset="0"/>
            </a:endParaRPr>
          </a:p>
        </p:txBody>
      </p:sp>
      <p:sp>
        <p:nvSpPr>
          <p:cNvPr id="21" name="IMAGE PLACEHOLDER | CSV / Excel table example"/>
          <p:cNvSpPr/>
          <p:nvPr/>
        </p:nvSpPr>
        <p:spPr>
          <a:xfrm>
            <a:off x="868680" y="4288536"/>
            <a:ext cx="2944368" cy="832104"/>
          </a:xfrm>
          <a:prstGeom prst="roundRect">
            <a:avLst>
              <a:gd name="adj" fmla="val 10000"/>
            </a:avLst>
          </a:prstGeom>
          <a:solidFill>
            <a:srgbClr val="F1F7FA"/>
          </a:solidFill>
          <a:ln w="14604">
            <a:solidFill>
              <a:srgbClr val="98B2C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2" name="Rectangle 21"/>
          <p:cNvSpPr/>
          <p:nvPr/>
        </p:nvSpPr>
        <p:spPr>
          <a:xfrm>
            <a:off x="978407" y="4562856"/>
            <a:ext cx="347472" cy="265176"/>
          </a:xfrm>
          <a:prstGeom prst="rect">
            <a:avLst/>
          </a:prstGeom>
          <a:noFill/>
          <a:ln w="14604">
            <a:solidFill>
              <a:srgbClr val="7D9E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 name="Oval 22"/>
          <p:cNvSpPr/>
          <p:nvPr/>
        </p:nvSpPr>
        <p:spPr>
          <a:xfrm>
            <a:off x="1193840" y="4613148"/>
            <a:ext cx="68580" cy="68580"/>
          </a:xfrm>
          <a:prstGeom prst="ellipse">
            <a:avLst/>
          </a:prstGeom>
          <a:solidFill>
            <a:srgbClr val="7D9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4" name="PLACEHOLDER LABEL | CSV / Excel table example"/>
          <p:cNvSpPr txBox="1"/>
          <p:nvPr/>
        </p:nvSpPr>
        <p:spPr>
          <a:xfrm>
            <a:off x="1389888" y="4590621"/>
            <a:ext cx="2331720" cy="246221"/>
          </a:xfrm>
          <a:prstGeom prst="rect">
            <a:avLst/>
          </a:prstGeom>
          <a:noFill/>
        </p:spPr>
        <p:txBody>
          <a:bodyPr wrap="square" anchor="ctr">
            <a:spAutoFit/>
          </a:bodyPr>
          <a:lstStyle/>
          <a:p>
            <a:pPr algn="l"/>
            <a:r>
              <a:rPr sz="1000" b="1">
                <a:solidFill>
                  <a:srgbClr val="4F7183"/>
                </a:solidFill>
                <a:latin typeface="Times New Roman" panose="02020603050405020304" pitchFamily="18" charset="0"/>
                <a:cs typeface="Times New Roman" panose="02020603050405020304" pitchFamily="18" charset="0"/>
              </a:rPr>
              <a:t>CSV / Excel table example</a:t>
            </a:r>
          </a:p>
        </p:txBody>
      </p:sp>
      <p:sp>
        <p:nvSpPr>
          <p:cNvPr id="25" name="IMAGE PLACEHOLDER | JSON sample screenshot"/>
          <p:cNvSpPr/>
          <p:nvPr/>
        </p:nvSpPr>
        <p:spPr>
          <a:xfrm>
            <a:off x="4581144" y="4288536"/>
            <a:ext cx="2944368" cy="832104"/>
          </a:xfrm>
          <a:prstGeom prst="roundRect">
            <a:avLst>
              <a:gd name="adj" fmla="val 10000"/>
            </a:avLst>
          </a:prstGeom>
          <a:solidFill>
            <a:srgbClr val="F1F7FA"/>
          </a:solidFill>
          <a:ln w="14604">
            <a:solidFill>
              <a:srgbClr val="98B2C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6" name="Rectangle 25"/>
          <p:cNvSpPr/>
          <p:nvPr/>
        </p:nvSpPr>
        <p:spPr>
          <a:xfrm>
            <a:off x="4690872" y="4562856"/>
            <a:ext cx="347472" cy="265176"/>
          </a:xfrm>
          <a:prstGeom prst="rect">
            <a:avLst/>
          </a:prstGeom>
          <a:noFill/>
          <a:ln w="14604">
            <a:solidFill>
              <a:srgbClr val="7D9E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7" name="Oval 26"/>
          <p:cNvSpPr/>
          <p:nvPr/>
        </p:nvSpPr>
        <p:spPr>
          <a:xfrm>
            <a:off x="4906304" y="4613148"/>
            <a:ext cx="68580" cy="68580"/>
          </a:xfrm>
          <a:prstGeom prst="ellipse">
            <a:avLst/>
          </a:prstGeom>
          <a:solidFill>
            <a:srgbClr val="7D9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8" name="PLACEHOLDER LABEL | JSON sample screenshot"/>
          <p:cNvSpPr txBox="1"/>
          <p:nvPr/>
        </p:nvSpPr>
        <p:spPr>
          <a:xfrm>
            <a:off x="5102352" y="4590621"/>
            <a:ext cx="2331720" cy="246221"/>
          </a:xfrm>
          <a:prstGeom prst="rect">
            <a:avLst/>
          </a:prstGeom>
          <a:noFill/>
        </p:spPr>
        <p:txBody>
          <a:bodyPr wrap="square" anchor="ctr">
            <a:spAutoFit/>
          </a:bodyPr>
          <a:lstStyle/>
          <a:p>
            <a:pPr algn="l"/>
            <a:r>
              <a:rPr sz="1000" b="1">
                <a:solidFill>
                  <a:srgbClr val="4F7183"/>
                </a:solidFill>
                <a:latin typeface="Times New Roman" panose="02020603050405020304" pitchFamily="18" charset="0"/>
                <a:cs typeface="Times New Roman" panose="02020603050405020304" pitchFamily="18" charset="0"/>
              </a:rPr>
              <a:t>JSON sample screenshot</a:t>
            </a:r>
          </a:p>
        </p:txBody>
      </p:sp>
      <p:sp>
        <p:nvSpPr>
          <p:cNvPr id="29" name="IMAGE PLACEHOLDER | Document or message example"/>
          <p:cNvSpPr/>
          <p:nvPr/>
        </p:nvSpPr>
        <p:spPr>
          <a:xfrm>
            <a:off x="8293608" y="4288536"/>
            <a:ext cx="2944368" cy="832104"/>
          </a:xfrm>
          <a:prstGeom prst="roundRect">
            <a:avLst>
              <a:gd name="adj" fmla="val 10000"/>
            </a:avLst>
          </a:prstGeom>
          <a:solidFill>
            <a:srgbClr val="F1F7FA"/>
          </a:solidFill>
          <a:ln w="14604">
            <a:solidFill>
              <a:srgbClr val="98B2C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0" name="Rectangle 29"/>
          <p:cNvSpPr/>
          <p:nvPr/>
        </p:nvSpPr>
        <p:spPr>
          <a:xfrm>
            <a:off x="8403336" y="4562856"/>
            <a:ext cx="347472" cy="265176"/>
          </a:xfrm>
          <a:prstGeom prst="rect">
            <a:avLst/>
          </a:prstGeom>
          <a:noFill/>
          <a:ln w="14604">
            <a:solidFill>
              <a:srgbClr val="7D9E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1" name="Oval 30"/>
          <p:cNvSpPr/>
          <p:nvPr/>
        </p:nvSpPr>
        <p:spPr>
          <a:xfrm>
            <a:off x="8618768" y="4613148"/>
            <a:ext cx="68580" cy="68580"/>
          </a:xfrm>
          <a:prstGeom prst="ellipse">
            <a:avLst/>
          </a:prstGeom>
          <a:solidFill>
            <a:srgbClr val="7D9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2" name="PLACEHOLDER LABEL | Document or message example"/>
          <p:cNvSpPr txBox="1"/>
          <p:nvPr/>
        </p:nvSpPr>
        <p:spPr>
          <a:xfrm>
            <a:off x="8814816" y="4590621"/>
            <a:ext cx="2331720" cy="246221"/>
          </a:xfrm>
          <a:prstGeom prst="rect">
            <a:avLst/>
          </a:prstGeom>
          <a:noFill/>
        </p:spPr>
        <p:txBody>
          <a:bodyPr wrap="square" anchor="ctr">
            <a:spAutoFit/>
          </a:bodyPr>
          <a:lstStyle/>
          <a:p>
            <a:pPr algn="l"/>
            <a:r>
              <a:rPr sz="1000" b="1">
                <a:solidFill>
                  <a:srgbClr val="4F7183"/>
                </a:solidFill>
                <a:latin typeface="Times New Roman" panose="02020603050405020304" pitchFamily="18" charset="0"/>
                <a:cs typeface="Times New Roman" panose="02020603050405020304" pitchFamily="18" charset="0"/>
              </a:rPr>
              <a:t>Document or message example</a:t>
            </a:r>
          </a:p>
        </p:txBody>
      </p:sp>
      <p:pic>
        <p:nvPicPr>
          <p:cNvPr id="39" name="Picture 38">
            <a:extLst>
              <a:ext uri="{FF2B5EF4-FFF2-40B4-BE49-F238E27FC236}">
                <a16:creationId xmlns:a16="http://schemas.microsoft.com/office/drawing/2014/main" id="{1A1993D2-3BF9-1C74-FD76-A413E1CCBF9D}"/>
              </a:ext>
            </a:extLst>
          </p:cNvPr>
          <p:cNvPicPr>
            <a:picLocks noChangeAspect="1"/>
          </p:cNvPicPr>
          <p:nvPr/>
        </p:nvPicPr>
        <p:blipFill>
          <a:blip r:embed="rId3"/>
          <a:stretch>
            <a:fillRect/>
          </a:stretch>
        </p:blipFill>
        <p:spPr>
          <a:xfrm>
            <a:off x="812734" y="4147842"/>
            <a:ext cx="3116845" cy="995659"/>
          </a:xfrm>
          <a:prstGeom prst="rect">
            <a:avLst/>
          </a:prstGeom>
        </p:spPr>
      </p:pic>
      <p:pic>
        <p:nvPicPr>
          <p:cNvPr id="41" name="Picture 40">
            <a:extLst>
              <a:ext uri="{FF2B5EF4-FFF2-40B4-BE49-F238E27FC236}">
                <a16:creationId xmlns:a16="http://schemas.microsoft.com/office/drawing/2014/main" id="{B569A504-1BF6-1F72-D7B0-070700DD7BAC}"/>
              </a:ext>
            </a:extLst>
          </p:cNvPr>
          <p:cNvPicPr>
            <a:picLocks noChangeAspect="1"/>
          </p:cNvPicPr>
          <p:nvPr/>
        </p:nvPicPr>
        <p:blipFill>
          <a:blip r:embed="rId4"/>
          <a:stretch>
            <a:fillRect/>
          </a:stretch>
        </p:blipFill>
        <p:spPr>
          <a:xfrm>
            <a:off x="4528855" y="4091939"/>
            <a:ext cx="3277534" cy="1046990"/>
          </a:xfrm>
          <a:prstGeom prst="rect">
            <a:avLst/>
          </a:prstGeom>
        </p:spPr>
      </p:pic>
      <p:pic>
        <p:nvPicPr>
          <p:cNvPr id="43" name="Picture 42">
            <a:extLst>
              <a:ext uri="{FF2B5EF4-FFF2-40B4-BE49-F238E27FC236}">
                <a16:creationId xmlns:a16="http://schemas.microsoft.com/office/drawing/2014/main" id="{92A0A44D-A335-7736-478F-884C91A42C5C}"/>
              </a:ext>
            </a:extLst>
          </p:cNvPr>
          <p:cNvPicPr>
            <a:picLocks noChangeAspect="1"/>
          </p:cNvPicPr>
          <p:nvPr/>
        </p:nvPicPr>
        <p:blipFill>
          <a:blip r:embed="rId5"/>
          <a:stretch>
            <a:fillRect/>
          </a:stretch>
        </p:blipFill>
        <p:spPr>
          <a:xfrm>
            <a:off x="8216467" y="4123112"/>
            <a:ext cx="3304656" cy="105565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2633472"/>
            <a:ext cx="2586152"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621792" y="2633472"/>
            <a:ext cx="2586152" cy="73152"/>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813816" y="2871216"/>
            <a:ext cx="2202104"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Capture</a:t>
            </a:r>
            <a:endParaRPr lang="en-US" sz="2000" dirty="0">
              <a:latin typeface="Times New Roman" panose="02020603050405020304" pitchFamily="18" charset="0"/>
              <a:cs typeface="Times New Roman" panose="02020603050405020304" pitchFamily="18" charset="0"/>
            </a:endParaRPr>
          </a:p>
        </p:txBody>
      </p:sp>
      <p:sp>
        <p:nvSpPr>
          <p:cNvPr id="5" name="Text 3"/>
          <p:cNvSpPr/>
          <p:nvPr/>
        </p:nvSpPr>
        <p:spPr>
          <a:xfrm>
            <a:off x="813816" y="3401568"/>
            <a:ext cx="2202104"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Appointment booked</a:t>
            </a:r>
            <a:endParaRPr lang="en-US" sz="1430" dirty="0">
              <a:latin typeface="Times New Roman" panose="02020603050405020304" pitchFamily="18" charset="0"/>
              <a:cs typeface="Times New Roman" panose="02020603050405020304" pitchFamily="18" charset="0"/>
            </a:endParaRPr>
          </a:p>
        </p:txBody>
      </p:sp>
      <p:sp>
        <p:nvSpPr>
          <p:cNvPr id="6" name="Shape 4"/>
          <p:cNvSpPr/>
          <p:nvPr/>
        </p:nvSpPr>
        <p:spPr>
          <a:xfrm>
            <a:off x="3223489" y="3566160"/>
            <a:ext cx="164592" cy="301752"/>
          </a:xfrm>
          <a:prstGeom prst="chevron">
            <a:avLst/>
          </a:prstGeom>
          <a:solidFill>
            <a:srgbClr val="B5C2D0"/>
          </a:solidFill>
          <a:ln w="12700">
            <a:solidFill>
              <a:srgbClr val="B5C2D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3409112" y="2633472"/>
            <a:ext cx="2586152"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Shape 6"/>
          <p:cNvSpPr/>
          <p:nvPr/>
        </p:nvSpPr>
        <p:spPr>
          <a:xfrm>
            <a:off x="3409112" y="2633472"/>
            <a:ext cx="2586152" cy="73152"/>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3601136" y="2871216"/>
            <a:ext cx="2202104"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Store</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3601136" y="3401568"/>
            <a:ext cx="2202104"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Database / CSV</a:t>
            </a:r>
            <a:endParaRPr lang="en-US" sz="1430" dirty="0">
              <a:latin typeface="Times New Roman" panose="02020603050405020304" pitchFamily="18" charset="0"/>
              <a:cs typeface="Times New Roman" panose="02020603050405020304" pitchFamily="18" charset="0"/>
            </a:endParaRPr>
          </a:p>
        </p:txBody>
      </p:sp>
      <p:sp>
        <p:nvSpPr>
          <p:cNvPr id="11" name="Shape 9"/>
          <p:cNvSpPr/>
          <p:nvPr/>
        </p:nvSpPr>
        <p:spPr>
          <a:xfrm>
            <a:off x="6010808" y="3566160"/>
            <a:ext cx="164592" cy="301752"/>
          </a:xfrm>
          <a:prstGeom prst="chevron">
            <a:avLst/>
          </a:prstGeom>
          <a:solidFill>
            <a:srgbClr val="B5C2D0"/>
          </a:solidFill>
          <a:ln w="12700">
            <a:solidFill>
              <a:srgbClr val="B5C2D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Shape 10"/>
          <p:cNvSpPr/>
          <p:nvPr/>
        </p:nvSpPr>
        <p:spPr>
          <a:xfrm>
            <a:off x="6196432" y="2633472"/>
            <a:ext cx="2586152"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3" name="Shape 11"/>
          <p:cNvSpPr/>
          <p:nvPr/>
        </p:nvSpPr>
        <p:spPr>
          <a:xfrm>
            <a:off x="6196432" y="2633472"/>
            <a:ext cx="2586152" cy="73152"/>
          </a:xfrm>
          <a:prstGeom prst="rect">
            <a:avLst/>
          </a:prstGeom>
          <a:solidFill>
            <a:srgbClr val="8052D8"/>
          </a:solidFill>
          <a:ln w="12700">
            <a:solidFill>
              <a:srgbClr val="8052D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4" name="Text 12"/>
          <p:cNvSpPr/>
          <p:nvPr/>
        </p:nvSpPr>
        <p:spPr>
          <a:xfrm>
            <a:off x="6388456" y="2871216"/>
            <a:ext cx="2202104"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Prepare</a:t>
            </a:r>
            <a:endParaRPr lang="en-US" sz="2000" dirty="0">
              <a:latin typeface="Times New Roman" panose="02020603050405020304" pitchFamily="18" charset="0"/>
              <a:cs typeface="Times New Roman" panose="02020603050405020304" pitchFamily="18" charset="0"/>
            </a:endParaRPr>
          </a:p>
        </p:txBody>
      </p:sp>
      <p:sp>
        <p:nvSpPr>
          <p:cNvPr id="15" name="Text 13"/>
          <p:cNvSpPr/>
          <p:nvPr/>
        </p:nvSpPr>
        <p:spPr>
          <a:xfrm>
            <a:off x="6388456" y="3401568"/>
            <a:ext cx="2202104"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Clean and join</a:t>
            </a:r>
            <a:endParaRPr lang="en-US" sz="1430" dirty="0">
              <a:latin typeface="Times New Roman" panose="02020603050405020304" pitchFamily="18" charset="0"/>
              <a:cs typeface="Times New Roman" panose="02020603050405020304" pitchFamily="18" charset="0"/>
            </a:endParaRPr>
          </a:p>
        </p:txBody>
      </p:sp>
      <p:sp>
        <p:nvSpPr>
          <p:cNvPr id="16" name="Shape 14"/>
          <p:cNvSpPr/>
          <p:nvPr/>
        </p:nvSpPr>
        <p:spPr>
          <a:xfrm>
            <a:off x="8798128" y="3566160"/>
            <a:ext cx="164592" cy="301752"/>
          </a:xfrm>
          <a:prstGeom prst="chevron">
            <a:avLst/>
          </a:prstGeom>
          <a:solidFill>
            <a:srgbClr val="B5C2D0"/>
          </a:solidFill>
          <a:ln w="12700">
            <a:solidFill>
              <a:srgbClr val="B5C2D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Shape 15"/>
          <p:cNvSpPr/>
          <p:nvPr/>
        </p:nvSpPr>
        <p:spPr>
          <a:xfrm>
            <a:off x="8983751" y="2633472"/>
            <a:ext cx="2586152"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Shape 16"/>
          <p:cNvSpPr/>
          <p:nvPr/>
        </p:nvSpPr>
        <p:spPr>
          <a:xfrm>
            <a:off x="8983751" y="2633472"/>
            <a:ext cx="2586152" cy="73152"/>
          </a:xfrm>
          <a:prstGeom prst="rect">
            <a:avLst/>
          </a:prstGeom>
          <a:solidFill>
            <a:srgbClr val="E8A23A"/>
          </a:solidFill>
          <a:ln w="12700">
            <a:solidFill>
              <a:srgbClr val="E8A23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9" name="Text 17"/>
          <p:cNvSpPr/>
          <p:nvPr/>
        </p:nvSpPr>
        <p:spPr>
          <a:xfrm>
            <a:off x="9175775" y="2871216"/>
            <a:ext cx="2202104"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Use</a:t>
            </a:r>
            <a:endParaRPr lang="en-US" sz="2000" dirty="0">
              <a:latin typeface="Times New Roman" panose="02020603050405020304" pitchFamily="18" charset="0"/>
              <a:cs typeface="Times New Roman" panose="02020603050405020304" pitchFamily="18" charset="0"/>
            </a:endParaRPr>
          </a:p>
        </p:txBody>
      </p:sp>
      <p:sp>
        <p:nvSpPr>
          <p:cNvPr id="20" name="Text 18"/>
          <p:cNvSpPr/>
          <p:nvPr/>
        </p:nvSpPr>
        <p:spPr>
          <a:xfrm>
            <a:off x="9175775" y="3401568"/>
            <a:ext cx="2202104"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KPI and decision</a:t>
            </a:r>
            <a:endParaRPr lang="en-US" sz="1430" dirty="0">
              <a:latin typeface="Times New Roman" panose="02020603050405020304" pitchFamily="18" charset="0"/>
              <a:cs typeface="Times New Roman" panose="02020603050405020304" pitchFamily="18" charset="0"/>
            </a:endParaRPr>
          </a:p>
        </p:txBody>
      </p:sp>
      <p:sp>
        <p:nvSpPr>
          <p:cNvPr id="21" name="Shape 19"/>
          <p:cNvSpPr/>
          <p:nvPr/>
        </p:nvSpPr>
        <p:spPr>
          <a:xfrm>
            <a:off x="621792" y="5650992"/>
            <a:ext cx="10948111" cy="493776"/>
          </a:xfrm>
          <a:prstGeom prst="roundRect">
            <a:avLst>
              <a:gd name="adj" fmla="val 22222"/>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2" name="Text 20"/>
          <p:cNvSpPr/>
          <p:nvPr/>
        </p:nvSpPr>
        <p:spPr>
          <a:xfrm>
            <a:off x="822960" y="5705856"/>
            <a:ext cx="1316736" cy="365760"/>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REMEMBER</a:t>
            </a:r>
            <a:endParaRPr lang="en-US" sz="1030" dirty="0">
              <a:latin typeface="Times New Roman" panose="02020603050405020304" pitchFamily="18" charset="0"/>
              <a:cs typeface="Times New Roman" panose="02020603050405020304" pitchFamily="18" charset="0"/>
            </a:endParaRPr>
          </a:p>
        </p:txBody>
      </p:sp>
      <p:sp>
        <p:nvSpPr>
          <p:cNvPr id="23" name="Text 21"/>
          <p:cNvSpPr/>
          <p:nvPr/>
        </p:nvSpPr>
        <p:spPr>
          <a:xfrm>
            <a:off x="2221992" y="5705856"/>
            <a:ext cx="9101023" cy="365760"/>
          </a:xfrm>
          <a:prstGeom prst="rect">
            <a:avLst/>
          </a:prstGeom>
          <a:noFill/>
          <a:ln/>
        </p:spPr>
        <p:txBody>
          <a:bodyPr wrap="square" lIns="0" tIns="0" rIns="0" bIns="0" rtlCol="0" anchor="ctr">
            <a:normAutofit/>
          </a:bodyPr>
          <a:lstStyle/>
          <a:p>
            <a:pPr marL="0" indent="0" algn="l">
              <a:buNone/>
            </a:pPr>
            <a:r>
              <a:rPr lang="en-US" sz="1340" b="1" dirty="0">
                <a:solidFill>
                  <a:srgbClr val="172B42"/>
                </a:solidFill>
                <a:latin typeface="Times New Roman" panose="02020603050405020304" pitchFamily="18" charset="0"/>
                <a:ea typeface="Inter" pitchFamily="34" charset="-122"/>
                <a:cs typeface="Times New Roman" panose="02020603050405020304" pitchFamily="18" charset="0"/>
              </a:rPr>
              <a:t>Every stage creates opportunities for errors or improvements.</a:t>
            </a:r>
            <a:endParaRPr lang="en-US" sz="1340" dirty="0">
              <a:latin typeface="Times New Roman" panose="02020603050405020304" pitchFamily="18" charset="0"/>
              <a:cs typeface="Times New Roman" panose="02020603050405020304" pitchFamily="18" charset="0"/>
            </a:endParaRPr>
          </a:p>
        </p:txBody>
      </p:sp>
      <p:sp>
        <p:nvSpPr>
          <p:cNvPr id="24" name="Text 22"/>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The lifecycle, end to end</a:t>
            </a:r>
            <a:endParaRPr lang="en-US" sz="3180" dirty="0">
              <a:latin typeface="Times New Roman" panose="02020603050405020304" pitchFamily="18" charset="0"/>
              <a:cs typeface="Times New Roman" panose="02020603050405020304" pitchFamily="18" charset="0"/>
            </a:endParaRPr>
          </a:p>
        </p:txBody>
      </p:sp>
      <p:sp>
        <p:nvSpPr>
          <p:cNvPr id="25" name="Text 23"/>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DATA LIFECYCLE</a:t>
            </a:r>
            <a:endParaRPr lang="en-US" sz="1050" dirty="0">
              <a:latin typeface="Times New Roman" panose="02020603050405020304" pitchFamily="18" charset="0"/>
              <a:cs typeface="Times New Roman" panose="02020603050405020304" pitchFamily="18" charset="0"/>
            </a:endParaRPr>
          </a:p>
        </p:txBody>
      </p:sp>
      <p:sp>
        <p:nvSpPr>
          <p:cNvPr id="27" name="Shape 25"/>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8" name="Shape 26"/>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9" name="Text 27"/>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30" name="Text 28"/>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16</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14400" y="2404872"/>
            <a:ext cx="10369296" cy="493776"/>
          </a:xfrm>
          <a:prstGeom prst="roundRect">
            <a:avLst>
              <a:gd name="adj" fmla="val 12963"/>
            </a:avLst>
          </a:prstGeom>
          <a:solidFill>
            <a:srgbClr val="EAF2F7"/>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Text 1"/>
          <p:cNvSpPr/>
          <p:nvPr/>
        </p:nvSpPr>
        <p:spPr>
          <a:xfrm>
            <a:off x="1033272" y="2505456"/>
            <a:ext cx="3135295" cy="329184"/>
          </a:xfrm>
          <a:prstGeom prst="rect">
            <a:avLst/>
          </a:prstGeom>
          <a:noFill/>
          <a:ln/>
        </p:spPr>
        <p:txBody>
          <a:bodyPr wrap="square" lIns="0" tIns="0" rIns="0" bIns="0" rtlCol="0" anchor="ctr">
            <a:normAutofit/>
          </a:bodyPr>
          <a:lstStyle/>
          <a:p>
            <a:pPr marL="0" indent="0" algn="l">
              <a:buNone/>
            </a:pPr>
            <a:r>
              <a:rPr lang="en-US" sz="1200" b="1" dirty="0">
                <a:solidFill>
                  <a:srgbClr val="172B42"/>
                </a:solidFill>
                <a:latin typeface="Times New Roman" panose="02020603050405020304" pitchFamily="18" charset="0"/>
                <a:ea typeface="Inter" pitchFamily="34" charset="-122"/>
                <a:cs typeface="Times New Roman" panose="02020603050405020304" pitchFamily="18" charset="0"/>
              </a:rPr>
              <a:t>patients</a:t>
            </a:r>
            <a:endParaRPr lang="en-US" sz="1200" dirty="0">
              <a:latin typeface="Times New Roman" panose="02020603050405020304" pitchFamily="18" charset="0"/>
              <a:cs typeface="Times New Roman" panose="02020603050405020304" pitchFamily="18" charset="0"/>
            </a:endParaRPr>
          </a:p>
        </p:txBody>
      </p:sp>
      <p:sp>
        <p:nvSpPr>
          <p:cNvPr id="4" name="Text 2"/>
          <p:cNvSpPr/>
          <p:nvPr/>
        </p:nvSpPr>
        <p:spPr>
          <a:xfrm>
            <a:off x="4351447" y="2505456"/>
            <a:ext cx="3342681" cy="329184"/>
          </a:xfrm>
          <a:prstGeom prst="rect">
            <a:avLst/>
          </a:prstGeom>
          <a:noFill/>
          <a:ln/>
        </p:spPr>
        <p:txBody>
          <a:bodyPr wrap="square" lIns="0" tIns="0" rIns="0" bIns="0" rtlCol="0" anchor="ctr">
            <a:normAutofit/>
          </a:bodyPr>
          <a:lstStyle/>
          <a:p>
            <a:pPr marL="0" indent="0" algn="l">
              <a:buNone/>
            </a:pPr>
            <a:r>
              <a:rPr lang="en-US" sz="1200" b="1" dirty="0">
                <a:solidFill>
                  <a:srgbClr val="172B42"/>
                </a:solidFill>
                <a:latin typeface="Times New Roman" panose="02020603050405020304" pitchFamily="18" charset="0"/>
                <a:ea typeface="Inter" pitchFamily="34" charset="-122"/>
                <a:cs typeface="Times New Roman" panose="02020603050405020304" pitchFamily="18" charset="0"/>
              </a:rPr>
              <a:t>doctors</a:t>
            </a:r>
            <a:endParaRPr lang="en-US" sz="1200" dirty="0">
              <a:latin typeface="Times New Roman" panose="02020603050405020304" pitchFamily="18" charset="0"/>
              <a:cs typeface="Times New Roman" panose="02020603050405020304" pitchFamily="18" charset="0"/>
            </a:endParaRPr>
          </a:p>
        </p:txBody>
      </p:sp>
      <p:sp>
        <p:nvSpPr>
          <p:cNvPr id="5" name="Text 3"/>
          <p:cNvSpPr/>
          <p:nvPr/>
        </p:nvSpPr>
        <p:spPr>
          <a:xfrm>
            <a:off x="7877007" y="2505456"/>
            <a:ext cx="3342681" cy="329184"/>
          </a:xfrm>
          <a:prstGeom prst="rect">
            <a:avLst/>
          </a:prstGeom>
          <a:noFill/>
          <a:ln/>
        </p:spPr>
        <p:txBody>
          <a:bodyPr wrap="square" lIns="0" tIns="0" rIns="0" bIns="0" rtlCol="0" anchor="ctr">
            <a:normAutofit/>
          </a:bodyPr>
          <a:lstStyle/>
          <a:p>
            <a:pPr marL="0" indent="0" algn="l">
              <a:buNone/>
            </a:pPr>
            <a:r>
              <a:rPr lang="en-US" sz="1200" b="1" dirty="0">
                <a:solidFill>
                  <a:srgbClr val="172B42"/>
                </a:solidFill>
                <a:latin typeface="Times New Roman" panose="02020603050405020304" pitchFamily="18" charset="0"/>
                <a:ea typeface="Inter" pitchFamily="34" charset="-122"/>
                <a:cs typeface="Times New Roman" panose="02020603050405020304" pitchFamily="18" charset="0"/>
              </a:rPr>
              <a:t>appointments</a:t>
            </a:r>
            <a:endParaRPr lang="en-US" sz="1200" dirty="0">
              <a:latin typeface="Times New Roman" panose="02020603050405020304" pitchFamily="18" charset="0"/>
              <a:cs typeface="Times New Roman" panose="02020603050405020304" pitchFamily="18" charset="0"/>
            </a:endParaRPr>
          </a:p>
        </p:txBody>
      </p:sp>
      <p:sp>
        <p:nvSpPr>
          <p:cNvPr id="6" name="Shape 4"/>
          <p:cNvSpPr/>
          <p:nvPr/>
        </p:nvSpPr>
        <p:spPr>
          <a:xfrm>
            <a:off x="914400" y="2898648"/>
            <a:ext cx="10369296" cy="640080"/>
          </a:xfrm>
          <a:prstGeom prst="rect">
            <a:avLst/>
          </a:prstGeom>
          <a:solidFill>
            <a:srgbClr val="EEF4F8"/>
          </a:solidFill>
          <a:ln w="12700">
            <a:solidFill>
              <a:srgbClr val="F0F5F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Text 5"/>
          <p:cNvSpPr/>
          <p:nvPr/>
        </p:nvSpPr>
        <p:spPr>
          <a:xfrm>
            <a:off x="1033272" y="2990088"/>
            <a:ext cx="3144439" cy="484632"/>
          </a:xfrm>
          <a:prstGeom prst="rect">
            <a:avLst/>
          </a:prstGeom>
          <a:noFill/>
          <a:ln/>
        </p:spPr>
        <p:txBody>
          <a:bodyPr wrap="square" lIns="0" tIns="0" rIns="0" bIns="0" rtlCol="0" anchor="ctr">
            <a:normAutofit/>
          </a:bodyPr>
          <a:lstStyle/>
          <a:p>
            <a:pPr marL="0" indent="0" algn="l">
              <a:buNone/>
            </a:pPr>
            <a:r>
              <a:rPr lang="en-US" sz="1300" b="1" dirty="0">
                <a:solidFill>
                  <a:srgbClr val="172B42"/>
                </a:solidFill>
                <a:latin typeface="Times New Roman" panose="02020603050405020304" pitchFamily="18" charset="0"/>
                <a:ea typeface="Inter" pitchFamily="34" charset="-122"/>
                <a:cs typeface="Times New Roman" panose="02020603050405020304" pitchFamily="18" charset="0"/>
              </a:rPr>
              <a:t>patient_id | name</a:t>
            </a:r>
            <a:endParaRPr lang="en-US" sz="1300" dirty="0">
              <a:latin typeface="Times New Roman" panose="02020603050405020304" pitchFamily="18" charset="0"/>
              <a:cs typeface="Times New Roman" panose="02020603050405020304" pitchFamily="18" charset="0"/>
            </a:endParaRPr>
          </a:p>
        </p:txBody>
      </p:sp>
      <p:sp>
        <p:nvSpPr>
          <p:cNvPr id="8" name="Text 6"/>
          <p:cNvSpPr/>
          <p:nvPr/>
        </p:nvSpPr>
        <p:spPr>
          <a:xfrm>
            <a:off x="4351447" y="2990088"/>
            <a:ext cx="3351825" cy="484632"/>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doctor_id | specialty</a:t>
            </a:r>
            <a:endParaRPr lang="en-US" sz="1300" dirty="0">
              <a:latin typeface="Times New Roman" panose="02020603050405020304" pitchFamily="18" charset="0"/>
              <a:cs typeface="Times New Roman" panose="02020603050405020304" pitchFamily="18" charset="0"/>
            </a:endParaRPr>
          </a:p>
        </p:txBody>
      </p:sp>
      <p:sp>
        <p:nvSpPr>
          <p:cNvPr id="9" name="Text 7"/>
          <p:cNvSpPr/>
          <p:nvPr/>
        </p:nvSpPr>
        <p:spPr>
          <a:xfrm>
            <a:off x="7877007" y="2990088"/>
            <a:ext cx="3351825" cy="484632"/>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appointment_id | patient_id</a:t>
            </a:r>
            <a:endParaRPr lang="en-US" sz="1300" dirty="0">
              <a:latin typeface="Times New Roman" panose="02020603050405020304" pitchFamily="18" charset="0"/>
              <a:cs typeface="Times New Roman" panose="02020603050405020304" pitchFamily="18" charset="0"/>
            </a:endParaRPr>
          </a:p>
        </p:txBody>
      </p:sp>
      <p:sp>
        <p:nvSpPr>
          <p:cNvPr id="10" name="Shape 8"/>
          <p:cNvSpPr/>
          <p:nvPr/>
        </p:nvSpPr>
        <p:spPr>
          <a:xfrm>
            <a:off x="914400" y="3538728"/>
            <a:ext cx="10369296" cy="640080"/>
          </a:xfrm>
          <a:prstGeom prst="rect">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Text 9"/>
          <p:cNvSpPr/>
          <p:nvPr/>
        </p:nvSpPr>
        <p:spPr>
          <a:xfrm>
            <a:off x="1033272" y="3630168"/>
            <a:ext cx="3144439" cy="484632"/>
          </a:xfrm>
          <a:prstGeom prst="rect">
            <a:avLst/>
          </a:prstGeom>
          <a:noFill/>
          <a:ln/>
        </p:spPr>
        <p:txBody>
          <a:bodyPr wrap="square" lIns="0" tIns="0" rIns="0" bIns="0" rtlCol="0" anchor="ctr">
            <a:normAutofit/>
          </a:bodyPr>
          <a:lstStyle/>
          <a:p>
            <a:pPr marL="0" indent="0" algn="l">
              <a:buNone/>
            </a:pPr>
            <a:r>
              <a:rPr lang="en-US" sz="1300" b="1" dirty="0">
                <a:solidFill>
                  <a:srgbClr val="172B42"/>
                </a:solidFill>
                <a:latin typeface="Times New Roman" panose="02020603050405020304" pitchFamily="18" charset="0"/>
                <a:ea typeface="Inter" pitchFamily="34" charset="-122"/>
                <a:cs typeface="Times New Roman" panose="02020603050405020304" pitchFamily="18" charset="0"/>
              </a:rPr>
              <a:t>P01 | Asha</a:t>
            </a:r>
            <a:endParaRPr lang="en-US" sz="1300" dirty="0">
              <a:latin typeface="Times New Roman" panose="02020603050405020304" pitchFamily="18" charset="0"/>
              <a:cs typeface="Times New Roman" panose="02020603050405020304" pitchFamily="18" charset="0"/>
            </a:endParaRPr>
          </a:p>
        </p:txBody>
      </p:sp>
      <p:sp>
        <p:nvSpPr>
          <p:cNvPr id="12" name="Text 10"/>
          <p:cNvSpPr/>
          <p:nvPr/>
        </p:nvSpPr>
        <p:spPr>
          <a:xfrm>
            <a:off x="4351447" y="3630168"/>
            <a:ext cx="3351825" cy="484632"/>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D01 | Cardiology</a:t>
            </a:r>
            <a:endParaRPr lang="en-US" sz="1300" dirty="0">
              <a:latin typeface="Times New Roman" panose="02020603050405020304" pitchFamily="18" charset="0"/>
              <a:cs typeface="Times New Roman" panose="02020603050405020304" pitchFamily="18" charset="0"/>
            </a:endParaRPr>
          </a:p>
        </p:txBody>
      </p:sp>
      <p:sp>
        <p:nvSpPr>
          <p:cNvPr id="13" name="Text 11"/>
          <p:cNvSpPr/>
          <p:nvPr/>
        </p:nvSpPr>
        <p:spPr>
          <a:xfrm>
            <a:off x="7877007" y="3630168"/>
            <a:ext cx="3351825" cy="484632"/>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A101 | P01 | D02</a:t>
            </a:r>
            <a:endParaRPr lang="en-US" sz="1300" dirty="0">
              <a:latin typeface="Times New Roman" panose="02020603050405020304" pitchFamily="18" charset="0"/>
              <a:cs typeface="Times New Roman" panose="02020603050405020304" pitchFamily="18" charset="0"/>
            </a:endParaRPr>
          </a:p>
        </p:txBody>
      </p:sp>
      <p:sp>
        <p:nvSpPr>
          <p:cNvPr id="14" name="Shape 12"/>
          <p:cNvSpPr/>
          <p:nvPr/>
        </p:nvSpPr>
        <p:spPr>
          <a:xfrm>
            <a:off x="914400" y="4178808"/>
            <a:ext cx="10369296" cy="640080"/>
          </a:xfrm>
          <a:prstGeom prst="rect">
            <a:avLst/>
          </a:prstGeom>
          <a:solidFill>
            <a:srgbClr val="EEF4F8"/>
          </a:solidFill>
          <a:ln w="12700">
            <a:solidFill>
              <a:srgbClr val="F0F5F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5" name="Text 13"/>
          <p:cNvSpPr/>
          <p:nvPr/>
        </p:nvSpPr>
        <p:spPr>
          <a:xfrm>
            <a:off x="1033272" y="4270248"/>
            <a:ext cx="3144439" cy="484632"/>
          </a:xfrm>
          <a:prstGeom prst="rect">
            <a:avLst/>
          </a:prstGeom>
          <a:noFill/>
          <a:ln/>
        </p:spPr>
        <p:txBody>
          <a:bodyPr wrap="square" lIns="0" tIns="0" rIns="0" bIns="0" rtlCol="0" anchor="ctr">
            <a:normAutofit/>
          </a:bodyPr>
          <a:lstStyle/>
          <a:p>
            <a:pPr marL="0" indent="0" algn="l">
              <a:buNone/>
            </a:pPr>
            <a:r>
              <a:rPr lang="en-US" sz="1300" b="1" dirty="0">
                <a:solidFill>
                  <a:srgbClr val="172B42"/>
                </a:solidFill>
                <a:latin typeface="Times New Roman" panose="02020603050405020304" pitchFamily="18" charset="0"/>
                <a:ea typeface="Inter" pitchFamily="34" charset="-122"/>
                <a:cs typeface="Times New Roman" panose="02020603050405020304" pitchFamily="18" charset="0"/>
              </a:rPr>
              <a:t>P02 | Ravi</a:t>
            </a:r>
            <a:endParaRPr lang="en-US" sz="1300" dirty="0">
              <a:latin typeface="Times New Roman" panose="02020603050405020304" pitchFamily="18" charset="0"/>
              <a:cs typeface="Times New Roman" panose="02020603050405020304" pitchFamily="18" charset="0"/>
            </a:endParaRPr>
          </a:p>
        </p:txBody>
      </p:sp>
      <p:sp>
        <p:nvSpPr>
          <p:cNvPr id="16" name="Text 14"/>
          <p:cNvSpPr/>
          <p:nvPr/>
        </p:nvSpPr>
        <p:spPr>
          <a:xfrm>
            <a:off x="4351447" y="4270248"/>
            <a:ext cx="3351825" cy="484632"/>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D02 | General Medicine</a:t>
            </a:r>
            <a:endParaRPr lang="en-US" sz="1300" dirty="0">
              <a:latin typeface="Times New Roman" panose="02020603050405020304" pitchFamily="18" charset="0"/>
              <a:cs typeface="Times New Roman" panose="02020603050405020304" pitchFamily="18" charset="0"/>
            </a:endParaRPr>
          </a:p>
        </p:txBody>
      </p:sp>
      <p:sp>
        <p:nvSpPr>
          <p:cNvPr id="17" name="Text 15"/>
          <p:cNvSpPr/>
          <p:nvPr/>
        </p:nvSpPr>
        <p:spPr>
          <a:xfrm>
            <a:off x="7877007" y="4270248"/>
            <a:ext cx="3351825" cy="484632"/>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A102 | P02 | D01</a:t>
            </a:r>
            <a:endParaRPr lang="en-US" sz="1300" dirty="0">
              <a:latin typeface="Times New Roman" panose="02020603050405020304" pitchFamily="18" charset="0"/>
              <a:cs typeface="Times New Roman" panose="02020603050405020304" pitchFamily="18" charset="0"/>
            </a:endParaRPr>
          </a:p>
        </p:txBody>
      </p:sp>
      <p:sp>
        <p:nvSpPr>
          <p:cNvPr id="18" name="Shape 16"/>
          <p:cNvSpPr/>
          <p:nvPr/>
        </p:nvSpPr>
        <p:spPr>
          <a:xfrm>
            <a:off x="914400" y="4818888"/>
            <a:ext cx="10369296" cy="640080"/>
          </a:xfrm>
          <a:prstGeom prst="rect">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9" name="Text 17"/>
          <p:cNvSpPr/>
          <p:nvPr/>
        </p:nvSpPr>
        <p:spPr>
          <a:xfrm>
            <a:off x="1033272" y="4910328"/>
            <a:ext cx="3144439" cy="484632"/>
          </a:xfrm>
          <a:prstGeom prst="rect">
            <a:avLst/>
          </a:prstGeom>
          <a:noFill/>
          <a:ln/>
        </p:spPr>
        <p:txBody>
          <a:bodyPr wrap="square" lIns="0" tIns="0" rIns="0" bIns="0" rtlCol="0" anchor="ctr">
            <a:normAutofit/>
          </a:bodyPr>
          <a:lstStyle/>
          <a:p>
            <a:pPr marL="0" indent="0" algn="l">
              <a:buNone/>
            </a:pPr>
            <a:r>
              <a:rPr lang="en-US" sz="1300" b="1" dirty="0">
                <a:solidFill>
                  <a:srgbClr val="172B42"/>
                </a:solidFill>
                <a:latin typeface="Times New Roman" panose="02020603050405020304" pitchFamily="18" charset="0"/>
                <a:ea typeface="Inter" pitchFamily="34" charset="-122"/>
                <a:cs typeface="Times New Roman" panose="02020603050405020304" pitchFamily="18" charset="0"/>
              </a:rPr>
              <a:t>P03 | Meera</a:t>
            </a:r>
            <a:endParaRPr lang="en-US" sz="1300" dirty="0">
              <a:latin typeface="Times New Roman" panose="02020603050405020304" pitchFamily="18" charset="0"/>
              <a:cs typeface="Times New Roman" panose="02020603050405020304" pitchFamily="18" charset="0"/>
            </a:endParaRPr>
          </a:p>
        </p:txBody>
      </p:sp>
      <p:sp>
        <p:nvSpPr>
          <p:cNvPr id="20" name="Text 18"/>
          <p:cNvSpPr/>
          <p:nvPr/>
        </p:nvSpPr>
        <p:spPr>
          <a:xfrm>
            <a:off x="4351447" y="4910328"/>
            <a:ext cx="3351825" cy="484632"/>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D03 | Orthopedics</a:t>
            </a:r>
            <a:endParaRPr lang="en-US" sz="1300" dirty="0">
              <a:latin typeface="Times New Roman" panose="02020603050405020304" pitchFamily="18" charset="0"/>
              <a:cs typeface="Times New Roman" panose="02020603050405020304" pitchFamily="18" charset="0"/>
            </a:endParaRPr>
          </a:p>
        </p:txBody>
      </p:sp>
      <p:sp>
        <p:nvSpPr>
          <p:cNvPr id="21" name="Text 19"/>
          <p:cNvSpPr/>
          <p:nvPr/>
        </p:nvSpPr>
        <p:spPr>
          <a:xfrm>
            <a:off x="7877007" y="4910328"/>
            <a:ext cx="3351825" cy="484632"/>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A103 | P03 | D02</a:t>
            </a:r>
            <a:endParaRPr lang="en-US" sz="1300" dirty="0">
              <a:latin typeface="Times New Roman" panose="02020603050405020304" pitchFamily="18" charset="0"/>
              <a:cs typeface="Times New Roman" panose="02020603050405020304" pitchFamily="18" charset="0"/>
            </a:endParaRPr>
          </a:p>
        </p:txBody>
      </p:sp>
      <p:sp>
        <p:nvSpPr>
          <p:cNvPr id="22" name="Shape 20"/>
          <p:cNvSpPr/>
          <p:nvPr/>
        </p:nvSpPr>
        <p:spPr>
          <a:xfrm>
            <a:off x="621792" y="5650992"/>
            <a:ext cx="10948111" cy="493776"/>
          </a:xfrm>
          <a:prstGeom prst="roundRect">
            <a:avLst>
              <a:gd name="adj" fmla="val 22222"/>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3" name="Text 21"/>
          <p:cNvSpPr/>
          <p:nvPr/>
        </p:nvSpPr>
        <p:spPr>
          <a:xfrm>
            <a:off x="822960" y="5705856"/>
            <a:ext cx="1316736" cy="365760"/>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INSIGHT</a:t>
            </a:r>
            <a:endParaRPr lang="en-US" sz="1030" dirty="0">
              <a:latin typeface="Times New Roman" panose="02020603050405020304" pitchFamily="18" charset="0"/>
              <a:cs typeface="Times New Roman" panose="02020603050405020304" pitchFamily="18" charset="0"/>
            </a:endParaRPr>
          </a:p>
        </p:txBody>
      </p:sp>
      <p:sp>
        <p:nvSpPr>
          <p:cNvPr id="24" name="Text 22"/>
          <p:cNvSpPr/>
          <p:nvPr/>
        </p:nvSpPr>
        <p:spPr>
          <a:xfrm>
            <a:off x="2221992" y="5705856"/>
            <a:ext cx="9101023" cy="365760"/>
          </a:xfrm>
          <a:prstGeom prst="rect">
            <a:avLst/>
          </a:prstGeom>
          <a:noFill/>
          <a:ln/>
        </p:spPr>
        <p:txBody>
          <a:bodyPr wrap="square" lIns="0" tIns="0" rIns="0" bIns="0" rtlCol="0" anchor="ctr">
            <a:normAutofit/>
          </a:bodyPr>
          <a:lstStyle/>
          <a:p>
            <a:pPr marL="0" indent="0" algn="l">
              <a:buNone/>
            </a:pPr>
            <a:r>
              <a:rPr lang="en-US" sz="1340" b="1" dirty="0">
                <a:solidFill>
                  <a:srgbClr val="172B42"/>
                </a:solidFill>
                <a:latin typeface="Times New Roman" panose="02020603050405020304" pitchFamily="18" charset="0"/>
                <a:ea typeface="Inter" pitchFamily="34" charset="-122"/>
                <a:cs typeface="Times New Roman" panose="02020603050405020304" pitchFamily="18" charset="0"/>
              </a:rPr>
              <a:t>The appointment table connects patients to doctors through IDs.</a:t>
            </a:r>
            <a:endParaRPr lang="en-US" sz="1340" dirty="0">
              <a:latin typeface="Times New Roman" panose="02020603050405020304" pitchFamily="18" charset="0"/>
              <a:cs typeface="Times New Roman" panose="02020603050405020304" pitchFamily="18" charset="0"/>
            </a:endParaRPr>
          </a:p>
        </p:txBody>
      </p:sp>
      <p:sp>
        <p:nvSpPr>
          <p:cNvPr id="25" name="Text 23"/>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Three tables, one business question</a:t>
            </a:r>
            <a:endParaRPr lang="en-US" sz="3180" dirty="0">
              <a:latin typeface="Times New Roman" panose="02020603050405020304" pitchFamily="18" charset="0"/>
              <a:cs typeface="Times New Roman" panose="02020603050405020304" pitchFamily="18" charset="0"/>
            </a:endParaRPr>
          </a:p>
        </p:txBody>
      </p:sp>
      <p:sp>
        <p:nvSpPr>
          <p:cNvPr id="26" name="Text 24"/>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DATA LIFECYCLE</a:t>
            </a:r>
            <a:endParaRPr lang="en-US" sz="1050" dirty="0">
              <a:latin typeface="Times New Roman" panose="02020603050405020304" pitchFamily="18" charset="0"/>
              <a:cs typeface="Times New Roman" panose="02020603050405020304" pitchFamily="18" charset="0"/>
            </a:endParaRPr>
          </a:p>
        </p:txBody>
      </p:sp>
      <p:sp>
        <p:nvSpPr>
          <p:cNvPr id="28" name="Shape 26"/>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9" name="Shape 27"/>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0" name="Text 28"/>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31" name="Text 29"/>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17</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 y="2331720"/>
            <a:ext cx="6784848" cy="3108960"/>
          </a:xfrm>
          <a:prstGeom prst="roundRect">
            <a:avLst>
              <a:gd name="adj" fmla="val 470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Text 1"/>
          <p:cNvSpPr/>
          <p:nvPr/>
        </p:nvSpPr>
        <p:spPr>
          <a:xfrm>
            <a:off x="1088136" y="2606040"/>
            <a:ext cx="1645920" cy="292608"/>
          </a:xfrm>
          <a:prstGeom prst="rect">
            <a:avLst/>
          </a:prstGeom>
          <a:noFill/>
          <a:ln/>
        </p:spPr>
        <p:txBody>
          <a:bodyPr wrap="square" lIns="0" tIns="0" rIns="0" bIns="0" rtlCol="0" anchor="ctr">
            <a:normAutofit/>
          </a:bodyPr>
          <a:lstStyle/>
          <a:p>
            <a:pPr marL="0" indent="0" algn="l">
              <a:buNone/>
            </a:pPr>
            <a:r>
              <a:rPr lang="en-US" sz="1200" b="1" dirty="0">
                <a:solidFill>
                  <a:srgbClr val="087B75"/>
                </a:solidFill>
                <a:latin typeface="Times New Roman" panose="02020603050405020304" pitchFamily="18" charset="0"/>
                <a:ea typeface="Inter" pitchFamily="34" charset="-122"/>
                <a:cs typeface="Times New Roman" panose="02020603050405020304" pitchFamily="18" charset="0"/>
              </a:rPr>
              <a:t>TASK</a:t>
            </a:r>
            <a:endParaRPr lang="en-US" sz="1200" dirty="0">
              <a:latin typeface="Times New Roman" panose="02020603050405020304" pitchFamily="18" charset="0"/>
              <a:cs typeface="Times New Roman" panose="02020603050405020304" pitchFamily="18" charset="0"/>
            </a:endParaRPr>
          </a:p>
        </p:txBody>
      </p:sp>
      <p:sp>
        <p:nvSpPr>
          <p:cNvPr id="4" name="Shape 2"/>
          <p:cNvSpPr/>
          <p:nvPr/>
        </p:nvSpPr>
        <p:spPr>
          <a:xfrm>
            <a:off x="1078992" y="3154680"/>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5" name="Text 3"/>
          <p:cNvSpPr/>
          <p:nvPr/>
        </p:nvSpPr>
        <p:spPr>
          <a:xfrm>
            <a:off x="1325880" y="3017520"/>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Find the shared field between patients and appointments.</a:t>
            </a:r>
            <a:endParaRPr lang="en-US" sz="1900" dirty="0">
              <a:latin typeface="Times New Roman" panose="02020603050405020304" pitchFamily="18" charset="0"/>
              <a:cs typeface="Times New Roman" panose="02020603050405020304" pitchFamily="18" charset="0"/>
            </a:endParaRPr>
          </a:p>
        </p:txBody>
      </p:sp>
      <p:sp>
        <p:nvSpPr>
          <p:cNvPr id="6" name="Shape 4"/>
          <p:cNvSpPr/>
          <p:nvPr/>
        </p:nvSpPr>
        <p:spPr>
          <a:xfrm>
            <a:off x="1078992" y="3776472"/>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Text 5"/>
          <p:cNvSpPr/>
          <p:nvPr/>
        </p:nvSpPr>
        <p:spPr>
          <a:xfrm>
            <a:off x="1325880" y="3639312"/>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Find the shared field between doctors and appointments.</a:t>
            </a:r>
            <a:endParaRPr lang="en-US" sz="1900" dirty="0">
              <a:latin typeface="Times New Roman" panose="02020603050405020304" pitchFamily="18" charset="0"/>
              <a:cs typeface="Times New Roman" panose="02020603050405020304" pitchFamily="18" charset="0"/>
            </a:endParaRPr>
          </a:p>
        </p:txBody>
      </p:sp>
      <p:sp>
        <p:nvSpPr>
          <p:cNvPr id="8" name="Shape 6"/>
          <p:cNvSpPr/>
          <p:nvPr/>
        </p:nvSpPr>
        <p:spPr>
          <a:xfrm>
            <a:off x="1078992" y="4398264"/>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1325880" y="4261104"/>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Which table holds the appointment status?</a:t>
            </a:r>
            <a:endParaRPr lang="en-US" sz="1900" dirty="0">
              <a:latin typeface="Times New Roman" panose="02020603050405020304" pitchFamily="18" charset="0"/>
              <a:cs typeface="Times New Roman" panose="02020603050405020304" pitchFamily="18" charset="0"/>
            </a:endParaRPr>
          </a:p>
        </p:txBody>
      </p:sp>
      <p:sp>
        <p:nvSpPr>
          <p:cNvPr id="10" name="Shape 8"/>
          <p:cNvSpPr/>
          <p:nvPr/>
        </p:nvSpPr>
        <p:spPr>
          <a:xfrm>
            <a:off x="7918704" y="2331720"/>
            <a:ext cx="3383280" cy="3108960"/>
          </a:xfrm>
          <a:prstGeom prst="roundRect">
            <a:avLst>
              <a:gd name="adj" fmla="val 4412"/>
            </a:avLst>
          </a:prstGeom>
          <a:solidFill>
            <a:srgbClr val="EAF2F7"/>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Text 9"/>
          <p:cNvSpPr/>
          <p:nvPr/>
        </p:nvSpPr>
        <p:spPr>
          <a:xfrm>
            <a:off x="8193024" y="2651760"/>
            <a:ext cx="2761488" cy="301752"/>
          </a:xfrm>
          <a:prstGeom prst="rect">
            <a:avLst/>
          </a:prstGeom>
          <a:noFill/>
          <a:ln/>
        </p:spPr>
        <p:txBody>
          <a:bodyPr wrap="square" lIns="0" tIns="0" rIns="0" bIns="0" rtlCol="0" anchor="ctr">
            <a:normAutofit/>
          </a:bodyPr>
          <a:lstStyle/>
          <a:p>
            <a:pPr marL="0" indent="0" algn="l">
              <a:buNone/>
            </a:pPr>
            <a:r>
              <a:rPr lang="en-US" sz="1300" b="1" dirty="0">
                <a:solidFill>
                  <a:srgbClr val="087B75"/>
                </a:solidFill>
                <a:latin typeface="Times New Roman" panose="02020603050405020304" pitchFamily="18" charset="0"/>
                <a:ea typeface="Inter" pitchFamily="34" charset="-122"/>
                <a:cs typeface="Times New Roman" panose="02020603050405020304" pitchFamily="18" charset="0"/>
              </a:rPr>
              <a:t>MINI EXERCISE</a:t>
            </a:r>
            <a:endParaRPr lang="en-US" sz="1300" dirty="0">
              <a:latin typeface="Times New Roman" panose="02020603050405020304" pitchFamily="18" charset="0"/>
              <a:cs typeface="Times New Roman" panose="02020603050405020304" pitchFamily="18" charset="0"/>
            </a:endParaRPr>
          </a:p>
        </p:txBody>
      </p:sp>
      <p:sp>
        <p:nvSpPr>
          <p:cNvPr id="12" name="Text 10"/>
          <p:cNvSpPr/>
          <p:nvPr/>
        </p:nvSpPr>
        <p:spPr>
          <a:xfrm>
            <a:off x="8193024" y="3191256"/>
            <a:ext cx="2743200" cy="1755648"/>
          </a:xfrm>
          <a:prstGeom prst="rect">
            <a:avLst/>
          </a:prstGeom>
          <a:noFill/>
          <a:ln/>
        </p:spPr>
        <p:txBody>
          <a:bodyPr wrap="square" lIns="0" tIns="0" rIns="0" bIns="0" rtlCol="0" anchor="t">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A JOIN matches related records using common keys.</a:t>
            </a:r>
            <a:endParaRPr lang="en-US" sz="1900" dirty="0">
              <a:latin typeface="Times New Roman" panose="02020603050405020304" pitchFamily="18" charset="0"/>
              <a:cs typeface="Times New Roman" panose="02020603050405020304" pitchFamily="18" charset="0"/>
            </a:endParaRPr>
          </a:p>
        </p:txBody>
      </p:sp>
      <p:sp>
        <p:nvSpPr>
          <p:cNvPr id="13" name="Text 11"/>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Which field connects the tables?</a:t>
            </a:r>
            <a:endParaRPr lang="en-US" sz="318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DATA LIFECYCLE</a:t>
            </a:r>
            <a:endParaRPr lang="en-US" sz="1050" dirty="0">
              <a:latin typeface="Times New Roman" panose="02020603050405020304" pitchFamily="18" charset="0"/>
              <a:cs typeface="Times New Roman" panose="02020603050405020304" pitchFamily="18" charset="0"/>
            </a:endParaRPr>
          </a:p>
        </p:txBody>
      </p:sp>
      <p:sp>
        <p:nvSpPr>
          <p:cNvPr id="16" name="Shape 14"/>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Shape 15"/>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Text 16"/>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9" name="Text 17"/>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18</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42416" y="1947672"/>
            <a:ext cx="10113264" cy="941832"/>
          </a:xfrm>
          <a:prstGeom prst="rect">
            <a:avLst/>
          </a:prstGeom>
          <a:noFill/>
          <a:ln/>
        </p:spPr>
        <p:txBody>
          <a:bodyPr wrap="square" lIns="0" tIns="0" rIns="0" bIns="0" rtlCol="0" anchor="ctr">
            <a:normAutofit/>
          </a:bodyPr>
          <a:lstStyle/>
          <a:p>
            <a:pPr marL="0" indent="0" algn="ctr">
              <a:buNone/>
            </a:pPr>
            <a:r>
              <a:rPr lang="en-US" sz="4600" b="1" dirty="0">
                <a:solidFill>
                  <a:srgbClr val="172B42"/>
                </a:solidFill>
                <a:latin typeface="Times New Roman" panose="02020603050405020304" pitchFamily="18" charset="0"/>
                <a:ea typeface="Inter" pitchFamily="34" charset="-122"/>
                <a:cs typeface="Times New Roman" panose="02020603050405020304" pitchFamily="18" charset="0"/>
              </a:rPr>
              <a:t>15-MINUTE BREAK</a:t>
            </a:r>
            <a:endParaRPr lang="en-US" sz="4600" dirty="0">
              <a:latin typeface="Times New Roman" panose="02020603050405020304" pitchFamily="18" charset="0"/>
              <a:cs typeface="Times New Roman" panose="02020603050405020304" pitchFamily="18" charset="0"/>
            </a:endParaRPr>
          </a:p>
        </p:txBody>
      </p:sp>
      <p:sp>
        <p:nvSpPr>
          <p:cNvPr id="3" name="Text 1"/>
          <p:cNvSpPr/>
          <p:nvPr/>
        </p:nvSpPr>
        <p:spPr>
          <a:xfrm>
            <a:off x="1499616" y="3200400"/>
            <a:ext cx="9235440" cy="512064"/>
          </a:xfrm>
          <a:prstGeom prst="rect">
            <a:avLst/>
          </a:prstGeom>
          <a:noFill/>
          <a:ln/>
        </p:spPr>
        <p:txBody>
          <a:bodyPr wrap="square" lIns="0" tIns="0" rIns="0" bIns="0" rtlCol="0" anchor="ctr">
            <a:normAutofit/>
          </a:bodyPr>
          <a:lstStyle/>
          <a:p>
            <a:pPr marL="0" indent="0" algn="ctr">
              <a:buNone/>
            </a:pPr>
            <a:r>
              <a:rPr lang="en-US" sz="1900" dirty="0">
                <a:solidFill>
                  <a:srgbClr val="5C6D80"/>
                </a:solidFill>
                <a:latin typeface="Times New Roman" panose="02020603050405020304" pitchFamily="18" charset="0"/>
                <a:ea typeface="Inter" pitchFamily="34" charset="-122"/>
                <a:cs typeface="Times New Roman" panose="02020603050405020304" pitchFamily="18" charset="0"/>
              </a:rPr>
              <a:t>11:00–11:15 AM  ·  We resume with the Data Engineer role.</a:t>
            </a:r>
            <a:endParaRPr lang="en-US" sz="1900" dirty="0">
              <a:latin typeface="Times New Roman" panose="02020603050405020304" pitchFamily="18" charset="0"/>
              <a:cs typeface="Times New Roman" panose="02020603050405020304" pitchFamily="18" charset="0"/>
            </a:endParaRPr>
          </a:p>
        </p:txBody>
      </p:sp>
      <p:sp>
        <p:nvSpPr>
          <p:cNvPr id="4" name="Shape 2"/>
          <p:cNvSpPr/>
          <p:nvPr/>
        </p:nvSpPr>
        <p:spPr>
          <a:xfrm>
            <a:off x="4919472" y="4224528"/>
            <a:ext cx="2377440" cy="73152"/>
          </a:xfrm>
          <a:prstGeom prst="roundRect">
            <a:avLst>
              <a:gd name="adj" fmla="val 37500"/>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5" name="Text 3"/>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TEA BREAK</a:t>
            </a:r>
            <a:endParaRPr lang="en-US" sz="1050" dirty="0">
              <a:latin typeface="Times New Roman" panose="02020603050405020304" pitchFamily="18" charset="0"/>
              <a:cs typeface="Times New Roman" panose="02020603050405020304" pitchFamily="18" charset="0"/>
            </a:endParaRPr>
          </a:p>
        </p:txBody>
      </p:sp>
      <p:sp>
        <p:nvSpPr>
          <p:cNvPr id="7" name="Shape 5"/>
          <p:cNvSpPr/>
          <p:nvPr/>
        </p:nvSpPr>
        <p:spPr>
          <a:xfrm>
            <a:off x="621792" y="658368"/>
            <a:ext cx="10948111" cy="0"/>
          </a:xfrm>
          <a:prstGeom prst="line">
            <a:avLst/>
          </a:prstGeom>
          <a:noFill/>
          <a:ln w="15240">
            <a:solidFill>
              <a:srgbClr val="34506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Shape 6"/>
          <p:cNvSpPr/>
          <p:nvPr/>
        </p:nvSpPr>
        <p:spPr>
          <a:xfrm>
            <a:off x="621792" y="6455664"/>
            <a:ext cx="10948111" cy="0"/>
          </a:xfrm>
          <a:prstGeom prst="line">
            <a:avLst/>
          </a:prstGeom>
          <a:noFill/>
          <a:ln w="12700">
            <a:solidFill>
              <a:srgbClr val="34506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0" name="Text 8"/>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19</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60120" y="1051560"/>
            <a:ext cx="2743200" cy="813816"/>
          </a:xfrm>
          <a:prstGeom prst="rect">
            <a:avLst/>
          </a:prstGeom>
          <a:noFill/>
          <a:ln/>
        </p:spPr>
        <p:txBody>
          <a:bodyPr wrap="square" lIns="0" tIns="0" rIns="0" bIns="0" rtlCol="0" anchor="ctr">
            <a:normAutofit fontScale="92500" lnSpcReduction="20000"/>
          </a:bodyPr>
          <a:lstStyle/>
          <a:p>
            <a:pPr marL="0" indent="0" algn="l">
              <a:buNone/>
            </a:pPr>
            <a:r>
              <a:rPr lang="en-US" sz="7100" b="1" dirty="0">
                <a:solidFill>
                  <a:srgbClr val="172B42"/>
                </a:solidFill>
                <a:latin typeface="Times New Roman" panose="02020603050405020304" pitchFamily="18" charset="0"/>
                <a:ea typeface="Inter" pitchFamily="34" charset="-122"/>
                <a:cs typeface="Times New Roman" panose="02020603050405020304" pitchFamily="18" charset="0"/>
              </a:rPr>
              <a:t>03</a:t>
            </a:r>
            <a:endParaRPr lang="en-US" sz="7100" dirty="0">
              <a:latin typeface="Times New Roman" panose="02020603050405020304" pitchFamily="18" charset="0"/>
              <a:cs typeface="Times New Roman" panose="02020603050405020304" pitchFamily="18" charset="0"/>
            </a:endParaRPr>
          </a:p>
        </p:txBody>
      </p:sp>
      <p:sp>
        <p:nvSpPr>
          <p:cNvPr id="3" name="Text 1"/>
          <p:cNvSpPr/>
          <p:nvPr/>
        </p:nvSpPr>
        <p:spPr>
          <a:xfrm>
            <a:off x="960120" y="2231136"/>
            <a:ext cx="10378440" cy="914400"/>
          </a:xfrm>
          <a:prstGeom prst="rect">
            <a:avLst/>
          </a:prstGeom>
          <a:noFill/>
          <a:ln/>
        </p:spPr>
        <p:txBody>
          <a:bodyPr wrap="square" lIns="0" tIns="0" rIns="0" bIns="0" rtlCol="0" anchor="ctr">
            <a:normAutofit/>
          </a:bodyPr>
          <a:lstStyle/>
          <a:p>
            <a:pPr marL="0" indent="0" algn="l">
              <a:buNone/>
            </a:pPr>
            <a:r>
              <a:rPr lang="en-US" sz="4400" b="1" dirty="0">
                <a:solidFill>
                  <a:srgbClr val="172B42"/>
                </a:solidFill>
                <a:latin typeface="Times New Roman" panose="02020603050405020304" pitchFamily="18" charset="0"/>
                <a:ea typeface="Inter" pitchFamily="34" charset="-122"/>
                <a:cs typeface="Times New Roman" panose="02020603050405020304" pitchFamily="18" charset="0"/>
              </a:rPr>
              <a:t>Behind every dashboard is a pipeline</a:t>
            </a:r>
            <a:endParaRPr lang="en-US" sz="4400" dirty="0">
              <a:latin typeface="Times New Roman" panose="02020603050405020304" pitchFamily="18" charset="0"/>
              <a:cs typeface="Times New Roman" panose="02020603050405020304" pitchFamily="18" charset="0"/>
            </a:endParaRPr>
          </a:p>
        </p:txBody>
      </p:sp>
      <p:sp>
        <p:nvSpPr>
          <p:cNvPr id="4" name="Text 2"/>
          <p:cNvSpPr/>
          <p:nvPr/>
        </p:nvSpPr>
        <p:spPr>
          <a:xfrm>
            <a:off x="996696" y="3429000"/>
            <a:ext cx="9829800" cy="914400"/>
          </a:xfrm>
          <a:prstGeom prst="rect">
            <a:avLst/>
          </a:prstGeom>
          <a:noFill/>
          <a:ln/>
        </p:spPr>
        <p:txBody>
          <a:bodyPr wrap="square" lIns="0" tIns="0" rIns="0" bIns="0" rtlCol="0" anchor="ctr">
            <a:normAutofit/>
          </a:bodyPr>
          <a:lstStyle/>
          <a:p>
            <a:pPr marL="0" indent="0" algn="l">
              <a:buNone/>
            </a:pPr>
            <a:r>
              <a:rPr lang="en-US" sz="2100" dirty="0">
                <a:solidFill>
                  <a:srgbClr val="5C6D80"/>
                </a:solidFill>
                <a:latin typeface="Times New Roman" panose="02020603050405020304" pitchFamily="18" charset="0"/>
                <a:ea typeface="Inter" pitchFamily="34" charset="-122"/>
                <a:cs typeface="Times New Roman" panose="02020603050405020304" pitchFamily="18" charset="0"/>
              </a:rPr>
              <a:t>A Data Engineer turns unreliable source records into data others can trust.</a:t>
            </a:r>
            <a:endParaRPr lang="en-US" sz="2100" dirty="0">
              <a:latin typeface="Times New Roman" panose="02020603050405020304" pitchFamily="18" charset="0"/>
              <a:cs typeface="Times New Roman" panose="02020603050405020304" pitchFamily="18" charset="0"/>
            </a:endParaRPr>
          </a:p>
        </p:txBody>
      </p:sp>
      <p:sp>
        <p:nvSpPr>
          <p:cNvPr id="5" name="Shape 3"/>
          <p:cNvSpPr/>
          <p:nvPr/>
        </p:nvSpPr>
        <p:spPr>
          <a:xfrm>
            <a:off x="978408" y="4718304"/>
            <a:ext cx="1106424" cy="91440"/>
          </a:xfrm>
          <a:prstGeom prst="roundRect">
            <a:avLst>
              <a:gd name="adj" fmla="val 40000"/>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6" name="Text 4"/>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ENGINEER</a:t>
            </a:r>
            <a:endParaRPr lang="en-US" sz="1050" dirty="0">
              <a:latin typeface="Times New Roman" panose="02020603050405020304" pitchFamily="18" charset="0"/>
              <a:cs typeface="Times New Roman" panose="02020603050405020304" pitchFamily="18" charset="0"/>
            </a:endParaRPr>
          </a:p>
        </p:txBody>
      </p:sp>
      <p:sp>
        <p:nvSpPr>
          <p:cNvPr id="8" name="Shape 6"/>
          <p:cNvSpPr/>
          <p:nvPr/>
        </p:nvSpPr>
        <p:spPr>
          <a:xfrm>
            <a:off x="621792" y="658368"/>
            <a:ext cx="10948111" cy="0"/>
          </a:xfrm>
          <a:prstGeom prst="line">
            <a:avLst/>
          </a:prstGeom>
          <a:noFill/>
          <a:ln w="15240">
            <a:solidFill>
              <a:srgbClr val="34506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Shape 7"/>
          <p:cNvSpPr/>
          <p:nvPr/>
        </p:nvSpPr>
        <p:spPr>
          <a:xfrm>
            <a:off x="621792" y="6455664"/>
            <a:ext cx="10948111" cy="0"/>
          </a:xfrm>
          <a:prstGeom prst="line">
            <a:avLst/>
          </a:prstGeom>
          <a:noFill/>
          <a:ln w="12700">
            <a:solidFill>
              <a:srgbClr val="34506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0" name="Text 8"/>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1" name="Text 9"/>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20</a:t>
            </a:r>
            <a:endParaRPr lang="en-US" sz="900" dirty="0">
              <a:latin typeface="Times New Roman" panose="02020603050405020304" pitchFamily="18" charset="0"/>
              <a:cs typeface="Times New Roman" panose="02020603050405020304" pitchFamily="18" charset="0"/>
            </a:endParaRPr>
          </a:p>
        </p:txBody>
      </p:sp>
      <p:sp>
        <p:nvSpPr>
          <p:cNvPr id="12" name="Section underline"/>
          <p:cNvSpPr/>
          <p:nvPr/>
        </p:nvSpPr>
        <p:spPr>
          <a:xfrm>
            <a:off x="987552" y="4846320"/>
            <a:ext cx="1005840" cy="32004"/>
          </a:xfrm>
          <a:prstGeom prst="rect">
            <a:avLst/>
          </a:prstGeom>
          <a:solidFill>
            <a:srgbClr val="10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621792" y="2487168"/>
            <a:ext cx="64008" cy="2834640"/>
          </a:xfrm>
          <a:prstGeom prst="rect">
            <a:avLst/>
          </a:prstGeom>
          <a:solidFill>
            <a:srgbClr val="D95E6A"/>
          </a:solidFill>
          <a:ln w="12700">
            <a:solidFill>
              <a:srgbClr val="D95E6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859536"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Reception export</a:t>
            </a:r>
            <a:endParaRPr lang="en-US" sz="1900" dirty="0">
              <a:latin typeface="Times New Roman" panose="02020603050405020304" pitchFamily="18" charset="0"/>
              <a:cs typeface="Times New Roman" panose="02020603050405020304" pitchFamily="18" charset="0"/>
            </a:endParaRPr>
          </a:p>
        </p:txBody>
      </p:sp>
      <p:sp>
        <p:nvSpPr>
          <p:cNvPr id="5" name="Text 3"/>
          <p:cNvSpPr/>
          <p:nvPr/>
        </p:nvSpPr>
        <p:spPr>
          <a:xfrm>
            <a:off x="859536"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A daily appointments CSV with repeated or missing IDs.</a:t>
            </a:r>
            <a:endParaRPr lang="en-US" sz="1510" dirty="0">
              <a:latin typeface="Times New Roman" panose="02020603050405020304" pitchFamily="18" charset="0"/>
              <a:cs typeface="Times New Roman" panose="02020603050405020304" pitchFamily="18" charset="0"/>
            </a:endParaRPr>
          </a:p>
        </p:txBody>
      </p:sp>
      <p:sp>
        <p:nvSpPr>
          <p:cNvPr id="6" name="Shape 4"/>
          <p:cNvSpPr/>
          <p:nvPr/>
        </p:nvSpPr>
        <p:spPr>
          <a:xfrm>
            <a:off x="4335170"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4335170" y="2487168"/>
            <a:ext cx="64008" cy="2834640"/>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4572914"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Doctor roster</a:t>
            </a:r>
            <a:endParaRPr lang="en-US" sz="1900" dirty="0">
              <a:latin typeface="Times New Roman" panose="02020603050405020304" pitchFamily="18" charset="0"/>
              <a:cs typeface="Times New Roman" panose="02020603050405020304" pitchFamily="18" charset="0"/>
            </a:endParaRPr>
          </a:p>
        </p:txBody>
      </p:sp>
      <p:sp>
        <p:nvSpPr>
          <p:cNvPr id="9" name="Text 7"/>
          <p:cNvSpPr/>
          <p:nvPr/>
        </p:nvSpPr>
        <p:spPr>
          <a:xfrm>
            <a:off x="4572914"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A separate list of doctors and specializations.</a:t>
            </a:r>
            <a:endParaRPr lang="en-US" sz="1510" dirty="0">
              <a:latin typeface="Times New Roman" panose="02020603050405020304" pitchFamily="18" charset="0"/>
              <a:cs typeface="Times New Roman" panose="02020603050405020304" pitchFamily="18" charset="0"/>
            </a:endParaRPr>
          </a:p>
        </p:txBody>
      </p:sp>
      <p:sp>
        <p:nvSpPr>
          <p:cNvPr id="10" name="Shape 8"/>
          <p:cNvSpPr/>
          <p:nvPr/>
        </p:nvSpPr>
        <p:spPr>
          <a:xfrm>
            <a:off x="8048549"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Shape 9"/>
          <p:cNvSpPr/>
          <p:nvPr/>
        </p:nvSpPr>
        <p:spPr>
          <a:xfrm>
            <a:off x="8048549" y="2487168"/>
            <a:ext cx="64008" cy="2834640"/>
          </a:xfrm>
          <a:prstGeom prst="rect">
            <a:avLst/>
          </a:prstGeom>
          <a:solidFill>
            <a:srgbClr val="E8A23A"/>
          </a:solidFill>
          <a:ln w="12700">
            <a:solidFill>
              <a:srgbClr val="E8A23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Text 10"/>
          <p:cNvSpPr/>
          <p:nvPr/>
        </p:nvSpPr>
        <p:spPr>
          <a:xfrm>
            <a:off x="8286293"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Billing system</a:t>
            </a:r>
            <a:endParaRPr lang="en-US" sz="1900" dirty="0">
              <a:latin typeface="Times New Roman" panose="02020603050405020304" pitchFamily="18" charset="0"/>
              <a:cs typeface="Times New Roman" panose="02020603050405020304" pitchFamily="18" charset="0"/>
            </a:endParaRPr>
          </a:p>
        </p:txBody>
      </p:sp>
      <p:sp>
        <p:nvSpPr>
          <p:cNvPr id="13" name="Text 11"/>
          <p:cNvSpPr/>
          <p:nvPr/>
        </p:nvSpPr>
        <p:spPr>
          <a:xfrm>
            <a:off x="8286293"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Charges and payment records using different formats.</a:t>
            </a:r>
            <a:endParaRPr lang="en-US" sz="1510" dirty="0">
              <a:latin typeface="Times New Roman" panose="02020603050405020304" pitchFamily="18" charset="0"/>
              <a:cs typeface="Times New Roman" panose="02020603050405020304" pitchFamily="18" charset="0"/>
            </a:endParaRPr>
          </a:p>
        </p:txBody>
      </p:sp>
      <p:sp>
        <p:nvSpPr>
          <p:cNvPr id="14" name="Shape 12"/>
          <p:cNvSpPr/>
          <p:nvPr/>
        </p:nvSpPr>
        <p:spPr>
          <a:xfrm>
            <a:off x="621792" y="5650992"/>
            <a:ext cx="10948111" cy="493776"/>
          </a:xfrm>
          <a:prstGeom prst="roundRect">
            <a:avLst>
              <a:gd name="adj" fmla="val 22222"/>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5" name="Text 13"/>
          <p:cNvSpPr/>
          <p:nvPr/>
        </p:nvSpPr>
        <p:spPr>
          <a:xfrm>
            <a:off x="822960" y="5705856"/>
            <a:ext cx="1316736" cy="365760"/>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TAKEAWAY</a:t>
            </a:r>
            <a:endParaRPr lang="en-US" sz="1030" dirty="0">
              <a:latin typeface="Times New Roman" panose="02020603050405020304" pitchFamily="18" charset="0"/>
              <a:cs typeface="Times New Roman" panose="02020603050405020304" pitchFamily="18" charset="0"/>
            </a:endParaRPr>
          </a:p>
        </p:txBody>
      </p:sp>
      <p:sp>
        <p:nvSpPr>
          <p:cNvPr id="16" name="Text 14"/>
          <p:cNvSpPr/>
          <p:nvPr/>
        </p:nvSpPr>
        <p:spPr>
          <a:xfrm>
            <a:off x="2221992" y="5705856"/>
            <a:ext cx="9101023" cy="365760"/>
          </a:xfrm>
          <a:prstGeom prst="rect">
            <a:avLst/>
          </a:prstGeom>
          <a:noFill/>
          <a:ln/>
        </p:spPr>
        <p:txBody>
          <a:bodyPr wrap="square" lIns="0" tIns="0" rIns="0" bIns="0" rtlCol="0" anchor="ctr">
            <a:normAutofit/>
          </a:bodyPr>
          <a:lstStyle/>
          <a:p>
            <a:pPr marL="0" indent="0" algn="l">
              <a:buNone/>
            </a:pPr>
            <a:r>
              <a:rPr lang="en-US" sz="1340" b="1" dirty="0">
                <a:solidFill>
                  <a:srgbClr val="172B42"/>
                </a:solidFill>
                <a:latin typeface="Times New Roman" panose="02020603050405020304" pitchFamily="18" charset="0"/>
                <a:ea typeface="Inter" pitchFamily="34" charset="-122"/>
                <a:cs typeface="Times New Roman" panose="02020603050405020304" pitchFamily="18" charset="0"/>
              </a:rPr>
              <a:t>The engineer’s task is to make these sources usable together.</a:t>
            </a:r>
            <a:endParaRPr lang="en-US" sz="1340" dirty="0">
              <a:latin typeface="Times New Roman" panose="02020603050405020304" pitchFamily="18" charset="0"/>
              <a:cs typeface="Times New Roman" panose="02020603050405020304" pitchFamily="18" charset="0"/>
            </a:endParaRPr>
          </a:p>
        </p:txBody>
      </p:sp>
      <p:sp>
        <p:nvSpPr>
          <p:cNvPr id="17" name="Text 15"/>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The messy reality behind the scenes</a:t>
            </a:r>
            <a:endParaRPr lang="en-US" sz="3180" dirty="0">
              <a:latin typeface="Times New Roman" panose="02020603050405020304" pitchFamily="18" charset="0"/>
              <a:cs typeface="Times New Roman" panose="02020603050405020304" pitchFamily="18" charset="0"/>
            </a:endParaRPr>
          </a:p>
        </p:txBody>
      </p:sp>
      <p:sp>
        <p:nvSpPr>
          <p:cNvPr id="18" name="Text 16"/>
          <p:cNvSpPr/>
          <p:nvPr/>
        </p:nvSpPr>
        <p:spPr>
          <a:xfrm>
            <a:off x="621792" y="1728216"/>
            <a:ext cx="10652760" cy="548640"/>
          </a:xfrm>
          <a:prstGeom prst="rect">
            <a:avLst/>
          </a:prstGeom>
          <a:noFill/>
          <a:ln/>
        </p:spPr>
        <p:txBody>
          <a:bodyPr wrap="square" lIns="0" tIns="0" rIns="0" bIns="0" rtlCol="0" anchor="t">
            <a:normAutofit/>
          </a:bodyPr>
          <a:lstStyle/>
          <a:p>
            <a:pPr marL="0" indent="0" algn="l">
              <a:buNone/>
            </a:pPr>
            <a:r>
              <a:rPr lang="en-US" sz="1550" dirty="0">
                <a:solidFill>
                  <a:srgbClr val="5C6D80"/>
                </a:solidFill>
                <a:latin typeface="Times New Roman" panose="02020603050405020304" pitchFamily="18" charset="0"/>
                <a:ea typeface="Inter" pitchFamily="34" charset="-122"/>
                <a:cs typeface="Times New Roman" panose="02020603050405020304" pitchFamily="18" charset="0"/>
              </a:rPr>
              <a:t>Three sources that look useful until we try combining them.</a:t>
            </a:r>
            <a:endParaRPr lang="en-US" sz="1550" dirty="0">
              <a:latin typeface="Times New Roman" panose="02020603050405020304" pitchFamily="18" charset="0"/>
              <a:cs typeface="Times New Roman" panose="02020603050405020304" pitchFamily="18" charset="0"/>
            </a:endParaRPr>
          </a:p>
        </p:txBody>
      </p:sp>
      <p:sp>
        <p:nvSpPr>
          <p:cNvPr id="19" name="Text 17"/>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ENGINEER</a:t>
            </a:r>
            <a:endParaRPr lang="en-US" sz="1050" dirty="0">
              <a:latin typeface="Times New Roman" panose="02020603050405020304" pitchFamily="18" charset="0"/>
              <a:cs typeface="Times New Roman" panose="02020603050405020304" pitchFamily="18" charset="0"/>
            </a:endParaRPr>
          </a:p>
        </p:txBody>
      </p:sp>
      <p:sp>
        <p:nvSpPr>
          <p:cNvPr id="21" name="Shape 19"/>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2" name="Shape 20"/>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3" name="Text 21"/>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24" name="Text 22"/>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21</a:t>
            </a:r>
            <a:endParaRPr lang="en-US" sz="900" dirty="0">
              <a:latin typeface="Times New Roman" panose="02020603050405020304" pitchFamily="18" charset="0"/>
              <a:cs typeface="Times New Roman" panose="02020603050405020304" pitchFamily="18" charset="0"/>
            </a:endParaRPr>
          </a:p>
        </p:txBody>
      </p:sp>
      <p:sp>
        <p:nvSpPr>
          <p:cNvPr id="25" name="IMAGE PLACEHOLDER | Appointments CSV preview"/>
          <p:cNvSpPr/>
          <p:nvPr/>
        </p:nvSpPr>
        <p:spPr>
          <a:xfrm>
            <a:off x="868680" y="4325112"/>
            <a:ext cx="2944368" cy="795528"/>
          </a:xfrm>
          <a:prstGeom prst="roundRect">
            <a:avLst>
              <a:gd name="adj" fmla="val 10000"/>
            </a:avLst>
          </a:prstGeom>
          <a:solidFill>
            <a:srgbClr val="F1F7FA"/>
          </a:solidFill>
          <a:ln w="14604">
            <a:solidFill>
              <a:srgbClr val="98B2C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6" name="Rectangle 25"/>
          <p:cNvSpPr/>
          <p:nvPr/>
        </p:nvSpPr>
        <p:spPr>
          <a:xfrm>
            <a:off x="978407" y="4581144"/>
            <a:ext cx="347472" cy="265176"/>
          </a:xfrm>
          <a:prstGeom prst="rect">
            <a:avLst/>
          </a:prstGeom>
          <a:noFill/>
          <a:ln w="14604">
            <a:solidFill>
              <a:srgbClr val="7D9E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7" name="Oval 26"/>
          <p:cNvSpPr/>
          <p:nvPr/>
        </p:nvSpPr>
        <p:spPr>
          <a:xfrm>
            <a:off x="1193840" y="4631436"/>
            <a:ext cx="68580" cy="68580"/>
          </a:xfrm>
          <a:prstGeom prst="ellipse">
            <a:avLst/>
          </a:prstGeom>
          <a:solidFill>
            <a:srgbClr val="7D9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8" name="PLACEHOLDER LABEL | Appointments CSV preview"/>
          <p:cNvSpPr txBox="1"/>
          <p:nvPr/>
        </p:nvSpPr>
        <p:spPr>
          <a:xfrm>
            <a:off x="1389888" y="4608909"/>
            <a:ext cx="2331720" cy="246221"/>
          </a:xfrm>
          <a:prstGeom prst="rect">
            <a:avLst/>
          </a:prstGeom>
          <a:noFill/>
        </p:spPr>
        <p:txBody>
          <a:bodyPr wrap="square" anchor="ctr">
            <a:spAutoFit/>
          </a:bodyPr>
          <a:lstStyle/>
          <a:p>
            <a:pPr algn="l"/>
            <a:r>
              <a:rPr sz="1000" b="1">
                <a:solidFill>
                  <a:srgbClr val="4F7183"/>
                </a:solidFill>
                <a:latin typeface="Times New Roman" panose="02020603050405020304" pitchFamily="18" charset="0"/>
                <a:cs typeface="Times New Roman" panose="02020603050405020304" pitchFamily="18" charset="0"/>
              </a:rPr>
              <a:t>Appointments CSV preview</a:t>
            </a:r>
          </a:p>
        </p:txBody>
      </p:sp>
      <p:sp>
        <p:nvSpPr>
          <p:cNvPr id="29" name="IMAGE PLACEHOLDER | Doctor roster preview"/>
          <p:cNvSpPr/>
          <p:nvPr/>
        </p:nvSpPr>
        <p:spPr>
          <a:xfrm>
            <a:off x="4581144" y="4325112"/>
            <a:ext cx="2944368" cy="795528"/>
          </a:xfrm>
          <a:prstGeom prst="roundRect">
            <a:avLst>
              <a:gd name="adj" fmla="val 10000"/>
            </a:avLst>
          </a:prstGeom>
          <a:solidFill>
            <a:srgbClr val="F1F7FA"/>
          </a:solidFill>
          <a:ln w="14604">
            <a:solidFill>
              <a:srgbClr val="98B2C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0" name="Rectangle 29"/>
          <p:cNvSpPr/>
          <p:nvPr/>
        </p:nvSpPr>
        <p:spPr>
          <a:xfrm>
            <a:off x="4690872" y="4581144"/>
            <a:ext cx="347472" cy="265176"/>
          </a:xfrm>
          <a:prstGeom prst="rect">
            <a:avLst/>
          </a:prstGeom>
          <a:noFill/>
          <a:ln w="14604">
            <a:solidFill>
              <a:srgbClr val="7D9E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1" name="Oval 30"/>
          <p:cNvSpPr/>
          <p:nvPr/>
        </p:nvSpPr>
        <p:spPr>
          <a:xfrm>
            <a:off x="4906304" y="4631436"/>
            <a:ext cx="68580" cy="68580"/>
          </a:xfrm>
          <a:prstGeom prst="ellipse">
            <a:avLst/>
          </a:prstGeom>
          <a:solidFill>
            <a:srgbClr val="7D9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2" name="PLACEHOLDER LABEL | Doctor roster preview"/>
          <p:cNvSpPr txBox="1"/>
          <p:nvPr/>
        </p:nvSpPr>
        <p:spPr>
          <a:xfrm>
            <a:off x="5102352" y="4608909"/>
            <a:ext cx="2331720" cy="246221"/>
          </a:xfrm>
          <a:prstGeom prst="rect">
            <a:avLst/>
          </a:prstGeom>
          <a:noFill/>
        </p:spPr>
        <p:txBody>
          <a:bodyPr wrap="square" anchor="ctr">
            <a:spAutoFit/>
          </a:bodyPr>
          <a:lstStyle/>
          <a:p>
            <a:pPr algn="l"/>
            <a:r>
              <a:rPr sz="1000" b="1">
                <a:solidFill>
                  <a:srgbClr val="4F7183"/>
                </a:solidFill>
                <a:latin typeface="Times New Roman" panose="02020603050405020304" pitchFamily="18" charset="0"/>
                <a:cs typeface="Times New Roman" panose="02020603050405020304" pitchFamily="18" charset="0"/>
              </a:rPr>
              <a:t>Doctor roster preview</a:t>
            </a:r>
          </a:p>
        </p:txBody>
      </p:sp>
      <p:sp>
        <p:nvSpPr>
          <p:cNvPr id="33" name="IMAGE PLACEHOLDER | Billing CSV preview"/>
          <p:cNvSpPr/>
          <p:nvPr/>
        </p:nvSpPr>
        <p:spPr>
          <a:xfrm>
            <a:off x="8293608" y="4325112"/>
            <a:ext cx="2944368" cy="795528"/>
          </a:xfrm>
          <a:prstGeom prst="roundRect">
            <a:avLst>
              <a:gd name="adj" fmla="val 10000"/>
            </a:avLst>
          </a:prstGeom>
          <a:solidFill>
            <a:srgbClr val="F1F7FA"/>
          </a:solidFill>
          <a:ln w="14604">
            <a:solidFill>
              <a:srgbClr val="98B2C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4" name="Rectangle 33"/>
          <p:cNvSpPr/>
          <p:nvPr/>
        </p:nvSpPr>
        <p:spPr>
          <a:xfrm>
            <a:off x="8403336" y="4581144"/>
            <a:ext cx="347472" cy="265176"/>
          </a:xfrm>
          <a:prstGeom prst="rect">
            <a:avLst/>
          </a:prstGeom>
          <a:noFill/>
          <a:ln w="14604">
            <a:solidFill>
              <a:srgbClr val="7D9E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5" name="Oval 34"/>
          <p:cNvSpPr/>
          <p:nvPr/>
        </p:nvSpPr>
        <p:spPr>
          <a:xfrm>
            <a:off x="8618768" y="4631436"/>
            <a:ext cx="68580" cy="68580"/>
          </a:xfrm>
          <a:prstGeom prst="ellipse">
            <a:avLst/>
          </a:prstGeom>
          <a:solidFill>
            <a:srgbClr val="7D9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6" name="PLACEHOLDER LABEL | Billing CSV preview"/>
          <p:cNvSpPr txBox="1"/>
          <p:nvPr/>
        </p:nvSpPr>
        <p:spPr>
          <a:xfrm>
            <a:off x="8814816" y="4608909"/>
            <a:ext cx="2331720" cy="246221"/>
          </a:xfrm>
          <a:prstGeom prst="rect">
            <a:avLst/>
          </a:prstGeom>
          <a:noFill/>
        </p:spPr>
        <p:txBody>
          <a:bodyPr wrap="square" anchor="ctr">
            <a:spAutoFit/>
          </a:bodyPr>
          <a:lstStyle/>
          <a:p>
            <a:pPr algn="l"/>
            <a:r>
              <a:rPr sz="1000" b="1">
                <a:solidFill>
                  <a:srgbClr val="4F7183"/>
                </a:solidFill>
                <a:latin typeface="Times New Roman" panose="02020603050405020304" pitchFamily="18" charset="0"/>
                <a:cs typeface="Times New Roman" panose="02020603050405020304" pitchFamily="18" charset="0"/>
              </a:rPr>
              <a:t>Billing CSV preview</a:t>
            </a:r>
          </a:p>
        </p:txBody>
      </p:sp>
      <p:pic>
        <p:nvPicPr>
          <p:cNvPr id="37" name="Picture 36">
            <a:extLst>
              <a:ext uri="{FF2B5EF4-FFF2-40B4-BE49-F238E27FC236}">
                <a16:creationId xmlns:a16="http://schemas.microsoft.com/office/drawing/2014/main" id="{C129DF9D-DEDA-8269-24F0-1E9F2A729757}"/>
              </a:ext>
            </a:extLst>
          </p:cNvPr>
          <p:cNvPicPr>
            <a:picLocks noChangeAspect="1"/>
          </p:cNvPicPr>
          <p:nvPr/>
        </p:nvPicPr>
        <p:blipFill>
          <a:blip r:embed="rId3"/>
          <a:srcRect l="6767" t="27797" r="5573"/>
          <a:stretch>
            <a:fillRect/>
          </a:stretch>
        </p:blipFill>
        <p:spPr>
          <a:xfrm>
            <a:off x="749808" y="4169477"/>
            <a:ext cx="3164433" cy="1060890"/>
          </a:xfrm>
          <a:prstGeom prst="rect">
            <a:avLst/>
          </a:prstGeom>
        </p:spPr>
      </p:pic>
      <p:pic>
        <p:nvPicPr>
          <p:cNvPr id="39" name="Picture 38">
            <a:extLst>
              <a:ext uri="{FF2B5EF4-FFF2-40B4-BE49-F238E27FC236}">
                <a16:creationId xmlns:a16="http://schemas.microsoft.com/office/drawing/2014/main" id="{FBF50FD0-7795-0C39-4023-FC338B19878E}"/>
              </a:ext>
            </a:extLst>
          </p:cNvPr>
          <p:cNvPicPr>
            <a:picLocks noChangeAspect="1"/>
          </p:cNvPicPr>
          <p:nvPr/>
        </p:nvPicPr>
        <p:blipFill>
          <a:blip r:embed="rId4"/>
          <a:srcRect l="6519" t="27821" r="6163"/>
          <a:stretch>
            <a:fillRect/>
          </a:stretch>
        </p:blipFill>
        <p:spPr>
          <a:xfrm>
            <a:off x="4491531" y="4279724"/>
            <a:ext cx="3263633" cy="987220"/>
          </a:xfrm>
          <a:prstGeom prst="rect">
            <a:avLst/>
          </a:prstGeom>
        </p:spPr>
      </p:pic>
      <p:pic>
        <p:nvPicPr>
          <p:cNvPr id="41" name="Picture 40">
            <a:extLst>
              <a:ext uri="{FF2B5EF4-FFF2-40B4-BE49-F238E27FC236}">
                <a16:creationId xmlns:a16="http://schemas.microsoft.com/office/drawing/2014/main" id="{83288CAB-6A71-C126-EA84-342CB7CB0B75}"/>
              </a:ext>
            </a:extLst>
          </p:cNvPr>
          <p:cNvPicPr>
            <a:picLocks noChangeAspect="1"/>
          </p:cNvPicPr>
          <p:nvPr/>
        </p:nvPicPr>
        <p:blipFill>
          <a:blip r:embed="rId5"/>
          <a:srcRect l="6746" t="22999" r="5937"/>
          <a:stretch>
            <a:fillRect/>
          </a:stretch>
        </p:blipFill>
        <p:spPr>
          <a:xfrm>
            <a:off x="8226857" y="4265822"/>
            <a:ext cx="3252548" cy="9279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2633472"/>
            <a:ext cx="3515258"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621792" y="2633472"/>
            <a:ext cx="3515258" cy="73152"/>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813816" y="2871216"/>
            <a:ext cx="3131210"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Extract</a:t>
            </a:r>
            <a:endParaRPr lang="en-US" sz="2000" dirty="0">
              <a:latin typeface="Times New Roman" panose="02020603050405020304" pitchFamily="18" charset="0"/>
              <a:cs typeface="Times New Roman" panose="02020603050405020304" pitchFamily="18" charset="0"/>
            </a:endParaRPr>
          </a:p>
        </p:txBody>
      </p:sp>
      <p:sp>
        <p:nvSpPr>
          <p:cNvPr id="5" name="Text 3"/>
          <p:cNvSpPr/>
          <p:nvPr/>
        </p:nvSpPr>
        <p:spPr>
          <a:xfrm>
            <a:off x="813816" y="3401568"/>
            <a:ext cx="3131210"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Read source records</a:t>
            </a:r>
            <a:endParaRPr lang="en-US" sz="1430" dirty="0">
              <a:latin typeface="Times New Roman" panose="02020603050405020304" pitchFamily="18" charset="0"/>
              <a:cs typeface="Times New Roman" panose="02020603050405020304" pitchFamily="18" charset="0"/>
            </a:endParaRPr>
          </a:p>
        </p:txBody>
      </p:sp>
      <p:sp>
        <p:nvSpPr>
          <p:cNvPr id="6" name="Shape 4"/>
          <p:cNvSpPr/>
          <p:nvPr/>
        </p:nvSpPr>
        <p:spPr>
          <a:xfrm>
            <a:off x="4152595" y="3566160"/>
            <a:ext cx="164592" cy="301752"/>
          </a:xfrm>
          <a:prstGeom prst="chevron">
            <a:avLst/>
          </a:prstGeom>
          <a:solidFill>
            <a:srgbClr val="B5C2D0"/>
          </a:solidFill>
          <a:ln w="12700">
            <a:solidFill>
              <a:srgbClr val="B5C2D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4338218" y="2633472"/>
            <a:ext cx="3515258"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Shape 6"/>
          <p:cNvSpPr/>
          <p:nvPr/>
        </p:nvSpPr>
        <p:spPr>
          <a:xfrm>
            <a:off x="4338218" y="2633472"/>
            <a:ext cx="3515258" cy="73152"/>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4530242" y="2871216"/>
            <a:ext cx="3131210"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Transform</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4530242" y="3401568"/>
            <a:ext cx="3131210"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Validate and reshape</a:t>
            </a:r>
            <a:endParaRPr lang="en-US" sz="1430" dirty="0">
              <a:latin typeface="Times New Roman" panose="02020603050405020304" pitchFamily="18" charset="0"/>
              <a:cs typeface="Times New Roman" panose="02020603050405020304" pitchFamily="18" charset="0"/>
            </a:endParaRPr>
          </a:p>
        </p:txBody>
      </p:sp>
      <p:sp>
        <p:nvSpPr>
          <p:cNvPr id="11" name="Shape 9"/>
          <p:cNvSpPr/>
          <p:nvPr/>
        </p:nvSpPr>
        <p:spPr>
          <a:xfrm>
            <a:off x="7869022" y="3566160"/>
            <a:ext cx="164592" cy="301752"/>
          </a:xfrm>
          <a:prstGeom prst="chevron">
            <a:avLst/>
          </a:prstGeom>
          <a:solidFill>
            <a:srgbClr val="B5C2D0"/>
          </a:solidFill>
          <a:ln w="12700">
            <a:solidFill>
              <a:srgbClr val="B5C2D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Shape 10"/>
          <p:cNvSpPr/>
          <p:nvPr/>
        </p:nvSpPr>
        <p:spPr>
          <a:xfrm>
            <a:off x="8054645" y="2633472"/>
            <a:ext cx="3515258"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3" name="Shape 11"/>
          <p:cNvSpPr/>
          <p:nvPr/>
        </p:nvSpPr>
        <p:spPr>
          <a:xfrm>
            <a:off x="8054645" y="2633472"/>
            <a:ext cx="3515258" cy="73152"/>
          </a:xfrm>
          <a:prstGeom prst="rect">
            <a:avLst/>
          </a:prstGeom>
          <a:solidFill>
            <a:srgbClr val="8052D8"/>
          </a:solidFill>
          <a:ln w="12700">
            <a:solidFill>
              <a:srgbClr val="8052D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4" name="Text 12"/>
          <p:cNvSpPr/>
          <p:nvPr/>
        </p:nvSpPr>
        <p:spPr>
          <a:xfrm>
            <a:off x="8246669" y="2871216"/>
            <a:ext cx="3131210"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Load</a:t>
            </a:r>
            <a:endParaRPr lang="en-US" sz="2000" dirty="0">
              <a:latin typeface="Times New Roman" panose="02020603050405020304" pitchFamily="18" charset="0"/>
              <a:cs typeface="Times New Roman" panose="02020603050405020304" pitchFamily="18" charset="0"/>
            </a:endParaRPr>
          </a:p>
        </p:txBody>
      </p:sp>
      <p:sp>
        <p:nvSpPr>
          <p:cNvPr id="15" name="Text 13"/>
          <p:cNvSpPr/>
          <p:nvPr/>
        </p:nvSpPr>
        <p:spPr>
          <a:xfrm>
            <a:off x="8246669" y="3401568"/>
            <a:ext cx="3131210"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Put into target store</a:t>
            </a:r>
            <a:endParaRPr lang="en-US" sz="1430" dirty="0">
              <a:latin typeface="Times New Roman" panose="02020603050405020304" pitchFamily="18" charset="0"/>
              <a:cs typeface="Times New Roman" panose="02020603050405020304" pitchFamily="18" charset="0"/>
            </a:endParaRPr>
          </a:p>
        </p:txBody>
      </p:sp>
      <p:sp>
        <p:nvSpPr>
          <p:cNvPr id="16" name="Shape 14"/>
          <p:cNvSpPr/>
          <p:nvPr/>
        </p:nvSpPr>
        <p:spPr>
          <a:xfrm>
            <a:off x="621792" y="5650992"/>
            <a:ext cx="10948111" cy="493776"/>
          </a:xfrm>
          <a:prstGeom prst="roundRect">
            <a:avLst>
              <a:gd name="adj" fmla="val 22222"/>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Text 15"/>
          <p:cNvSpPr/>
          <p:nvPr/>
        </p:nvSpPr>
        <p:spPr>
          <a:xfrm>
            <a:off x="822960" y="5705856"/>
            <a:ext cx="1316736" cy="365760"/>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REMEMBER</a:t>
            </a:r>
            <a:endParaRPr lang="en-US" sz="1030" dirty="0">
              <a:latin typeface="Times New Roman" panose="02020603050405020304" pitchFamily="18" charset="0"/>
              <a:cs typeface="Times New Roman" panose="02020603050405020304" pitchFamily="18" charset="0"/>
            </a:endParaRPr>
          </a:p>
        </p:txBody>
      </p:sp>
      <p:sp>
        <p:nvSpPr>
          <p:cNvPr id="18" name="Text 16"/>
          <p:cNvSpPr/>
          <p:nvPr/>
        </p:nvSpPr>
        <p:spPr>
          <a:xfrm>
            <a:off x="2221992" y="5705856"/>
            <a:ext cx="9101023" cy="365760"/>
          </a:xfrm>
          <a:prstGeom prst="rect">
            <a:avLst/>
          </a:prstGeom>
          <a:noFill/>
          <a:ln/>
        </p:spPr>
        <p:txBody>
          <a:bodyPr wrap="square" lIns="0" tIns="0" rIns="0" bIns="0" rtlCol="0" anchor="ctr">
            <a:normAutofit/>
          </a:bodyPr>
          <a:lstStyle/>
          <a:p>
            <a:pPr marL="0" indent="0" algn="l">
              <a:buNone/>
            </a:pPr>
            <a:r>
              <a:rPr lang="en-US" sz="1340" b="1" dirty="0">
                <a:solidFill>
                  <a:srgbClr val="172B42"/>
                </a:solidFill>
                <a:latin typeface="Times New Roman" panose="02020603050405020304" pitchFamily="18" charset="0"/>
                <a:ea typeface="Inter" pitchFamily="34" charset="-122"/>
                <a:cs typeface="Times New Roman" panose="02020603050405020304" pitchFamily="18" charset="0"/>
              </a:rPr>
              <a:t>ETL defines the order of movement and processing.</a:t>
            </a:r>
            <a:endParaRPr lang="en-US" sz="1340" dirty="0">
              <a:latin typeface="Times New Roman" panose="02020603050405020304" pitchFamily="18" charset="0"/>
              <a:cs typeface="Times New Roman" panose="02020603050405020304" pitchFamily="18" charset="0"/>
            </a:endParaRPr>
          </a:p>
        </p:txBody>
      </p:sp>
      <p:sp>
        <p:nvSpPr>
          <p:cNvPr id="19" name="Text 17"/>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ETL: three verbs to remember</a:t>
            </a:r>
            <a:endParaRPr lang="en-US" sz="3180" dirty="0">
              <a:latin typeface="Times New Roman" panose="02020603050405020304" pitchFamily="18" charset="0"/>
              <a:cs typeface="Times New Roman" panose="02020603050405020304" pitchFamily="18" charset="0"/>
            </a:endParaRPr>
          </a:p>
        </p:txBody>
      </p:sp>
      <p:sp>
        <p:nvSpPr>
          <p:cNvPr id="20" name="Text 18"/>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ENGINEER</a:t>
            </a:r>
            <a:endParaRPr lang="en-US" sz="1050" dirty="0">
              <a:latin typeface="Times New Roman" panose="02020603050405020304" pitchFamily="18" charset="0"/>
              <a:cs typeface="Times New Roman" panose="02020603050405020304" pitchFamily="18" charset="0"/>
            </a:endParaRPr>
          </a:p>
        </p:txBody>
      </p:sp>
      <p:sp>
        <p:nvSpPr>
          <p:cNvPr id="22" name="Shape 20"/>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3" name="Shape 21"/>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4" name="Text 22"/>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25" name="Text 23"/>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22</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7824" y="2432304"/>
            <a:ext cx="5074920" cy="2807208"/>
          </a:xfrm>
          <a:prstGeom prst="roundRect">
            <a:avLst>
              <a:gd name="adj" fmla="val 4560"/>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877824" y="2432304"/>
            <a:ext cx="64008" cy="2807208"/>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1115568" y="2651760"/>
            <a:ext cx="4636008" cy="502920"/>
          </a:xfrm>
          <a:prstGeom prst="rect">
            <a:avLst/>
          </a:prstGeom>
          <a:noFill/>
          <a:ln/>
        </p:spPr>
        <p:txBody>
          <a:bodyPr wrap="square" lIns="0" tIns="0" rIns="0" bIns="0" rtlCol="0" anchor="ctr">
            <a:normAutofit/>
          </a:bodyPr>
          <a:lstStyle/>
          <a:p>
            <a:pPr marL="0" indent="0" algn="l">
              <a:buNone/>
            </a:pPr>
            <a:r>
              <a:rPr lang="en-US" sz="2400" b="1" dirty="0">
                <a:solidFill>
                  <a:srgbClr val="172B42"/>
                </a:solidFill>
                <a:latin typeface="Times New Roman" panose="02020603050405020304" pitchFamily="18" charset="0"/>
                <a:ea typeface="Inter" pitchFamily="34" charset="-122"/>
                <a:cs typeface="Times New Roman" panose="02020603050405020304" pitchFamily="18" charset="0"/>
              </a:rPr>
              <a:t>ETL</a:t>
            </a:r>
            <a:endParaRPr lang="en-US" sz="2400" dirty="0">
              <a:latin typeface="Times New Roman" panose="02020603050405020304" pitchFamily="18" charset="0"/>
              <a:cs typeface="Times New Roman" panose="02020603050405020304" pitchFamily="18" charset="0"/>
            </a:endParaRPr>
          </a:p>
        </p:txBody>
      </p:sp>
      <p:sp>
        <p:nvSpPr>
          <p:cNvPr id="5" name="Text 3"/>
          <p:cNvSpPr/>
          <p:nvPr/>
        </p:nvSpPr>
        <p:spPr>
          <a:xfrm>
            <a:off x="1115568" y="3227832"/>
            <a:ext cx="4572000" cy="1828800"/>
          </a:xfrm>
          <a:prstGeom prst="rect">
            <a:avLst/>
          </a:prstGeom>
          <a:noFill/>
          <a:ln/>
        </p:spPr>
        <p:txBody>
          <a:bodyPr wrap="square" lIns="0" tIns="0" rIns="0" bIns="0" rtlCol="0" anchor="t">
            <a:normAutofit/>
          </a:bodyPr>
          <a:lstStyle/>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Extract → Transform → Load</a:t>
            </a:r>
            <a:endParaRPr lang="en-US" sz="1800" dirty="0">
              <a:latin typeface="Times New Roman" panose="02020603050405020304" pitchFamily="18" charset="0"/>
              <a:cs typeface="Times New Roman" panose="02020603050405020304" pitchFamily="18" charset="0"/>
            </a:endParaRPr>
          </a:p>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Useful when processing happens before data reaches the target.</a:t>
            </a:r>
            <a:endParaRPr lang="en-US" sz="1800" dirty="0">
              <a:latin typeface="Times New Roman" panose="02020603050405020304" pitchFamily="18" charset="0"/>
              <a:cs typeface="Times New Roman" panose="02020603050405020304" pitchFamily="18" charset="0"/>
            </a:endParaRPr>
          </a:p>
        </p:txBody>
      </p:sp>
      <p:sp>
        <p:nvSpPr>
          <p:cNvPr id="6" name="Shape 4"/>
          <p:cNvSpPr/>
          <p:nvPr/>
        </p:nvSpPr>
        <p:spPr>
          <a:xfrm>
            <a:off x="6263640" y="2432304"/>
            <a:ext cx="5074920" cy="2807208"/>
          </a:xfrm>
          <a:prstGeom prst="roundRect">
            <a:avLst>
              <a:gd name="adj" fmla="val 4560"/>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6263640" y="2432304"/>
            <a:ext cx="64008" cy="2807208"/>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6501384" y="2651760"/>
            <a:ext cx="4636008" cy="502920"/>
          </a:xfrm>
          <a:prstGeom prst="rect">
            <a:avLst/>
          </a:prstGeom>
          <a:noFill/>
          <a:ln/>
        </p:spPr>
        <p:txBody>
          <a:bodyPr wrap="square" lIns="0" tIns="0" rIns="0" bIns="0" rtlCol="0" anchor="ctr">
            <a:normAutofit/>
          </a:bodyPr>
          <a:lstStyle/>
          <a:p>
            <a:pPr marL="0" indent="0" algn="l">
              <a:buNone/>
            </a:pPr>
            <a:r>
              <a:rPr lang="en-US" sz="2400" b="1" dirty="0">
                <a:solidFill>
                  <a:srgbClr val="172B42"/>
                </a:solidFill>
                <a:latin typeface="Times New Roman" panose="02020603050405020304" pitchFamily="18" charset="0"/>
                <a:ea typeface="Inter" pitchFamily="34" charset="-122"/>
                <a:cs typeface="Times New Roman" panose="02020603050405020304" pitchFamily="18" charset="0"/>
              </a:rPr>
              <a:t>ELT</a:t>
            </a:r>
            <a:endParaRPr lang="en-US" sz="2400" dirty="0">
              <a:latin typeface="Times New Roman" panose="02020603050405020304" pitchFamily="18" charset="0"/>
              <a:cs typeface="Times New Roman" panose="02020603050405020304" pitchFamily="18" charset="0"/>
            </a:endParaRPr>
          </a:p>
        </p:txBody>
      </p:sp>
      <p:sp>
        <p:nvSpPr>
          <p:cNvPr id="9" name="Text 7"/>
          <p:cNvSpPr/>
          <p:nvPr/>
        </p:nvSpPr>
        <p:spPr>
          <a:xfrm>
            <a:off x="6501384" y="3227832"/>
            <a:ext cx="4572000" cy="1828800"/>
          </a:xfrm>
          <a:prstGeom prst="rect">
            <a:avLst/>
          </a:prstGeom>
          <a:noFill/>
          <a:ln/>
        </p:spPr>
        <p:txBody>
          <a:bodyPr wrap="square" lIns="0" tIns="0" rIns="0" bIns="0" rtlCol="0" anchor="t">
            <a:normAutofit/>
          </a:bodyPr>
          <a:lstStyle/>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Extract → Load → Transform</a:t>
            </a:r>
            <a:endParaRPr lang="en-US" sz="1800" dirty="0">
              <a:latin typeface="Times New Roman" panose="02020603050405020304" pitchFamily="18" charset="0"/>
              <a:cs typeface="Times New Roman" panose="02020603050405020304" pitchFamily="18" charset="0"/>
            </a:endParaRPr>
          </a:p>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Useful when the destination warehouse/lakehouse does the processing.</a:t>
            </a:r>
            <a:endParaRPr lang="en-US" sz="1800" dirty="0">
              <a:latin typeface="Times New Roman" panose="02020603050405020304" pitchFamily="18" charset="0"/>
              <a:cs typeface="Times New Roman" panose="02020603050405020304" pitchFamily="18" charset="0"/>
            </a:endParaRPr>
          </a:p>
        </p:txBody>
      </p:sp>
      <p:sp>
        <p:nvSpPr>
          <p:cNvPr id="10" name="Shape 8"/>
          <p:cNvSpPr/>
          <p:nvPr/>
        </p:nvSpPr>
        <p:spPr>
          <a:xfrm>
            <a:off x="621792" y="5650992"/>
            <a:ext cx="10948111" cy="493776"/>
          </a:xfrm>
          <a:prstGeom prst="roundRect">
            <a:avLst>
              <a:gd name="adj" fmla="val 22222"/>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Text 9"/>
          <p:cNvSpPr/>
          <p:nvPr/>
        </p:nvSpPr>
        <p:spPr>
          <a:xfrm>
            <a:off x="822960" y="5705856"/>
            <a:ext cx="1316736" cy="365760"/>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THE POINT</a:t>
            </a:r>
            <a:endParaRPr lang="en-US" sz="1030" dirty="0">
              <a:latin typeface="Times New Roman" panose="02020603050405020304" pitchFamily="18" charset="0"/>
              <a:cs typeface="Times New Roman" panose="02020603050405020304" pitchFamily="18" charset="0"/>
            </a:endParaRPr>
          </a:p>
        </p:txBody>
      </p:sp>
      <p:sp>
        <p:nvSpPr>
          <p:cNvPr id="12" name="Text 10"/>
          <p:cNvSpPr/>
          <p:nvPr/>
        </p:nvSpPr>
        <p:spPr>
          <a:xfrm>
            <a:off x="2221992" y="5705856"/>
            <a:ext cx="9101023" cy="365760"/>
          </a:xfrm>
          <a:prstGeom prst="rect">
            <a:avLst/>
          </a:prstGeom>
          <a:noFill/>
          <a:ln/>
        </p:spPr>
        <p:txBody>
          <a:bodyPr wrap="square" lIns="0" tIns="0" rIns="0" bIns="0" rtlCol="0" anchor="ctr">
            <a:normAutofit/>
          </a:bodyPr>
          <a:lstStyle/>
          <a:p>
            <a:pPr marL="0" indent="0" algn="l">
              <a:buNone/>
            </a:pPr>
            <a:r>
              <a:rPr lang="en-US" sz="1340" b="1" dirty="0">
                <a:solidFill>
                  <a:srgbClr val="172B42"/>
                </a:solidFill>
                <a:latin typeface="Times New Roman" panose="02020603050405020304" pitchFamily="18" charset="0"/>
                <a:ea typeface="Inter" pitchFamily="34" charset="-122"/>
                <a:cs typeface="Times New Roman" panose="02020603050405020304" pitchFamily="18" charset="0"/>
              </a:rPr>
              <a:t>Same objective; different place and order of transformation.</a:t>
            </a:r>
            <a:endParaRPr lang="en-US" sz="1340" dirty="0">
              <a:latin typeface="Times New Roman" panose="02020603050405020304" pitchFamily="18" charset="0"/>
              <a:cs typeface="Times New Roman" panose="02020603050405020304" pitchFamily="18" charset="0"/>
            </a:endParaRPr>
          </a:p>
        </p:txBody>
      </p:sp>
      <p:sp>
        <p:nvSpPr>
          <p:cNvPr id="13" name="Text 11"/>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ETL vs ELT</a:t>
            </a:r>
            <a:endParaRPr lang="en-US" sz="318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ENGINEER</a:t>
            </a:r>
            <a:endParaRPr lang="en-US" sz="1050" dirty="0">
              <a:latin typeface="Times New Roman" panose="02020603050405020304" pitchFamily="18" charset="0"/>
              <a:cs typeface="Times New Roman" panose="02020603050405020304" pitchFamily="18" charset="0"/>
            </a:endParaRPr>
          </a:p>
        </p:txBody>
      </p:sp>
      <p:sp>
        <p:nvSpPr>
          <p:cNvPr id="16" name="Shape 14"/>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Shape 15"/>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Text 16"/>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9" name="Text 17"/>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23</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7824" y="2432304"/>
            <a:ext cx="5074920" cy="2807208"/>
          </a:xfrm>
          <a:prstGeom prst="roundRect">
            <a:avLst>
              <a:gd name="adj" fmla="val 4560"/>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877824" y="2432304"/>
            <a:ext cx="64008" cy="2807208"/>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1115568" y="2651760"/>
            <a:ext cx="4636008" cy="502920"/>
          </a:xfrm>
          <a:prstGeom prst="rect">
            <a:avLst/>
          </a:prstGeom>
          <a:noFill/>
          <a:ln/>
        </p:spPr>
        <p:txBody>
          <a:bodyPr wrap="square" lIns="0" tIns="0" rIns="0" bIns="0" rtlCol="0" anchor="ctr">
            <a:normAutofit/>
          </a:bodyPr>
          <a:lstStyle/>
          <a:p>
            <a:pPr marL="0" indent="0" algn="l">
              <a:buNone/>
            </a:pPr>
            <a:r>
              <a:rPr lang="en-US" sz="2400" b="1" dirty="0">
                <a:solidFill>
                  <a:srgbClr val="172B42"/>
                </a:solidFill>
                <a:latin typeface="Times New Roman" panose="02020603050405020304" pitchFamily="18" charset="0"/>
                <a:ea typeface="Inter" pitchFamily="34" charset="-122"/>
                <a:cs typeface="Times New Roman" panose="02020603050405020304" pitchFamily="18" charset="0"/>
              </a:rPr>
              <a:t>Batch</a:t>
            </a:r>
            <a:endParaRPr lang="en-US" sz="2400" dirty="0">
              <a:latin typeface="Times New Roman" panose="02020603050405020304" pitchFamily="18" charset="0"/>
              <a:cs typeface="Times New Roman" panose="02020603050405020304" pitchFamily="18" charset="0"/>
            </a:endParaRPr>
          </a:p>
        </p:txBody>
      </p:sp>
      <p:sp>
        <p:nvSpPr>
          <p:cNvPr id="5" name="Text 3"/>
          <p:cNvSpPr/>
          <p:nvPr/>
        </p:nvSpPr>
        <p:spPr>
          <a:xfrm>
            <a:off x="1115568" y="3227832"/>
            <a:ext cx="4572000" cy="1828800"/>
          </a:xfrm>
          <a:prstGeom prst="rect">
            <a:avLst/>
          </a:prstGeom>
          <a:noFill/>
          <a:ln/>
        </p:spPr>
        <p:txBody>
          <a:bodyPr wrap="square" lIns="0" tIns="0" rIns="0" bIns="0" rtlCol="0" anchor="t">
            <a:normAutofit/>
          </a:bodyPr>
          <a:lstStyle/>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Process a collected set of records every hour or every night.</a:t>
            </a:r>
            <a:endParaRPr lang="en-US" sz="1800" dirty="0">
              <a:latin typeface="Times New Roman" panose="02020603050405020304" pitchFamily="18" charset="0"/>
              <a:cs typeface="Times New Roman" panose="02020603050405020304" pitchFamily="18" charset="0"/>
            </a:endParaRPr>
          </a:p>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Example: yesterday’s completed appointments.</a:t>
            </a:r>
            <a:endParaRPr lang="en-US" sz="1800" dirty="0">
              <a:latin typeface="Times New Roman" panose="02020603050405020304" pitchFamily="18" charset="0"/>
              <a:cs typeface="Times New Roman" panose="02020603050405020304" pitchFamily="18" charset="0"/>
            </a:endParaRPr>
          </a:p>
        </p:txBody>
      </p:sp>
      <p:sp>
        <p:nvSpPr>
          <p:cNvPr id="6" name="Shape 4"/>
          <p:cNvSpPr/>
          <p:nvPr/>
        </p:nvSpPr>
        <p:spPr>
          <a:xfrm>
            <a:off x="6263640" y="2432304"/>
            <a:ext cx="5074920" cy="2807208"/>
          </a:xfrm>
          <a:prstGeom prst="roundRect">
            <a:avLst>
              <a:gd name="adj" fmla="val 4560"/>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6263640" y="2432304"/>
            <a:ext cx="64008" cy="2807208"/>
          </a:xfrm>
          <a:prstGeom prst="rect">
            <a:avLst/>
          </a:prstGeom>
          <a:solidFill>
            <a:srgbClr val="8052D8"/>
          </a:solidFill>
          <a:ln w="12700">
            <a:solidFill>
              <a:srgbClr val="8052D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6501384" y="2651760"/>
            <a:ext cx="4636008" cy="502920"/>
          </a:xfrm>
          <a:prstGeom prst="rect">
            <a:avLst/>
          </a:prstGeom>
          <a:noFill/>
          <a:ln/>
        </p:spPr>
        <p:txBody>
          <a:bodyPr wrap="square" lIns="0" tIns="0" rIns="0" bIns="0" rtlCol="0" anchor="ctr">
            <a:normAutofit/>
          </a:bodyPr>
          <a:lstStyle/>
          <a:p>
            <a:pPr marL="0" indent="0" algn="l">
              <a:buNone/>
            </a:pPr>
            <a:r>
              <a:rPr lang="en-US" sz="2400" b="1" dirty="0">
                <a:solidFill>
                  <a:srgbClr val="172B42"/>
                </a:solidFill>
                <a:latin typeface="Times New Roman" panose="02020603050405020304" pitchFamily="18" charset="0"/>
                <a:ea typeface="Inter" pitchFamily="34" charset="-122"/>
                <a:cs typeface="Times New Roman" panose="02020603050405020304" pitchFamily="18" charset="0"/>
              </a:rPr>
              <a:t>Streaming</a:t>
            </a:r>
            <a:endParaRPr lang="en-US" sz="2400" dirty="0">
              <a:latin typeface="Times New Roman" panose="02020603050405020304" pitchFamily="18" charset="0"/>
              <a:cs typeface="Times New Roman" panose="02020603050405020304" pitchFamily="18" charset="0"/>
            </a:endParaRPr>
          </a:p>
        </p:txBody>
      </p:sp>
      <p:sp>
        <p:nvSpPr>
          <p:cNvPr id="9" name="Text 7"/>
          <p:cNvSpPr/>
          <p:nvPr/>
        </p:nvSpPr>
        <p:spPr>
          <a:xfrm>
            <a:off x="6501384" y="3227832"/>
            <a:ext cx="4572000" cy="1828800"/>
          </a:xfrm>
          <a:prstGeom prst="rect">
            <a:avLst/>
          </a:prstGeom>
          <a:noFill/>
          <a:ln/>
        </p:spPr>
        <p:txBody>
          <a:bodyPr wrap="square" lIns="0" tIns="0" rIns="0" bIns="0" rtlCol="0" anchor="t">
            <a:normAutofit/>
          </a:bodyPr>
          <a:lstStyle/>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Process arriving events continuously or in small increments.</a:t>
            </a:r>
            <a:endParaRPr lang="en-US" sz="1800" dirty="0">
              <a:latin typeface="Times New Roman" panose="02020603050405020304" pitchFamily="18" charset="0"/>
              <a:cs typeface="Times New Roman" panose="02020603050405020304" pitchFamily="18" charset="0"/>
            </a:endParaRPr>
          </a:p>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Example: an alert for cancellations as they happen.</a:t>
            </a:r>
            <a:endParaRPr lang="en-US" sz="1800" dirty="0">
              <a:latin typeface="Times New Roman" panose="02020603050405020304" pitchFamily="18" charset="0"/>
              <a:cs typeface="Times New Roman" panose="02020603050405020304" pitchFamily="18" charset="0"/>
            </a:endParaRPr>
          </a:p>
        </p:txBody>
      </p:sp>
      <p:sp>
        <p:nvSpPr>
          <p:cNvPr id="10" name="Shape 8"/>
          <p:cNvSpPr/>
          <p:nvPr/>
        </p:nvSpPr>
        <p:spPr>
          <a:xfrm>
            <a:off x="621792" y="5650992"/>
            <a:ext cx="10948111" cy="493776"/>
          </a:xfrm>
          <a:prstGeom prst="roundRect">
            <a:avLst>
              <a:gd name="adj" fmla="val 22222"/>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Text 9"/>
          <p:cNvSpPr/>
          <p:nvPr/>
        </p:nvSpPr>
        <p:spPr>
          <a:xfrm>
            <a:off x="822960" y="5705856"/>
            <a:ext cx="1316736" cy="365760"/>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THE POINT</a:t>
            </a:r>
            <a:endParaRPr lang="en-US" sz="1030" dirty="0">
              <a:latin typeface="Times New Roman" panose="02020603050405020304" pitchFamily="18" charset="0"/>
              <a:cs typeface="Times New Roman" panose="02020603050405020304" pitchFamily="18" charset="0"/>
            </a:endParaRPr>
          </a:p>
        </p:txBody>
      </p:sp>
      <p:sp>
        <p:nvSpPr>
          <p:cNvPr id="12" name="Text 10"/>
          <p:cNvSpPr/>
          <p:nvPr/>
        </p:nvSpPr>
        <p:spPr>
          <a:xfrm>
            <a:off x="2221992" y="5705856"/>
            <a:ext cx="9101023" cy="365760"/>
          </a:xfrm>
          <a:prstGeom prst="rect">
            <a:avLst/>
          </a:prstGeom>
          <a:noFill/>
          <a:ln/>
        </p:spPr>
        <p:txBody>
          <a:bodyPr wrap="square" lIns="0" tIns="0" rIns="0" bIns="0" rtlCol="0" anchor="ctr">
            <a:normAutofit/>
          </a:bodyPr>
          <a:lstStyle/>
          <a:p>
            <a:pPr marL="0" indent="0" algn="l">
              <a:buNone/>
            </a:pPr>
            <a:r>
              <a:rPr lang="en-US" sz="1340" b="1" dirty="0">
                <a:solidFill>
                  <a:srgbClr val="172B42"/>
                </a:solidFill>
                <a:latin typeface="Times New Roman" panose="02020603050405020304" pitchFamily="18" charset="0"/>
                <a:ea typeface="Inter" pitchFamily="34" charset="-122"/>
                <a:cs typeface="Times New Roman" panose="02020603050405020304" pitchFamily="18" charset="0"/>
              </a:rPr>
              <a:t>Choose the freshness needed for the business decision.</a:t>
            </a:r>
            <a:endParaRPr lang="en-US" sz="1340" dirty="0">
              <a:latin typeface="Times New Roman" panose="02020603050405020304" pitchFamily="18" charset="0"/>
              <a:cs typeface="Times New Roman" panose="02020603050405020304" pitchFamily="18" charset="0"/>
            </a:endParaRPr>
          </a:p>
        </p:txBody>
      </p:sp>
      <p:sp>
        <p:nvSpPr>
          <p:cNvPr id="13" name="Text 11"/>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Batch vs streaming</a:t>
            </a:r>
            <a:endParaRPr lang="en-US" sz="318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ENGINEER</a:t>
            </a:r>
            <a:endParaRPr lang="en-US" sz="1050" dirty="0">
              <a:latin typeface="Times New Roman" panose="02020603050405020304" pitchFamily="18" charset="0"/>
              <a:cs typeface="Times New Roman" panose="02020603050405020304" pitchFamily="18" charset="0"/>
            </a:endParaRPr>
          </a:p>
        </p:txBody>
      </p:sp>
      <p:sp>
        <p:nvSpPr>
          <p:cNvPr id="16" name="Shape 14"/>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Shape 15"/>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Text 16"/>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9" name="Text 17"/>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24</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2633472"/>
            <a:ext cx="3515258"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621792" y="2633472"/>
            <a:ext cx="3515258" cy="73152"/>
          </a:xfrm>
          <a:prstGeom prst="rect">
            <a:avLst/>
          </a:prstGeom>
          <a:solidFill>
            <a:srgbClr val="A27A42"/>
          </a:solidFill>
          <a:ln w="12700">
            <a:solidFill>
              <a:srgbClr val="A27A42"/>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813816" y="2871216"/>
            <a:ext cx="3131210"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BRONZE</a:t>
            </a:r>
            <a:endParaRPr lang="en-US" sz="2000" dirty="0">
              <a:latin typeface="Times New Roman" panose="02020603050405020304" pitchFamily="18" charset="0"/>
              <a:cs typeface="Times New Roman" panose="02020603050405020304" pitchFamily="18" charset="0"/>
            </a:endParaRPr>
          </a:p>
        </p:txBody>
      </p:sp>
      <p:sp>
        <p:nvSpPr>
          <p:cNvPr id="5" name="Text 3"/>
          <p:cNvSpPr/>
          <p:nvPr/>
        </p:nvSpPr>
        <p:spPr>
          <a:xfrm>
            <a:off x="813816" y="3401568"/>
            <a:ext cx="3131210"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Raw source snapshot</a:t>
            </a:r>
            <a:endParaRPr lang="en-US" sz="1430" dirty="0">
              <a:latin typeface="Times New Roman" panose="02020603050405020304" pitchFamily="18" charset="0"/>
              <a:cs typeface="Times New Roman" panose="02020603050405020304" pitchFamily="18" charset="0"/>
            </a:endParaRPr>
          </a:p>
        </p:txBody>
      </p:sp>
      <p:sp>
        <p:nvSpPr>
          <p:cNvPr id="6" name="Shape 4"/>
          <p:cNvSpPr/>
          <p:nvPr/>
        </p:nvSpPr>
        <p:spPr>
          <a:xfrm>
            <a:off x="4152595" y="3566160"/>
            <a:ext cx="164592" cy="301752"/>
          </a:xfrm>
          <a:prstGeom prst="chevron">
            <a:avLst/>
          </a:prstGeom>
          <a:solidFill>
            <a:srgbClr val="B5C2D0"/>
          </a:solidFill>
          <a:ln w="12700">
            <a:solidFill>
              <a:srgbClr val="B5C2D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4338218" y="2633472"/>
            <a:ext cx="3515258"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Shape 6"/>
          <p:cNvSpPr/>
          <p:nvPr/>
        </p:nvSpPr>
        <p:spPr>
          <a:xfrm>
            <a:off x="4338218" y="2633472"/>
            <a:ext cx="3515258" cy="73152"/>
          </a:xfrm>
          <a:prstGeom prst="rect">
            <a:avLst/>
          </a:prstGeom>
          <a:solidFill>
            <a:srgbClr val="8B96A5"/>
          </a:solidFill>
          <a:ln w="12700">
            <a:solidFill>
              <a:srgbClr val="8B96A5"/>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4530242" y="2871216"/>
            <a:ext cx="3131210"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SILVER</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4530242" y="3401568"/>
            <a:ext cx="3131210"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Validated, standardized</a:t>
            </a:r>
            <a:endParaRPr lang="en-US" sz="1430" dirty="0">
              <a:latin typeface="Times New Roman" panose="02020603050405020304" pitchFamily="18" charset="0"/>
              <a:cs typeface="Times New Roman" panose="02020603050405020304" pitchFamily="18" charset="0"/>
            </a:endParaRPr>
          </a:p>
        </p:txBody>
      </p:sp>
      <p:sp>
        <p:nvSpPr>
          <p:cNvPr id="11" name="Shape 9"/>
          <p:cNvSpPr/>
          <p:nvPr/>
        </p:nvSpPr>
        <p:spPr>
          <a:xfrm>
            <a:off x="7869022" y="3566160"/>
            <a:ext cx="164592" cy="301752"/>
          </a:xfrm>
          <a:prstGeom prst="chevron">
            <a:avLst/>
          </a:prstGeom>
          <a:solidFill>
            <a:srgbClr val="B5C2D0"/>
          </a:solidFill>
          <a:ln w="12700">
            <a:solidFill>
              <a:srgbClr val="B5C2D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Shape 10"/>
          <p:cNvSpPr/>
          <p:nvPr/>
        </p:nvSpPr>
        <p:spPr>
          <a:xfrm>
            <a:off x="8054645" y="2633472"/>
            <a:ext cx="3515258"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3" name="Shape 11"/>
          <p:cNvSpPr/>
          <p:nvPr/>
        </p:nvSpPr>
        <p:spPr>
          <a:xfrm>
            <a:off x="8054645" y="2633472"/>
            <a:ext cx="3515258" cy="73152"/>
          </a:xfrm>
          <a:prstGeom prst="rect">
            <a:avLst/>
          </a:prstGeom>
          <a:solidFill>
            <a:srgbClr val="E8A23A"/>
          </a:solidFill>
          <a:ln w="12700">
            <a:solidFill>
              <a:srgbClr val="E8A23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4" name="Text 12"/>
          <p:cNvSpPr/>
          <p:nvPr/>
        </p:nvSpPr>
        <p:spPr>
          <a:xfrm>
            <a:off x="8246669" y="2871216"/>
            <a:ext cx="3131210"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GOLD</a:t>
            </a:r>
            <a:endParaRPr lang="en-US" sz="2000" dirty="0">
              <a:latin typeface="Times New Roman" panose="02020603050405020304" pitchFamily="18" charset="0"/>
              <a:cs typeface="Times New Roman" panose="02020603050405020304" pitchFamily="18" charset="0"/>
            </a:endParaRPr>
          </a:p>
        </p:txBody>
      </p:sp>
      <p:sp>
        <p:nvSpPr>
          <p:cNvPr id="15" name="Text 13"/>
          <p:cNvSpPr/>
          <p:nvPr/>
        </p:nvSpPr>
        <p:spPr>
          <a:xfrm>
            <a:off x="8246669" y="3401568"/>
            <a:ext cx="3131210"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Business-ready metrics</a:t>
            </a:r>
            <a:endParaRPr lang="en-US" sz="1430" dirty="0">
              <a:latin typeface="Times New Roman" panose="02020603050405020304" pitchFamily="18" charset="0"/>
              <a:cs typeface="Times New Roman" panose="02020603050405020304" pitchFamily="18" charset="0"/>
            </a:endParaRPr>
          </a:p>
        </p:txBody>
      </p:sp>
      <p:sp>
        <p:nvSpPr>
          <p:cNvPr id="16" name="Shape 14"/>
          <p:cNvSpPr/>
          <p:nvPr/>
        </p:nvSpPr>
        <p:spPr>
          <a:xfrm>
            <a:off x="621792" y="5650992"/>
            <a:ext cx="10948111" cy="493776"/>
          </a:xfrm>
          <a:prstGeom prst="roundRect">
            <a:avLst>
              <a:gd name="adj" fmla="val 22222"/>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Text 15"/>
          <p:cNvSpPr/>
          <p:nvPr/>
        </p:nvSpPr>
        <p:spPr>
          <a:xfrm>
            <a:off x="822960" y="5705856"/>
            <a:ext cx="1316736" cy="365760"/>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REMEMBER</a:t>
            </a:r>
            <a:endParaRPr lang="en-US" sz="1030" dirty="0">
              <a:latin typeface="Times New Roman" panose="02020603050405020304" pitchFamily="18" charset="0"/>
              <a:cs typeface="Times New Roman" panose="02020603050405020304" pitchFamily="18" charset="0"/>
            </a:endParaRPr>
          </a:p>
        </p:txBody>
      </p:sp>
      <p:sp>
        <p:nvSpPr>
          <p:cNvPr id="18" name="Text 16"/>
          <p:cNvSpPr/>
          <p:nvPr/>
        </p:nvSpPr>
        <p:spPr>
          <a:xfrm>
            <a:off x="2221992" y="5705856"/>
            <a:ext cx="9101023" cy="365760"/>
          </a:xfrm>
          <a:prstGeom prst="rect">
            <a:avLst/>
          </a:prstGeom>
          <a:noFill/>
          <a:ln/>
        </p:spPr>
        <p:txBody>
          <a:bodyPr wrap="square" lIns="0" tIns="0" rIns="0" bIns="0" rtlCol="0" anchor="ctr">
            <a:normAutofit/>
          </a:bodyPr>
          <a:lstStyle/>
          <a:p>
            <a:pPr marL="0" indent="0" algn="l">
              <a:buNone/>
            </a:pPr>
            <a:r>
              <a:rPr lang="en-US" sz="1340" b="1" dirty="0">
                <a:solidFill>
                  <a:srgbClr val="172B42"/>
                </a:solidFill>
                <a:latin typeface="Times New Roman" panose="02020603050405020304" pitchFamily="18" charset="0"/>
                <a:ea typeface="Inter" pitchFamily="34" charset="-122"/>
                <a:cs typeface="Times New Roman" panose="02020603050405020304" pitchFamily="18" charset="0"/>
              </a:rPr>
              <a:t>Increase data quality and business usefulness at each layer.</a:t>
            </a:r>
            <a:endParaRPr lang="en-US" sz="1340" dirty="0">
              <a:latin typeface="Times New Roman" panose="02020603050405020304" pitchFamily="18" charset="0"/>
              <a:cs typeface="Times New Roman" panose="02020603050405020304" pitchFamily="18" charset="0"/>
            </a:endParaRPr>
          </a:p>
        </p:txBody>
      </p:sp>
      <p:sp>
        <p:nvSpPr>
          <p:cNvPr id="19" name="Text 17"/>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Bronze → Silver → Gold</a:t>
            </a:r>
            <a:endParaRPr lang="en-US" sz="3180" dirty="0">
              <a:latin typeface="Times New Roman" panose="02020603050405020304" pitchFamily="18" charset="0"/>
              <a:cs typeface="Times New Roman" panose="02020603050405020304" pitchFamily="18" charset="0"/>
            </a:endParaRPr>
          </a:p>
        </p:txBody>
      </p:sp>
      <p:sp>
        <p:nvSpPr>
          <p:cNvPr id="20" name="Text 18"/>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ENGINEER</a:t>
            </a:r>
            <a:endParaRPr lang="en-US" sz="1050" dirty="0">
              <a:latin typeface="Times New Roman" panose="02020603050405020304" pitchFamily="18" charset="0"/>
              <a:cs typeface="Times New Roman" panose="02020603050405020304" pitchFamily="18" charset="0"/>
            </a:endParaRPr>
          </a:p>
        </p:txBody>
      </p:sp>
      <p:sp>
        <p:nvSpPr>
          <p:cNvPr id="22" name="Shape 20"/>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3" name="Shape 21"/>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4" name="Text 22"/>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25" name="Text 23"/>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25</a:t>
            </a:r>
            <a:endParaRPr lang="en-US" sz="900" dirty="0">
              <a:latin typeface="Times New Roman" panose="02020603050405020304" pitchFamily="18" charset="0"/>
              <a:cs typeface="Times New Roman" panose="02020603050405020304" pitchFamily="18" charset="0"/>
            </a:endParaRPr>
          </a:p>
        </p:txBody>
      </p:sp>
      <p:sp>
        <p:nvSpPr>
          <p:cNvPr id="26" name="IMAGE PLACEHOLDER | Raw records screenshot"/>
          <p:cNvSpPr/>
          <p:nvPr/>
        </p:nvSpPr>
        <p:spPr>
          <a:xfrm>
            <a:off x="813816" y="4078224"/>
            <a:ext cx="3054096" cy="640080"/>
          </a:xfrm>
          <a:prstGeom prst="roundRect">
            <a:avLst>
              <a:gd name="adj" fmla="val 10000"/>
            </a:avLst>
          </a:prstGeom>
          <a:solidFill>
            <a:srgbClr val="F1F7FA"/>
          </a:solidFill>
          <a:ln w="14604">
            <a:solidFill>
              <a:srgbClr val="98B2C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7" name="Rectangle 26"/>
          <p:cNvSpPr/>
          <p:nvPr/>
        </p:nvSpPr>
        <p:spPr>
          <a:xfrm>
            <a:off x="923544" y="4256532"/>
            <a:ext cx="347472" cy="265176"/>
          </a:xfrm>
          <a:prstGeom prst="rect">
            <a:avLst/>
          </a:prstGeom>
          <a:noFill/>
          <a:ln w="14604">
            <a:solidFill>
              <a:srgbClr val="7D9E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8" name="Oval 27"/>
          <p:cNvSpPr/>
          <p:nvPr/>
        </p:nvSpPr>
        <p:spPr>
          <a:xfrm>
            <a:off x="1138976" y="4306824"/>
            <a:ext cx="68580" cy="68580"/>
          </a:xfrm>
          <a:prstGeom prst="ellipse">
            <a:avLst/>
          </a:prstGeom>
          <a:solidFill>
            <a:srgbClr val="7D9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9" name="PLACEHOLDER LABEL | Raw records screenshot"/>
          <p:cNvSpPr txBox="1"/>
          <p:nvPr/>
        </p:nvSpPr>
        <p:spPr>
          <a:xfrm>
            <a:off x="1335024" y="4293529"/>
            <a:ext cx="2441448" cy="227755"/>
          </a:xfrm>
          <a:prstGeom prst="rect">
            <a:avLst/>
          </a:prstGeom>
          <a:noFill/>
        </p:spPr>
        <p:txBody>
          <a:bodyPr wrap="square" anchor="ctr">
            <a:spAutoFit/>
          </a:bodyPr>
          <a:lstStyle/>
          <a:p>
            <a:pPr algn="l"/>
            <a:r>
              <a:rPr sz="880" b="1" dirty="0">
                <a:solidFill>
                  <a:srgbClr val="4F7183"/>
                </a:solidFill>
                <a:latin typeface="Times New Roman" panose="02020603050405020304" pitchFamily="18" charset="0"/>
                <a:cs typeface="Times New Roman" panose="02020603050405020304" pitchFamily="18" charset="0"/>
              </a:rPr>
              <a:t>Raw records screenshot</a:t>
            </a:r>
          </a:p>
        </p:txBody>
      </p:sp>
      <p:sp>
        <p:nvSpPr>
          <p:cNvPr id="30" name="IMAGE PLACEHOLDER | Clean records screenshot"/>
          <p:cNvSpPr/>
          <p:nvPr/>
        </p:nvSpPr>
        <p:spPr>
          <a:xfrm>
            <a:off x="4526280" y="4078224"/>
            <a:ext cx="3054096" cy="640080"/>
          </a:xfrm>
          <a:prstGeom prst="roundRect">
            <a:avLst>
              <a:gd name="adj" fmla="val 10000"/>
            </a:avLst>
          </a:prstGeom>
          <a:solidFill>
            <a:srgbClr val="F1F7FA"/>
          </a:solidFill>
          <a:ln w="14604">
            <a:solidFill>
              <a:srgbClr val="98B2C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1" name="Rectangle 30"/>
          <p:cNvSpPr/>
          <p:nvPr/>
        </p:nvSpPr>
        <p:spPr>
          <a:xfrm>
            <a:off x="4636008" y="4256532"/>
            <a:ext cx="347472" cy="265176"/>
          </a:xfrm>
          <a:prstGeom prst="rect">
            <a:avLst/>
          </a:prstGeom>
          <a:noFill/>
          <a:ln w="14604">
            <a:solidFill>
              <a:srgbClr val="7D9E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2" name="Oval 31"/>
          <p:cNvSpPr/>
          <p:nvPr/>
        </p:nvSpPr>
        <p:spPr>
          <a:xfrm>
            <a:off x="4851440" y="4306824"/>
            <a:ext cx="68580" cy="68580"/>
          </a:xfrm>
          <a:prstGeom prst="ellipse">
            <a:avLst/>
          </a:prstGeom>
          <a:solidFill>
            <a:srgbClr val="7D9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3" name="PLACEHOLDER LABEL | Clean records screenshot"/>
          <p:cNvSpPr txBox="1"/>
          <p:nvPr/>
        </p:nvSpPr>
        <p:spPr>
          <a:xfrm>
            <a:off x="5047488" y="4293529"/>
            <a:ext cx="2441448" cy="227755"/>
          </a:xfrm>
          <a:prstGeom prst="rect">
            <a:avLst/>
          </a:prstGeom>
          <a:noFill/>
        </p:spPr>
        <p:txBody>
          <a:bodyPr wrap="square" anchor="ctr">
            <a:spAutoFit/>
          </a:bodyPr>
          <a:lstStyle/>
          <a:p>
            <a:pPr algn="l"/>
            <a:r>
              <a:rPr sz="880" b="1">
                <a:solidFill>
                  <a:srgbClr val="4F7183"/>
                </a:solidFill>
                <a:latin typeface="Times New Roman" panose="02020603050405020304" pitchFamily="18" charset="0"/>
                <a:cs typeface="Times New Roman" panose="02020603050405020304" pitchFamily="18" charset="0"/>
              </a:rPr>
              <a:t>Clean records screenshot</a:t>
            </a:r>
          </a:p>
        </p:txBody>
      </p:sp>
      <p:sp>
        <p:nvSpPr>
          <p:cNvPr id="34" name="IMAGE PLACEHOLDER | KPI output screenshot"/>
          <p:cNvSpPr/>
          <p:nvPr/>
        </p:nvSpPr>
        <p:spPr>
          <a:xfrm>
            <a:off x="8247888" y="4078224"/>
            <a:ext cx="3054096" cy="640080"/>
          </a:xfrm>
          <a:prstGeom prst="roundRect">
            <a:avLst>
              <a:gd name="adj" fmla="val 10000"/>
            </a:avLst>
          </a:prstGeom>
          <a:solidFill>
            <a:srgbClr val="F1F7FA"/>
          </a:solidFill>
          <a:ln w="14604">
            <a:solidFill>
              <a:srgbClr val="98B2C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5" name="Rectangle 34"/>
          <p:cNvSpPr/>
          <p:nvPr/>
        </p:nvSpPr>
        <p:spPr>
          <a:xfrm>
            <a:off x="8357615" y="4256532"/>
            <a:ext cx="347472" cy="265176"/>
          </a:xfrm>
          <a:prstGeom prst="rect">
            <a:avLst/>
          </a:prstGeom>
          <a:noFill/>
          <a:ln w="14604">
            <a:solidFill>
              <a:srgbClr val="7D9E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6" name="Oval 35"/>
          <p:cNvSpPr/>
          <p:nvPr/>
        </p:nvSpPr>
        <p:spPr>
          <a:xfrm>
            <a:off x="8573048" y="4306824"/>
            <a:ext cx="68580" cy="68580"/>
          </a:xfrm>
          <a:prstGeom prst="ellipse">
            <a:avLst/>
          </a:prstGeom>
          <a:solidFill>
            <a:srgbClr val="7D9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7" name="PLACEHOLDER LABEL | KPI output screenshot"/>
          <p:cNvSpPr txBox="1"/>
          <p:nvPr/>
        </p:nvSpPr>
        <p:spPr>
          <a:xfrm>
            <a:off x="8769096" y="4293529"/>
            <a:ext cx="2441448" cy="227755"/>
          </a:xfrm>
          <a:prstGeom prst="rect">
            <a:avLst/>
          </a:prstGeom>
          <a:noFill/>
        </p:spPr>
        <p:txBody>
          <a:bodyPr wrap="square" anchor="ctr">
            <a:spAutoFit/>
          </a:bodyPr>
          <a:lstStyle/>
          <a:p>
            <a:pPr algn="l"/>
            <a:r>
              <a:rPr sz="880" b="1">
                <a:solidFill>
                  <a:srgbClr val="4F7183"/>
                </a:solidFill>
                <a:latin typeface="Times New Roman" panose="02020603050405020304" pitchFamily="18" charset="0"/>
                <a:cs typeface="Times New Roman" panose="02020603050405020304" pitchFamily="18" charset="0"/>
              </a:rPr>
              <a:t>KPI output screenshot</a:t>
            </a:r>
          </a:p>
        </p:txBody>
      </p:sp>
      <p:pic>
        <p:nvPicPr>
          <p:cNvPr id="38" name="Picture 37">
            <a:extLst>
              <a:ext uri="{FF2B5EF4-FFF2-40B4-BE49-F238E27FC236}">
                <a16:creationId xmlns:a16="http://schemas.microsoft.com/office/drawing/2014/main" id="{1E25A2C4-F2B6-45B4-D9D3-EAE7B581927A}"/>
              </a:ext>
            </a:extLst>
          </p:cNvPr>
          <p:cNvPicPr>
            <a:picLocks noChangeAspect="1"/>
          </p:cNvPicPr>
          <p:nvPr/>
        </p:nvPicPr>
        <p:blipFill>
          <a:blip r:embed="rId3"/>
          <a:srcRect l="6650" t="26163" r="5272"/>
          <a:stretch>
            <a:fillRect/>
          </a:stretch>
        </p:blipFill>
        <p:spPr>
          <a:xfrm>
            <a:off x="732740" y="4051540"/>
            <a:ext cx="3226301" cy="749059"/>
          </a:xfrm>
          <a:prstGeom prst="rect">
            <a:avLst/>
          </a:prstGeom>
        </p:spPr>
      </p:pic>
      <p:pic>
        <p:nvPicPr>
          <p:cNvPr id="40" name="Picture 39">
            <a:extLst>
              <a:ext uri="{FF2B5EF4-FFF2-40B4-BE49-F238E27FC236}">
                <a16:creationId xmlns:a16="http://schemas.microsoft.com/office/drawing/2014/main" id="{6D2662DE-53A1-0230-E9BB-32547B68A5EA}"/>
              </a:ext>
            </a:extLst>
          </p:cNvPr>
          <p:cNvPicPr>
            <a:picLocks noChangeAspect="1"/>
          </p:cNvPicPr>
          <p:nvPr/>
        </p:nvPicPr>
        <p:blipFill>
          <a:blip r:embed="rId4"/>
          <a:srcRect l="7808" t="26653" r="6528"/>
          <a:stretch>
            <a:fillRect/>
          </a:stretch>
        </p:blipFill>
        <p:spPr>
          <a:xfrm>
            <a:off x="8171993" y="4007006"/>
            <a:ext cx="3205886" cy="757018"/>
          </a:xfrm>
          <a:prstGeom prst="rect">
            <a:avLst/>
          </a:prstGeom>
        </p:spPr>
      </p:pic>
      <p:pic>
        <p:nvPicPr>
          <p:cNvPr id="42" name="Picture 41">
            <a:extLst>
              <a:ext uri="{FF2B5EF4-FFF2-40B4-BE49-F238E27FC236}">
                <a16:creationId xmlns:a16="http://schemas.microsoft.com/office/drawing/2014/main" id="{0A874263-0F87-E508-498C-1D817ECFCCB3}"/>
              </a:ext>
            </a:extLst>
          </p:cNvPr>
          <p:cNvPicPr>
            <a:picLocks noChangeAspect="1"/>
          </p:cNvPicPr>
          <p:nvPr/>
        </p:nvPicPr>
        <p:blipFill>
          <a:blip r:embed="rId5"/>
          <a:srcRect l="6006" t="23358"/>
          <a:stretch>
            <a:fillRect/>
          </a:stretch>
        </p:blipFill>
        <p:spPr>
          <a:xfrm>
            <a:off x="4454347" y="4018921"/>
            <a:ext cx="3332379" cy="7816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41832" y="2450592"/>
            <a:ext cx="10332720" cy="484632"/>
          </a:xfrm>
          <a:prstGeom prst="roundRect">
            <a:avLst>
              <a:gd name="adj" fmla="val 13208"/>
            </a:avLst>
          </a:prstGeom>
          <a:solidFill>
            <a:srgbClr val="EAF2F7"/>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Text 1"/>
          <p:cNvSpPr/>
          <p:nvPr/>
        </p:nvSpPr>
        <p:spPr>
          <a:xfrm>
            <a:off x="1060704" y="2551176"/>
            <a:ext cx="2296973" cy="320040"/>
          </a:xfrm>
          <a:prstGeom prst="rect">
            <a:avLst/>
          </a:prstGeom>
          <a:noFill/>
          <a:ln/>
        </p:spPr>
        <p:txBody>
          <a:bodyPr wrap="square" lIns="0" tIns="0" rIns="0" bIns="0" rtlCol="0" anchor="ctr">
            <a:normAutofit/>
          </a:bodyPr>
          <a:lstStyle/>
          <a:p>
            <a:pPr marL="0" indent="0" algn="l">
              <a:buNone/>
            </a:pPr>
            <a:r>
              <a:rPr lang="en-US" sz="1200" b="1" dirty="0">
                <a:solidFill>
                  <a:srgbClr val="172B42"/>
                </a:solidFill>
                <a:latin typeface="Times New Roman" panose="02020603050405020304" pitchFamily="18" charset="0"/>
                <a:ea typeface="Inter" pitchFamily="34" charset="-122"/>
                <a:cs typeface="Times New Roman" panose="02020603050405020304" pitchFamily="18" charset="0"/>
              </a:rPr>
              <a:t>appointment_id</a:t>
            </a:r>
            <a:endParaRPr lang="en-US" sz="1200" dirty="0">
              <a:latin typeface="Times New Roman" panose="02020603050405020304" pitchFamily="18" charset="0"/>
              <a:cs typeface="Times New Roman" panose="02020603050405020304" pitchFamily="18" charset="0"/>
            </a:endParaRPr>
          </a:p>
        </p:txBody>
      </p:sp>
      <p:sp>
        <p:nvSpPr>
          <p:cNvPr id="4" name="Text 2"/>
          <p:cNvSpPr/>
          <p:nvPr/>
        </p:nvSpPr>
        <p:spPr>
          <a:xfrm>
            <a:off x="3540557" y="2551176"/>
            <a:ext cx="1780337" cy="320040"/>
          </a:xfrm>
          <a:prstGeom prst="rect">
            <a:avLst/>
          </a:prstGeom>
          <a:noFill/>
          <a:ln/>
        </p:spPr>
        <p:txBody>
          <a:bodyPr wrap="square" lIns="0" tIns="0" rIns="0" bIns="0" rtlCol="0" anchor="ctr">
            <a:normAutofit/>
          </a:bodyPr>
          <a:lstStyle/>
          <a:p>
            <a:pPr marL="0" indent="0" algn="l">
              <a:buNone/>
            </a:pPr>
            <a:r>
              <a:rPr lang="en-US" sz="1200" b="1" dirty="0">
                <a:solidFill>
                  <a:srgbClr val="172B42"/>
                </a:solidFill>
                <a:latin typeface="Times New Roman" panose="02020603050405020304" pitchFamily="18" charset="0"/>
                <a:ea typeface="Inter" pitchFamily="34" charset="-122"/>
                <a:cs typeface="Times New Roman" panose="02020603050405020304" pitchFamily="18" charset="0"/>
              </a:rPr>
              <a:t>patient_id</a:t>
            </a:r>
            <a:endParaRPr lang="en-US" sz="1200" dirty="0">
              <a:latin typeface="Times New Roman" panose="02020603050405020304" pitchFamily="18" charset="0"/>
              <a:cs typeface="Times New Roman" panose="02020603050405020304" pitchFamily="18" charset="0"/>
            </a:endParaRPr>
          </a:p>
        </p:txBody>
      </p:sp>
      <p:sp>
        <p:nvSpPr>
          <p:cNvPr id="5" name="Text 3"/>
          <p:cNvSpPr/>
          <p:nvPr/>
        </p:nvSpPr>
        <p:spPr>
          <a:xfrm>
            <a:off x="5503774" y="2551176"/>
            <a:ext cx="1677010" cy="320040"/>
          </a:xfrm>
          <a:prstGeom prst="rect">
            <a:avLst/>
          </a:prstGeom>
          <a:noFill/>
          <a:ln/>
        </p:spPr>
        <p:txBody>
          <a:bodyPr wrap="square" lIns="0" tIns="0" rIns="0" bIns="0" rtlCol="0" anchor="ctr">
            <a:normAutofit/>
          </a:bodyPr>
          <a:lstStyle/>
          <a:p>
            <a:pPr marL="0" indent="0" algn="l">
              <a:buNone/>
            </a:pPr>
            <a:r>
              <a:rPr lang="en-US" sz="1200" b="1" dirty="0">
                <a:solidFill>
                  <a:srgbClr val="172B42"/>
                </a:solidFill>
                <a:latin typeface="Times New Roman" panose="02020603050405020304" pitchFamily="18" charset="0"/>
                <a:ea typeface="Inter" pitchFamily="34" charset="-122"/>
                <a:cs typeface="Times New Roman" panose="02020603050405020304" pitchFamily="18" charset="0"/>
              </a:rPr>
              <a:t>doctor_id</a:t>
            </a:r>
            <a:endParaRPr lang="en-US" sz="1200" dirty="0">
              <a:latin typeface="Times New Roman" panose="02020603050405020304" pitchFamily="18" charset="0"/>
              <a:cs typeface="Times New Roman" panose="02020603050405020304" pitchFamily="18" charset="0"/>
            </a:endParaRPr>
          </a:p>
        </p:txBody>
      </p:sp>
      <p:sp>
        <p:nvSpPr>
          <p:cNvPr id="6" name="Text 4"/>
          <p:cNvSpPr/>
          <p:nvPr/>
        </p:nvSpPr>
        <p:spPr>
          <a:xfrm>
            <a:off x="7363663" y="2551176"/>
            <a:ext cx="2193646" cy="320040"/>
          </a:xfrm>
          <a:prstGeom prst="rect">
            <a:avLst/>
          </a:prstGeom>
          <a:noFill/>
          <a:ln/>
        </p:spPr>
        <p:txBody>
          <a:bodyPr wrap="square" lIns="0" tIns="0" rIns="0" bIns="0" rtlCol="0" anchor="ctr">
            <a:normAutofit/>
          </a:bodyPr>
          <a:lstStyle/>
          <a:p>
            <a:pPr marL="0" indent="0" algn="l">
              <a:buNone/>
            </a:pPr>
            <a:r>
              <a:rPr lang="en-US" sz="1200" b="1" dirty="0">
                <a:solidFill>
                  <a:srgbClr val="172B42"/>
                </a:solidFill>
                <a:latin typeface="Times New Roman" panose="02020603050405020304" pitchFamily="18" charset="0"/>
                <a:ea typeface="Inter" pitchFamily="34" charset="-122"/>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p:txBody>
      </p:sp>
      <p:sp>
        <p:nvSpPr>
          <p:cNvPr id="7" name="Text 5"/>
          <p:cNvSpPr/>
          <p:nvPr/>
        </p:nvSpPr>
        <p:spPr>
          <a:xfrm>
            <a:off x="9740189" y="2551176"/>
            <a:ext cx="1470355" cy="320040"/>
          </a:xfrm>
          <a:prstGeom prst="rect">
            <a:avLst/>
          </a:prstGeom>
          <a:noFill/>
          <a:ln/>
        </p:spPr>
        <p:txBody>
          <a:bodyPr wrap="square" lIns="0" tIns="0" rIns="0" bIns="0" rtlCol="0" anchor="ctr">
            <a:normAutofit/>
          </a:bodyPr>
          <a:lstStyle/>
          <a:p>
            <a:pPr marL="0" indent="0" algn="l">
              <a:buNone/>
            </a:pPr>
            <a:r>
              <a:rPr lang="en-US" sz="1200" b="1" dirty="0">
                <a:solidFill>
                  <a:srgbClr val="172B42"/>
                </a:solidFill>
                <a:latin typeface="Times New Roman" panose="02020603050405020304" pitchFamily="18" charset="0"/>
                <a:ea typeface="Inter" pitchFamily="34" charset="-122"/>
                <a:cs typeface="Times New Roman" panose="02020603050405020304" pitchFamily="18" charset="0"/>
              </a:rPr>
              <a:t>charge</a:t>
            </a:r>
            <a:endParaRPr lang="en-US" sz="1200" dirty="0">
              <a:latin typeface="Times New Roman" panose="02020603050405020304" pitchFamily="18" charset="0"/>
              <a:cs typeface="Times New Roman" panose="02020603050405020304" pitchFamily="18" charset="0"/>
            </a:endParaRPr>
          </a:p>
        </p:txBody>
      </p:sp>
      <p:sp>
        <p:nvSpPr>
          <p:cNvPr id="8" name="Shape 6"/>
          <p:cNvSpPr/>
          <p:nvPr/>
        </p:nvSpPr>
        <p:spPr>
          <a:xfrm>
            <a:off x="941832" y="2935224"/>
            <a:ext cx="10332720" cy="466344"/>
          </a:xfrm>
          <a:prstGeom prst="rect">
            <a:avLst/>
          </a:prstGeom>
          <a:solidFill>
            <a:srgbClr val="EEF4F8"/>
          </a:solidFill>
          <a:ln w="12700">
            <a:solidFill>
              <a:srgbClr val="F0F5F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1060704" y="3026664"/>
            <a:ext cx="2306117" cy="310896"/>
          </a:xfrm>
          <a:prstGeom prst="rect">
            <a:avLst/>
          </a:prstGeom>
          <a:noFill/>
          <a:ln/>
        </p:spPr>
        <p:txBody>
          <a:bodyPr wrap="square" lIns="0" tIns="0" rIns="0" bIns="0" rtlCol="0" anchor="ctr">
            <a:normAutofit/>
          </a:bodyPr>
          <a:lstStyle/>
          <a:p>
            <a:pPr marL="0" indent="0" algn="l">
              <a:buNone/>
            </a:pPr>
            <a:r>
              <a:rPr lang="en-US" sz="1300" b="1" dirty="0">
                <a:solidFill>
                  <a:srgbClr val="172B42"/>
                </a:solidFill>
                <a:latin typeface="Times New Roman" panose="02020603050405020304" pitchFamily="18" charset="0"/>
                <a:ea typeface="Inter" pitchFamily="34" charset="-122"/>
                <a:cs typeface="Times New Roman" panose="02020603050405020304" pitchFamily="18" charset="0"/>
              </a:rPr>
              <a:t>A101</a:t>
            </a:r>
            <a:endParaRPr lang="en-US" sz="1300" dirty="0">
              <a:latin typeface="Times New Roman" panose="02020603050405020304" pitchFamily="18" charset="0"/>
              <a:cs typeface="Times New Roman" panose="02020603050405020304" pitchFamily="18" charset="0"/>
            </a:endParaRPr>
          </a:p>
        </p:txBody>
      </p:sp>
      <p:sp>
        <p:nvSpPr>
          <p:cNvPr id="10" name="Text 8"/>
          <p:cNvSpPr/>
          <p:nvPr/>
        </p:nvSpPr>
        <p:spPr>
          <a:xfrm>
            <a:off x="3540557" y="3026664"/>
            <a:ext cx="1789481" cy="310896"/>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P01</a:t>
            </a:r>
            <a:endParaRPr lang="en-US" sz="1300" dirty="0">
              <a:latin typeface="Times New Roman" panose="02020603050405020304" pitchFamily="18" charset="0"/>
              <a:cs typeface="Times New Roman" panose="02020603050405020304" pitchFamily="18" charset="0"/>
            </a:endParaRPr>
          </a:p>
        </p:txBody>
      </p:sp>
      <p:sp>
        <p:nvSpPr>
          <p:cNvPr id="11" name="Text 9"/>
          <p:cNvSpPr/>
          <p:nvPr/>
        </p:nvSpPr>
        <p:spPr>
          <a:xfrm>
            <a:off x="5503774" y="3026664"/>
            <a:ext cx="1686154" cy="310896"/>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D02</a:t>
            </a:r>
            <a:endParaRPr lang="en-US" sz="1300" dirty="0">
              <a:latin typeface="Times New Roman" panose="02020603050405020304" pitchFamily="18" charset="0"/>
              <a:cs typeface="Times New Roman" panose="02020603050405020304" pitchFamily="18" charset="0"/>
            </a:endParaRPr>
          </a:p>
        </p:txBody>
      </p:sp>
      <p:sp>
        <p:nvSpPr>
          <p:cNvPr id="12" name="Text 10"/>
          <p:cNvSpPr/>
          <p:nvPr/>
        </p:nvSpPr>
        <p:spPr>
          <a:xfrm>
            <a:off x="7363663" y="3026664"/>
            <a:ext cx="2202790" cy="310896"/>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completed</a:t>
            </a:r>
            <a:endParaRPr lang="en-US" sz="1300" dirty="0">
              <a:latin typeface="Times New Roman" panose="02020603050405020304" pitchFamily="18" charset="0"/>
              <a:cs typeface="Times New Roman" panose="02020603050405020304" pitchFamily="18" charset="0"/>
            </a:endParaRPr>
          </a:p>
        </p:txBody>
      </p:sp>
      <p:sp>
        <p:nvSpPr>
          <p:cNvPr id="13" name="Text 11"/>
          <p:cNvSpPr/>
          <p:nvPr/>
        </p:nvSpPr>
        <p:spPr>
          <a:xfrm>
            <a:off x="9740189" y="3026664"/>
            <a:ext cx="1479499" cy="310896"/>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500</a:t>
            </a:r>
            <a:endParaRPr lang="en-US" sz="1300" dirty="0">
              <a:latin typeface="Times New Roman" panose="02020603050405020304" pitchFamily="18" charset="0"/>
              <a:cs typeface="Times New Roman" panose="02020603050405020304" pitchFamily="18" charset="0"/>
            </a:endParaRPr>
          </a:p>
        </p:txBody>
      </p:sp>
      <p:sp>
        <p:nvSpPr>
          <p:cNvPr id="14" name="Shape 12"/>
          <p:cNvSpPr/>
          <p:nvPr/>
        </p:nvSpPr>
        <p:spPr>
          <a:xfrm>
            <a:off x="941832" y="3401568"/>
            <a:ext cx="10332720" cy="466344"/>
          </a:xfrm>
          <a:prstGeom prst="rect">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5" name="Text 13"/>
          <p:cNvSpPr/>
          <p:nvPr/>
        </p:nvSpPr>
        <p:spPr>
          <a:xfrm>
            <a:off x="1060704" y="3493008"/>
            <a:ext cx="2306117" cy="310896"/>
          </a:xfrm>
          <a:prstGeom prst="rect">
            <a:avLst/>
          </a:prstGeom>
          <a:noFill/>
          <a:ln/>
        </p:spPr>
        <p:txBody>
          <a:bodyPr wrap="square" lIns="0" tIns="0" rIns="0" bIns="0" rtlCol="0" anchor="ctr">
            <a:normAutofit/>
          </a:bodyPr>
          <a:lstStyle/>
          <a:p>
            <a:pPr marL="0" indent="0" algn="l">
              <a:buNone/>
            </a:pPr>
            <a:r>
              <a:rPr lang="en-US" sz="1300" b="1" dirty="0">
                <a:solidFill>
                  <a:srgbClr val="172B42"/>
                </a:solidFill>
                <a:latin typeface="Times New Roman" panose="02020603050405020304" pitchFamily="18" charset="0"/>
                <a:ea typeface="Inter" pitchFamily="34" charset="-122"/>
                <a:cs typeface="Times New Roman" panose="02020603050405020304" pitchFamily="18" charset="0"/>
              </a:rPr>
              <a:t>A102</a:t>
            </a:r>
            <a:endParaRPr lang="en-US" sz="1300" dirty="0">
              <a:latin typeface="Times New Roman" panose="02020603050405020304" pitchFamily="18" charset="0"/>
              <a:cs typeface="Times New Roman" panose="02020603050405020304" pitchFamily="18" charset="0"/>
            </a:endParaRPr>
          </a:p>
        </p:txBody>
      </p:sp>
      <p:sp>
        <p:nvSpPr>
          <p:cNvPr id="16" name="Text 14"/>
          <p:cNvSpPr/>
          <p:nvPr/>
        </p:nvSpPr>
        <p:spPr>
          <a:xfrm>
            <a:off x="3540557" y="3493008"/>
            <a:ext cx="1789481" cy="310896"/>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P02</a:t>
            </a:r>
            <a:endParaRPr lang="en-US" sz="1300" dirty="0">
              <a:latin typeface="Times New Roman" panose="02020603050405020304" pitchFamily="18" charset="0"/>
              <a:cs typeface="Times New Roman" panose="02020603050405020304" pitchFamily="18" charset="0"/>
            </a:endParaRPr>
          </a:p>
        </p:txBody>
      </p:sp>
      <p:sp>
        <p:nvSpPr>
          <p:cNvPr id="17" name="Text 15"/>
          <p:cNvSpPr/>
          <p:nvPr/>
        </p:nvSpPr>
        <p:spPr>
          <a:xfrm>
            <a:off x="5503774" y="3493008"/>
            <a:ext cx="1686154" cy="310896"/>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D01</a:t>
            </a:r>
            <a:endParaRPr lang="en-US" sz="1300" dirty="0">
              <a:latin typeface="Times New Roman" panose="02020603050405020304" pitchFamily="18" charset="0"/>
              <a:cs typeface="Times New Roman" panose="02020603050405020304" pitchFamily="18" charset="0"/>
            </a:endParaRPr>
          </a:p>
        </p:txBody>
      </p:sp>
      <p:sp>
        <p:nvSpPr>
          <p:cNvPr id="18" name="Text 16"/>
          <p:cNvSpPr/>
          <p:nvPr/>
        </p:nvSpPr>
        <p:spPr>
          <a:xfrm>
            <a:off x="7363663" y="3493008"/>
            <a:ext cx="2202790" cy="310896"/>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cancelled</a:t>
            </a:r>
            <a:endParaRPr lang="en-US" sz="1300" dirty="0">
              <a:latin typeface="Times New Roman" panose="02020603050405020304" pitchFamily="18" charset="0"/>
              <a:cs typeface="Times New Roman" panose="02020603050405020304" pitchFamily="18" charset="0"/>
            </a:endParaRPr>
          </a:p>
        </p:txBody>
      </p:sp>
      <p:sp>
        <p:nvSpPr>
          <p:cNvPr id="19" name="Text 17"/>
          <p:cNvSpPr/>
          <p:nvPr/>
        </p:nvSpPr>
        <p:spPr>
          <a:xfrm>
            <a:off x="9740189" y="3493008"/>
            <a:ext cx="1479499" cy="310896"/>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0</a:t>
            </a:r>
            <a:endParaRPr lang="en-US" sz="1300" dirty="0">
              <a:latin typeface="Times New Roman" panose="02020603050405020304" pitchFamily="18" charset="0"/>
              <a:cs typeface="Times New Roman" panose="02020603050405020304" pitchFamily="18" charset="0"/>
            </a:endParaRPr>
          </a:p>
        </p:txBody>
      </p:sp>
      <p:sp>
        <p:nvSpPr>
          <p:cNvPr id="20" name="Shape 18"/>
          <p:cNvSpPr/>
          <p:nvPr/>
        </p:nvSpPr>
        <p:spPr>
          <a:xfrm>
            <a:off x="941832" y="3867912"/>
            <a:ext cx="10332720" cy="466344"/>
          </a:xfrm>
          <a:prstGeom prst="rect">
            <a:avLst/>
          </a:prstGeom>
          <a:solidFill>
            <a:srgbClr val="EEF4F8"/>
          </a:solidFill>
          <a:ln w="12700">
            <a:solidFill>
              <a:srgbClr val="F0F5F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1" name="Text 19"/>
          <p:cNvSpPr/>
          <p:nvPr/>
        </p:nvSpPr>
        <p:spPr>
          <a:xfrm>
            <a:off x="1060704" y="3959352"/>
            <a:ext cx="2306117" cy="310896"/>
          </a:xfrm>
          <a:prstGeom prst="rect">
            <a:avLst/>
          </a:prstGeom>
          <a:noFill/>
          <a:ln/>
        </p:spPr>
        <p:txBody>
          <a:bodyPr wrap="square" lIns="0" tIns="0" rIns="0" bIns="0" rtlCol="0" anchor="ctr">
            <a:normAutofit/>
          </a:bodyPr>
          <a:lstStyle/>
          <a:p>
            <a:pPr marL="0" indent="0" algn="l">
              <a:buNone/>
            </a:pPr>
            <a:r>
              <a:rPr lang="en-US" sz="1300" b="1" dirty="0">
                <a:solidFill>
                  <a:srgbClr val="172B42"/>
                </a:solidFill>
                <a:latin typeface="Times New Roman" panose="02020603050405020304" pitchFamily="18" charset="0"/>
                <a:ea typeface="Inter" pitchFamily="34" charset="-122"/>
                <a:cs typeface="Times New Roman" panose="02020603050405020304" pitchFamily="18" charset="0"/>
              </a:rPr>
              <a:t>A106</a:t>
            </a:r>
            <a:endParaRPr lang="en-US" sz="1300" dirty="0">
              <a:latin typeface="Times New Roman" panose="02020603050405020304" pitchFamily="18" charset="0"/>
              <a:cs typeface="Times New Roman" panose="02020603050405020304" pitchFamily="18" charset="0"/>
            </a:endParaRPr>
          </a:p>
        </p:txBody>
      </p:sp>
      <p:sp>
        <p:nvSpPr>
          <p:cNvPr id="22" name="Text 20"/>
          <p:cNvSpPr/>
          <p:nvPr/>
        </p:nvSpPr>
        <p:spPr>
          <a:xfrm>
            <a:off x="3540557" y="3959352"/>
            <a:ext cx="1789481" cy="310896"/>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P02</a:t>
            </a:r>
            <a:endParaRPr lang="en-US" sz="1300" dirty="0">
              <a:latin typeface="Times New Roman" panose="02020603050405020304" pitchFamily="18" charset="0"/>
              <a:cs typeface="Times New Roman" panose="02020603050405020304" pitchFamily="18" charset="0"/>
            </a:endParaRPr>
          </a:p>
        </p:txBody>
      </p:sp>
      <p:sp>
        <p:nvSpPr>
          <p:cNvPr id="23" name="Text 21"/>
          <p:cNvSpPr/>
          <p:nvPr/>
        </p:nvSpPr>
        <p:spPr>
          <a:xfrm>
            <a:off x="5503774" y="3959352"/>
            <a:ext cx="1686154" cy="310896"/>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D01</a:t>
            </a:r>
            <a:endParaRPr lang="en-US" sz="1300" dirty="0">
              <a:latin typeface="Times New Roman" panose="02020603050405020304" pitchFamily="18" charset="0"/>
              <a:cs typeface="Times New Roman" panose="02020603050405020304" pitchFamily="18" charset="0"/>
            </a:endParaRPr>
          </a:p>
        </p:txBody>
      </p:sp>
      <p:sp>
        <p:nvSpPr>
          <p:cNvPr id="24" name="Text 22"/>
          <p:cNvSpPr/>
          <p:nvPr/>
        </p:nvSpPr>
        <p:spPr>
          <a:xfrm>
            <a:off x="7363663" y="3959352"/>
            <a:ext cx="2202790" cy="310896"/>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completed</a:t>
            </a:r>
            <a:endParaRPr lang="en-US" sz="1300" dirty="0">
              <a:latin typeface="Times New Roman" panose="02020603050405020304" pitchFamily="18" charset="0"/>
              <a:cs typeface="Times New Roman" panose="02020603050405020304" pitchFamily="18" charset="0"/>
            </a:endParaRPr>
          </a:p>
        </p:txBody>
      </p:sp>
      <p:sp>
        <p:nvSpPr>
          <p:cNvPr id="25" name="Text 23"/>
          <p:cNvSpPr/>
          <p:nvPr/>
        </p:nvSpPr>
        <p:spPr>
          <a:xfrm>
            <a:off x="9740189" y="3959352"/>
            <a:ext cx="1479499" cy="310896"/>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850</a:t>
            </a:r>
            <a:endParaRPr lang="en-US" sz="1300" dirty="0">
              <a:latin typeface="Times New Roman" panose="02020603050405020304" pitchFamily="18" charset="0"/>
              <a:cs typeface="Times New Roman" panose="02020603050405020304" pitchFamily="18" charset="0"/>
            </a:endParaRPr>
          </a:p>
        </p:txBody>
      </p:sp>
      <p:sp>
        <p:nvSpPr>
          <p:cNvPr id="26" name="Shape 24"/>
          <p:cNvSpPr/>
          <p:nvPr/>
        </p:nvSpPr>
        <p:spPr>
          <a:xfrm>
            <a:off x="941832" y="4334256"/>
            <a:ext cx="10332720" cy="466344"/>
          </a:xfrm>
          <a:prstGeom prst="rect">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7" name="Text 25"/>
          <p:cNvSpPr/>
          <p:nvPr/>
        </p:nvSpPr>
        <p:spPr>
          <a:xfrm>
            <a:off x="1060704" y="4425696"/>
            <a:ext cx="2306117" cy="310896"/>
          </a:xfrm>
          <a:prstGeom prst="rect">
            <a:avLst/>
          </a:prstGeom>
          <a:noFill/>
          <a:ln/>
        </p:spPr>
        <p:txBody>
          <a:bodyPr wrap="square" lIns="0" tIns="0" rIns="0" bIns="0" rtlCol="0" anchor="ctr">
            <a:normAutofit/>
          </a:bodyPr>
          <a:lstStyle/>
          <a:p>
            <a:pPr marL="0" indent="0" algn="l">
              <a:buNone/>
            </a:pPr>
            <a:r>
              <a:rPr lang="en-US" sz="1300" b="1" dirty="0">
                <a:solidFill>
                  <a:srgbClr val="172B42"/>
                </a:solidFill>
                <a:latin typeface="Times New Roman" panose="02020603050405020304" pitchFamily="18" charset="0"/>
                <a:ea typeface="Inter" pitchFamily="34" charset="-122"/>
                <a:cs typeface="Times New Roman" panose="02020603050405020304" pitchFamily="18" charset="0"/>
              </a:rPr>
              <a:t>A106</a:t>
            </a:r>
            <a:endParaRPr lang="en-US" sz="1300" dirty="0">
              <a:latin typeface="Times New Roman" panose="02020603050405020304" pitchFamily="18" charset="0"/>
              <a:cs typeface="Times New Roman" panose="02020603050405020304" pitchFamily="18" charset="0"/>
            </a:endParaRPr>
          </a:p>
        </p:txBody>
      </p:sp>
      <p:sp>
        <p:nvSpPr>
          <p:cNvPr id="28" name="Text 26"/>
          <p:cNvSpPr/>
          <p:nvPr/>
        </p:nvSpPr>
        <p:spPr>
          <a:xfrm>
            <a:off x="3540557" y="4425696"/>
            <a:ext cx="1789481" cy="310896"/>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P02</a:t>
            </a:r>
            <a:endParaRPr lang="en-US" sz="1300" dirty="0">
              <a:latin typeface="Times New Roman" panose="02020603050405020304" pitchFamily="18" charset="0"/>
              <a:cs typeface="Times New Roman" panose="02020603050405020304" pitchFamily="18" charset="0"/>
            </a:endParaRPr>
          </a:p>
        </p:txBody>
      </p:sp>
      <p:sp>
        <p:nvSpPr>
          <p:cNvPr id="29" name="Text 27"/>
          <p:cNvSpPr/>
          <p:nvPr/>
        </p:nvSpPr>
        <p:spPr>
          <a:xfrm>
            <a:off x="5503774" y="4425696"/>
            <a:ext cx="1686154" cy="310896"/>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D01</a:t>
            </a:r>
            <a:endParaRPr lang="en-US" sz="1300" dirty="0">
              <a:latin typeface="Times New Roman" panose="02020603050405020304" pitchFamily="18" charset="0"/>
              <a:cs typeface="Times New Roman" panose="02020603050405020304" pitchFamily="18" charset="0"/>
            </a:endParaRPr>
          </a:p>
        </p:txBody>
      </p:sp>
      <p:sp>
        <p:nvSpPr>
          <p:cNvPr id="30" name="Text 28"/>
          <p:cNvSpPr/>
          <p:nvPr/>
        </p:nvSpPr>
        <p:spPr>
          <a:xfrm>
            <a:off x="7363663" y="4425696"/>
            <a:ext cx="2202790" cy="310896"/>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completed</a:t>
            </a:r>
            <a:endParaRPr lang="en-US" sz="1300" dirty="0">
              <a:latin typeface="Times New Roman" panose="02020603050405020304" pitchFamily="18" charset="0"/>
              <a:cs typeface="Times New Roman" panose="02020603050405020304" pitchFamily="18" charset="0"/>
            </a:endParaRPr>
          </a:p>
        </p:txBody>
      </p:sp>
      <p:sp>
        <p:nvSpPr>
          <p:cNvPr id="31" name="Text 29"/>
          <p:cNvSpPr/>
          <p:nvPr/>
        </p:nvSpPr>
        <p:spPr>
          <a:xfrm>
            <a:off x="9740189" y="4425696"/>
            <a:ext cx="1479499" cy="310896"/>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850</a:t>
            </a:r>
            <a:endParaRPr lang="en-US" sz="1300" dirty="0">
              <a:latin typeface="Times New Roman" panose="02020603050405020304" pitchFamily="18" charset="0"/>
              <a:cs typeface="Times New Roman" panose="02020603050405020304" pitchFamily="18" charset="0"/>
            </a:endParaRPr>
          </a:p>
        </p:txBody>
      </p:sp>
      <p:sp>
        <p:nvSpPr>
          <p:cNvPr id="32" name="Shape 30"/>
          <p:cNvSpPr/>
          <p:nvPr/>
        </p:nvSpPr>
        <p:spPr>
          <a:xfrm>
            <a:off x="941832" y="4800600"/>
            <a:ext cx="10332720" cy="466344"/>
          </a:xfrm>
          <a:prstGeom prst="rect">
            <a:avLst/>
          </a:prstGeom>
          <a:solidFill>
            <a:srgbClr val="EEF4F8"/>
          </a:solidFill>
          <a:ln w="12700">
            <a:solidFill>
              <a:srgbClr val="F0F5F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3" name="Text 31"/>
          <p:cNvSpPr/>
          <p:nvPr/>
        </p:nvSpPr>
        <p:spPr>
          <a:xfrm>
            <a:off x="1060704" y="4892040"/>
            <a:ext cx="2306117" cy="310896"/>
          </a:xfrm>
          <a:prstGeom prst="rect">
            <a:avLst/>
          </a:prstGeom>
          <a:noFill/>
          <a:ln/>
        </p:spPr>
        <p:txBody>
          <a:bodyPr wrap="square" lIns="0" tIns="0" rIns="0" bIns="0" rtlCol="0" anchor="ctr">
            <a:normAutofit/>
          </a:bodyPr>
          <a:lstStyle/>
          <a:p>
            <a:pPr marL="0" indent="0" algn="l">
              <a:buNone/>
            </a:pPr>
            <a:r>
              <a:rPr lang="en-US" sz="1300" b="1" dirty="0">
                <a:solidFill>
                  <a:srgbClr val="172B42"/>
                </a:solidFill>
                <a:latin typeface="Times New Roman" panose="02020603050405020304" pitchFamily="18" charset="0"/>
                <a:ea typeface="Inter" pitchFamily="34" charset="-122"/>
                <a:cs typeface="Times New Roman" panose="02020603050405020304" pitchFamily="18" charset="0"/>
              </a:rPr>
              <a:t>A107</a:t>
            </a:r>
            <a:endParaRPr lang="en-US" sz="1300" dirty="0">
              <a:latin typeface="Times New Roman" panose="02020603050405020304" pitchFamily="18" charset="0"/>
              <a:cs typeface="Times New Roman" panose="02020603050405020304" pitchFamily="18" charset="0"/>
            </a:endParaRPr>
          </a:p>
        </p:txBody>
      </p:sp>
      <p:sp>
        <p:nvSpPr>
          <p:cNvPr id="34" name="Text 32"/>
          <p:cNvSpPr/>
          <p:nvPr/>
        </p:nvSpPr>
        <p:spPr>
          <a:xfrm>
            <a:off x="3540557" y="4892040"/>
            <a:ext cx="1789481" cy="310896"/>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(blank)</a:t>
            </a:r>
            <a:endParaRPr lang="en-US" sz="1300" dirty="0">
              <a:latin typeface="Times New Roman" panose="02020603050405020304" pitchFamily="18" charset="0"/>
              <a:cs typeface="Times New Roman" panose="02020603050405020304" pitchFamily="18" charset="0"/>
            </a:endParaRPr>
          </a:p>
        </p:txBody>
      </p:sp>
      <p:sp>
        <p:nvSpPr>
          <p:cNvPr id="35" name="Text 33"/>
          <p:cNvSpPr/>
          <p:nvPr/>
        </p:nvSpPr>
        <p:spPr>
          <a:xfrm>
            <a:off x="5503774" y="4892040"/>
            <a:ext cx="1686154" cy="310896"/>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D03</a:t>
            </a:r>
            <a:endParaRPr lang="en-US" sz="1300" dirty="0">
              <a:latin typeface="Times New Roman" panose="02020603050405020304" pitchFamily="18" charset="0"/>
              <a:cs typeface="Times New Roman" panose="02020603050405020304" pitchFamily="18" charset="0"/>
            </a:endParaRPr>
          </a:p>
        </p:txBody>
      </p:sp>
      <p:sp>
        <p:nvSpPr>
          <p:cNvPr id="36" name="Text 34"/>
          <p:cNvSpPr/>
          <p:nvPr/>
        </p:nvSpPr>
        <p:spPr>
          <a:xfrm>
            <a:off x="7363663" y="4892040"/>
            <a:ext cx="2202790" cy="310896"/>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done</a:t>
            </a:r>
            <a:endParaRPr lang="en-US" sz="1300" dirty="0">
              <a:latin typeface="Times New Roman" panose="02020603050405020304" pitchFamily="18" charset="0"/>
              <a:cs typeface="Times New Roman" panose="02020603050405020304" pitchFamily="18" charset="0"/>
            </a:endParaRPr>
          </a:p>
        </p:txBody>
      </p:sp>
      <p:sp>
        <p:nvSpPr>
          <p:cNvPr id="37" name="Text 35"/>
          <p:cNvSpPr/>
          <p:nvPr/>
        </p:nvSpPr>
        <p:spPr>
          <a:xfrm>
            <a:off x="9740189" y="4892040"/>
            <a:ext cx="1479499" cy="310896"/>
          </a:xfrm>
          <a:prstGeom prst="rect">
            <a:avLst/>
          </a:prstGeom>
          <a:noFill/>
          <a:ln/>
        </p:spPr>
        <p:txBody>
          <a:bodyPr wrap="square" lIns="0" tIns="0" rIns="0" bIns="0" rtlCol="0" anchor="ctr">
            <a:normAutofit/>
          </a:bodyPr>
          <a:lstStyle/>
          <a:p>
            <a:pPr marL="0" indent="0" algn="l">
              <a:buNone/>
            </a:pPr>
            <a:r>
              <a:rPr lang="en-US" sz="1300" dirty="0">
                <a:solidFill>
                  <a:srgbClr val="5C6D80"/>
                </a:solidFill>
                <a:latin typeface="Times New Roman" panose="02020603050405020304" pitchFamily="18" charset="0"/>
                <a:ea typeface="Inter" pitchFamily="34" charset="-122"/>
                <a:cs typeface="Times New Roman" panose="02020603050405020304" pitchFamily="18" charset="0"/>
              </a:rPr>
              <a:t>700</a:t>
            </a:r>
            <a:endParaRPr lang="en-US" sz="1300" dirty="0">
              <a:latin typeface="Times New Roman" panose="02020603050405020304" pitchFamily="18" charset="0"/>
              <a:cs typeface="Times New Roman" panose="02020603050405020304" pitchFamily="18" charset="0"/>
            </a:endParaRPr>
          </a:p>
        </p:txBody>
      </p:sp>
      <p:sp>
        <p:nvSpPr>
          <p:cNvPr id="38" name="Shape 36"/>
          <p:cNvSpPr/>
          <p:nvPr/>
        </p:nvSpPr>
        <p:spPr>
          <a:xfrm>
            <a:off x="621792" y="5650992"/>
            <a:ext cx="10948111" cy="493776"/>
          </a:xfrm>
          <a:prstGeom prst="roundRect">
            <a:avLst>
              <a:gd name="adj" fmla="val 22222"/>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9" name="Text 37"/>
          <p:cNvSpPr/>
          <p:nvPr/>
        </p:nvSpPr>
        <p:spPr>
          <a:xfrm>
            <a:off x="822960" y="5705856"/>
            <a:ext cx="1316736" cy="365760"/>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LOOK CLOSER</a:t>
            </a:r>
            <a:endParaRPr lang="en-US" sz="1030" dirty="0">
              <a:latin typeface="Times New Roman" panose="02020603050405020304" pitchFamily="18" charset="0"/>
              <a:cs typeface="Times New Roman" panose="02020603050405020304" pitchFamily="18" charset="0"/>
            </a:endParaRPr>
          </a:p>
        </p:txBody>
      </p:sp>
      <p:sp>
        <p:nvSpPr>
          <p:cNvPr id="40" name="Text 38"/>
          <p:cNvSpPr/>
          <p:nvPr/>
        </p:nvSpPr>
        <p:spPr>
          <a:xfrm>
            <a:off x="2221992" y="5705856"/>
            <a:ext cx="9101023" cy="365760"/>
          </a:xfrm>
          <a:prstGeom prst="rect">
            <a:avLst/>
          </a:prstGeom>
          <a:noFill/>
          <a:ln/>
        </p:spPr>
        <p:txBody>
          <a:bodyPr wrap="square" lIns="0" tIns="0" rIns="0" bIns="0" rtlCol="0" anchor="ctr">
            <a:normAutofit/>
          </a:bodyPr>
          <a:lstStyle/>
          <a:p>
            <a:pPr marL="0" indent="0" algn="l">
              <a:buNone/>
            </a:pPr>
            <a:r>
              <a:rPr lang="en-US" sz="1340" b="1" dirty="0">
                <a:solidFill>
                  <a:srgbClr val="172B42"/>
                </a:solidFill>
                <a:latin typeface="Times New Roman" panose="02020603050405020304" pitchFamily="18" charset="0"/>
                <a:ea typeface="Inter" pitchFamily="34" charset="-122"/>
                <a:cs typeface="Times New Roman" panose="02020603050405020304" pitchFamily="18" charset="0"/>
              </a:rPr>
              <a:t>Duplicates, blanks and inconsistent statuses should be detected—not hidden.</a:t>
            </a:r>
            <a:endParaRPr lang="en-US" sz="1340" dirty="0">
              <a:latin typeface="Times New Roman" panose="02020603050405020304" pitchFamily="18" charset="0"/>
              <a:cs typeface="Times New Roman" panose="02020603050405020304" pitchFamily="18" charset="0"/>
            </a:endParaRPr>
          </a:p>
        </p:txBody>
      </p:sp>
      <p:sp>
        <p:nvSpPr>
          <p:cNvPr id="41" name="Text 39"/>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Bronze: preserve what arrived</a:t>
            </a:r>
            <a:endParaRPr lang="en-US" sz="3180" dirty="0">
              <a:latin typeface="Times New Roman" panose="02020603050405020304" pitchFamily="18" charset="0"/>
              <a:cs typeface="Times New Roman" panose="02020603050405020304" pitchFamily="18" charset="0"/>
            </a:endParaRPr>
          </a:p>
        </p:txBody>
      </p:sp>
      <p:sp>
        <p:nvSpPr>
          <p:cNvPr id="42" name="Text 40"/>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ENGINEER</a:t>
            </a:r>
            <a:endParaRPr lang="en-US" sz="1050" dirty="0">
              <a:latin typeface="Times New Roman" panose="02020603050405020304" pitchFamily="18" charset="0"/>
              <a:cs typeface="Times New Roman" panose="02020603050405020304" pitchFamily="18" charset="0"/>
            </a:endParaRPr>
          </a:p>
        </p:txBody>
      </p:sp>
      <p:sp>
        <p:nvSpPr>
          <p:cNvPr id="44" name="Shape 42"/>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5" name="Shape 43"/>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6" name="Text 44"/>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47" name="Text 45"/>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26</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 y="2331720"/>
            <a:ext cx="6784848" cy="3108960"/>
          </a:xfrm>
          <a:prstGeom prst="roundRect">
            <a:avLst>
              <a:gd name="adj" fmla="val 470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Text 1"/>
          <p:cNvSpPr/>
          <p:nvPr/>
        </p:nvSpPr>
        <p:spPr>
          <a:xfrm>
            <a:off x="1088136" y="2606040"/>
            <a:ext cx="1645920" cy="292608"/>
          </a:xfrm>
          <a:prstGeom prst="rect">
            <a:avLst/>
          </a:prstGeom>
          <a:noFill/>
          <a:ln/>
        </p:spPr>
        <p:txBody>
          <a:bodyPr wrap="square" lIns="0" tIns="0" rIns="0" bIns="0" rtlCol="0" anchor="ctr">
            <a:normAutofit/>
          </a:bodyPr>
          <a:lstStyle/>
          <a:p>
            <a:pPr marL="0" indent="0" algn="l">
              <a:buNone/>
            </a:pPr>
            <a:r>
              <a:rPr lang="en-US" sz="1200" b="1" dirty="0">
                <a:solidFill>
                  <a:srgbClr val="087B75"/>
                </a:solidFill>
                <a:latin typeface="Times New Roman" panose="02020603050405020304" pitchFamily="18" charset="0"/>
                <a:ea typeface="Inter" pitchFamily="34" charset="-122"/>
                <a:cs typeface="Times New Roman" panose="02020603050405020304" pitchFamily="18" charset="0"/>
              </a:rPr>
              <a:t>TASK</a:t>
            </a:r>
            <a:endParaRPr lang="en-US" sz="1200" dirty="0">
              <a:latin typeface="Times New Roman" panose="02020603050405020304" pitchFamily="18" charset="0"/>
              <a:cs typeface="Times New Roman" panose="02020603050405020304" pitchFamily="18" charset="0"/>
            </a:endParaRPr>
          </a:p>
        </p:txBody>
      </p:sp>
      <p:sp>
        <p:nvSpPr>
          <p:cNvPr id="4" name="Shape 2"/>
          <p:cNvSpPr/>
          <p:nvPr/>
        </p:nvSpPr>
        <p:spPr>
          <a:xfrm>
            <a:off x="1078992" y="3154680"/>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5" name="Text 3"/>
          <p:cNvSpPr/>
          <p:nvPr/>
        </p:nvSpPr>
        <p:spPr>
          <a:xfrm>
            <a:off x="1325880" y="2837214"/>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appointment_id should not be missing or duplicated.</a:t>
            </a:r>
            <a:endParaRPr lang="en-US" sz="1900" dirty="0">
              <a:latin typeface="Times New Roman" panose="02020603050405020304" pitchFamily="18" charset="0"/>
              <a:cs typeface="Times New Roman" panose="02020603050405020304" pitchFamily="18" charset="0"/>
            </a:endParaRPr>
          </a:p>
        </p:txBody>
      </p:sp>
      <p:sp>
        <p:nvSpPr>
          <p:cNvPr id="6" name="Shape 4"/>
          <p:cNvSpPr/>
          <p:nvPr/>
        </p:nvSpPr>
        <p:spPr>
          <a:xfrm>
            <a:off x="1078992" y="3776472"/>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Text 5"/>
          <p:cNvSpPr/>
          <p:nvPr/>
        </p:nvSpPr>
        <p:spPr>
          <a:xfrm>
            <a:off x="1325880" y="3459006"/>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patient_id and doctor_id should identify known records.</a:t>
            </a:r>
            <a:endParaRPr lang="en-US" sz="1900" dirty="0">
              <a:latin typeface="Times New Roman" panose="02020603050405020304" pitchFamily="18" charset="0"/>
              <a:cs typeface="Times New Roman" panose="02020603050405020304" pitchFamily="18" charset="0"/>
            </a:endParaRPr>
          </a:p>
        </p:txBody>
      </p:sp>
      <p:sp>
        <p:nvSpPr>
          <p:cNvPr id="8" name="Shape 6"/>
          <p:cNvSpPr/>
          <p:nvPr/>
        </p:nvSpPr>
        <p:spPr>
          <a:xfrm>
            <a:off x="1078992" y="4398264"/>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1325880" y="4080798"/>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status must match an agreed list of valid values.</a:t>
            </a:r>
            <a:endParaRPr lang="en-US" sz="1900" dirty="0">
              <a:latin typeface="Times New Roman" panose="02020603050405020304" pitchFamily="18" charset="0"/>
              <a:cs typeface="Times New Roman" panose="02020603050405020304" pitchFamily="18" charset="0"/>
            </a:endParaRPr>
          </a:p>
        </p:txBody>
      </p:sp>
      <p:sp>
        <p:nvSpPr>
          <p:cNvPr id="10" name="Shape 8"/>
          <p:cNvSpPr/>
          <p:nvPr/>
        </p:nvSpPr>
        <p:spPr>
          <a:xfrm>
            <a:off x="7918704" y="2331720"/>
            <a:ext cx="3383280" cy="3108960"/>
          </a:xfrm>
          <a:prstGeom prst="roundRect">
            <a:avLst>
              <a:gd name="adj" fmla="val 4412"/>
            </a:avLst>
          </a:prstGeom>
          <a:solidFill>
            <a:srgbClr val="EAF2F7"/>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Text 9"/>
          <p:cNvSpPr/>
          <p:nvPr/>
        </p:nvSpPr>
        <p:spPr>
          <a:xfrm>
            <a:off x="8193024" y="2651760"/>
            <a:ext cx="2761488" cy="301752"/>
          </a:xfrm>
          <a:prstGeom prst="rect">
            <a:avLst/>
          </a:prstGeom>
          <a:noFill/>
          <a:ln/>
        </p:spPr>
        <p:txBody>
          <a:bodyPr wrap="square" lIns="0" tIns="0" rIns="0" bIns="0" rtlCol="0" anchor="ctr">
            <a:normAutofit/>
          </a:bodyPr>
          <a:lstStyle/>
          <a:p>
            <a:pPr marL="0" indent="0" algn="l">
              <a:buNone/>
            </a:pPr>
            <a:r>
              <a:rPr lang="en-US" sz="1300" b="1" dirty="0">
                <a:solidFill>
                  <a:srgbClr val="087B75"/>
                </a:solidFill>
                <a:latin typeface="Times New Roman" panose="02020603050405020304" pitchFamily="18" charset="0"/>
                <a:ea typeface="Inter" pitchFamily="34" charset="-122"/>
                <a:cs typeface="Times New Roman" panose="02020603050405020304" pitchFamily="18" charset="0"/>
              </a:rPr>
              <a:t>DATA QUALITY</a:t>
            </a:r>
            <a:endParaRPr lang="en-US" sz="1300" dirty="0">
              <a:latin typeface="Times New Roman" panose="02020603050405020304" pitchFamily="18" charset="0"/>
              <a:cs typeface="Times New Roman" panose="02020603050405020304" pitchFamily="18" charset="0"/>
            </a:endParaRPr>
          </a:p>
        </p:txBody>
      </p:sp>
      <p:sp>
        <p:nvSpPr>
          <p:cNvPr id="12" name="Text 10"/>
          <p:cNvSpPr/>
          <p:nvPr/>
        </p:nvSpPr>
        <p:spPr>
          <a:xfrm>
            <a:off x="8193024" y="3191256"/>
            <a:ext cx="2743200" cy="1755648"/>
          </a:xfrm>
          <a:prstGeom prst="rect">
            <a:avLst/>
          </a:prstGeom>
          <a:noFill/>
          <a:ln/>
        </p:spPr>
        <p:txBody>
          <a:bodyPr wrap="square" lIns="0" tIns="0" rIns="0" bIns="0" rtlCol="0" anchor="t">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What should happen to invalid rows—fix, quarantine, or discard?</a:t>
            </a:r>
            <a:endParaRPr lang="en-US" sz="1900" dirty="0">
              <a:latin typeface="Times New Roman" panose="02020603050405020304" pitchFamily="18" charset="0"/>
              <a:cs typeface="Times New Roman" panose="02020603050405020304" pitchFamily="18" charset="0"/>
            </a:endParaRPr>
          </a:p>
        </p:txBody>
      </p:sp>
      <p:sp>
        <p:nvSpPr>
          <p:cNvPr id="13" name="Text 11"/>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Silver: write three validation rules</a:t>
            </a:r>
            <a:endParaRPr lang="en-US" sz="318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ENGINEER</a:t>
            </a:r>
            <a:endParaRPr lang="en-US" sz="1050" dirty="0">
              <a:latin typeface="Times New Roman" panose="02020603050405020304" pitchFamily="18" charset="0"/>
              <a:cs typeface="Times New Roman" panose="02020603050405020304" pitchFamily="18" charset="0"/>
            </a:endParaRPr>
          </a:p>
        </p:txBody>
      </p:sp>
      <p:sp>
        <p:nvSpPr>
          <p:cNvPr id="16" name="Shape 14"/>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Shape 15"/>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Text 16"/>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9" name="Text 17"/>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27</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621792" y="2487168"/>
            <a:ext cx="64008" cy="2834640"/>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859536"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Total appointments</a:t>
            </a:r>
            <a:endParaRPr lang="en-US" sz="1900" dirty="0">
              <a:latin typeface="Times New Roman" panose="02020603050405020304" pitchFamily="18" charset="0"/>
              <a:cs typeface="Times New Roman" panose="02020603050405020304" pitchFamily="18" charset="0"/>
            </a:endParaRPr>
          </a:p>
        </p:txBody>
      </p:sp>
      <p:sp>
        <p:nvSpPr>
          <p:cNvPr id="5" name="Text 3"/>
          <p:cNvSpPr/>
          <p:nvPr/>
        </p:nvSpPr>
        <p:spPr>
          <a:xfrm>
            <a:off x="859536"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Count distinct valid appointment IDs.</a:t>
            </a:r>
            <a:endParaRPr lang="en-US" sz="1510" dirty="0">
              <a:latin typeface="Times New Roman" panose="02020603050405020304" pitchFamily="18" charset="0"/>
              <a:cs typeface="Times New Roman" panose="02020603050405020304" pitchFamily="18" charset="0"/>
            </a:endParaRPr>
          </a:p>
        </p:txBody>
      </p:sp>
      <p:sp>
        <p:nvSpPr>
          <p:cNvPr id="6" name="Shape 4"/>
          <p:cNvSpPr/>
          <p:nvPr/>
        </p:nvSpPr>
        <p:spPr>
          <a:xfrm>
            <a:off x="4335170"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4335170" y="2487168"/>
            <a:ext cx="64008" cy="2834640"/>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4572914"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Completion rate</a:t>
            </a:r>
            <a:endParaRPr lang="en-US" sz="1900" dirty="0">
              <a:latin typeface="Times New Roman" panose="02020603050405020304" pitchFamily="18" charset="0"/>
              <a:cs typeface="Times New Roman" panose="02020603050405020304" pitchFamily="18" charset="0"/>
            </a:endParaRPr>
          </a:p>
        </p:txBody>
      </p:sp>
      <p:sp>
        <p:nvSpPr>
          <p:cNvPr id="9" name="Text 7"/>
          <p:cNvSpPr/>
          <p:nvPr/>
        </p:nvSpPr>
        <p:spPr>
          <a:xfrm>
            <a:off x="4572914"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Completed appointments ÷ valid appointments × 100.</a:t>
            </a:r>
            <a:endParaRPr lang="en-US" sz="1510" dirty="0">
              <a:latin typeface="Times New Roman" panose="02020603050405020304" pitchFamily="18" charset="0"/>
              <a:cs typeface="Times New Roman" panose="02020603050405020304" pitchFamily="18" charset="0"/>
            </a:endParaRPr>
          </a:p>
        </p:txBody>
      </p:sp>
      <p:sp>
        <p:nvSpPr>
          <p:cNvPr id="10" name="Shape 8"/>
          <p:cNvSpPr/>
          <p:nvPr/>
        </p:nvSpPr>
        <p:spPr>
          <a:xfrm>
            <a:off x="8048549"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Shape 9"/>
          <p:cNvSpPr/>
          <p:nvPr/>
        </p:nvSpPr>
        <p:spPr>
          <a:xfrm>
            <a:off x="8048549" y="2487168"/>
            <a:ext cx="64008" cy="2834640"/>
          </a:xfrm>
          <a:prstGeom prst="rect">
            <a:avLst/>
          </a:prstGeom>
          <a:solidFill>
            <a:srgbClr val="8052D8"/>
          </a:solidFill>
          <a:ln w="12700">
            <a:solidFill>
              <a:srgbClr val="8052D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Text 10"/>
          <p:cNvSpPr/>
          <p:nvPr/>
        </p:nvSpPr>
        <p:spPr>
          <a:xfrm>
            <a:off x="8286293"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Doctor workload</a:t>
            </a:r>
            <a:endParaRPr lang="en-US" sz="1900" dirty="0">
              <a:latin typeface="Times New Roman" panose="02020603050405020304" pitchFamily="18" charset="0"/>
              <a:cs typeface="Times New Roman" panose="02020603050405020304" pitchFamily="18" charset="0"/>
            </a:endParaRPr>
          </a:p>
        </p:txBody>
      </p:sp>
      <p:sp>
        <p:nvSpPr>
          <p:cNvPr id="13" name="Text 11"/>
          <p:cNvSpPr/>
          <p:nvPr/>
        </p:nvSpPr>
        <p:spPr>
          <a:xfrm>
            <a:off x="8286293"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Appointments grouped by doctor or specialty.</a:t>
            </a:r>
            <a:endParaRPr lang="en-US" sz="151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Gold: create business-ready numbers</a:t>
            </a:r>
            <a:endParaRPr lang="en-US" sz="3180" dirty="0">
              <a:latin typeface="Times New Roman" panose="02020603050405020304" pitchFamily="18" charset="0"/>
              <a:cs typeface="Times New Roman" panose="02020603050405020304" pitchFamily="18" charset="0"/>
            </a:endParaRPr>
          </a:p>
        </p:txBody>
      </p:sp>
      <p:sp>
        <p:nvSpPr>
          <p:cNvPr id="15" name="Text 13"/>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ENGINEER</a:t>
            </a:r>
            <a:endParaRPr lang="en-US" sz="1050" dirty="0">
              <a:latin typeface="Times New Roman" panose="02020603050405020304" pitchFamily="18" charset="0"/>
              <a:cs typeface="Times New Roman" panose="02020603050405020304" pitchFamily="18" charset="0"/>
            </a:endParaRPr>
          </a:p>
        </p:txBody>
      </p:sp>
      <p:sp>
        <p:nvSpPr>
          <p:cNvPr id="17" name="Shape 15"/>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Shape 16"/>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9" name="Text 17"/>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20" name="Text 18"/>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28</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2487168"/>
            <a:ext cx="2593010" cy="2834640"/>
          </a:xfrm>
          <a:prstGeom prst="roundRect">
            <a:avLst>
              <a:gd name="adj" fmla="val 4937"/>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621792" y="2487168"/>
            <a:ext cx="64008" cy="2834640"/>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859536" y="2706624"/>
            <a:ext cx="2154098"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Completeness</a:t>
            </a:r>
            <a:endParaRPr lang="en-US" sz="1900" dirty="0">
              <a:latin typeface="Times New Roman" panose="02020603050405020304" pitchFamily="18" charset="0"/>
              <a:cs typeface="Times New Roman" panose="02020603050405020304" pitchFamily="18" charset="0"/>
            </a:endParaRPr>
          </a:p>
        </p:txBody>
      </p:sp>
      <p:sp>
        <p:nvSpPr>
          <p:cNvPr id="5" name="Text 3"/>
          <p:cNvSpPr/>
          <p:nvPr/>
        </p:nvSpPr>
        <p:spPr>
          <a:xfrm>
            <a:off x="859536" y="3282696"/>
            <a:ext cx="2090090"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Are required IDs, dates and statuses present?</a:t>
            </a:r>
            <a:endParaRPr lang="en-US" sz="1510" dirty="0">
              <a:latin typeface="Times New Roman" panose="02020603050405020304" pitchFamily="18" charset="0"/>
              <a:cs typeface="Times New Roman" panose="02020603050405020304" pitchFamily="18" charset="0"/>
            </a:endParaRPr>
          </a:p>
        </p:txBody>
      </p:sp>
      <p:sp>
        <p:nvSpPr>
          <p:cNvPr id="6" name="Shape 4"/>
          <p:cNvSpPr/>
          <p:nvPr/>
        </p:nvSpPr>
        <p:spPr>
          <a:xfrm>
            <a:off x="3406826" y="2487168"/>
            <a:ext cx="2593010" cy="2834640"/>
          </a:xfrm>
          <a:prstGeom prst="roundRect">
            <a:avLst>
              <a:gd name="adj" fmla="val 4937"/>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3406826" y="2487168"/>
            <a:ext cx="64008" cy="2834640"/>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3644570" y="2706624"/>
            <a:ext cx="2154098"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Uniqueness</a:t>
            </a:r>
            <a:endParaRPr lang="en-US" sz="1900" dirty="0">
              <a:latin typeface="Times New Roman" panose="02020603050405020304" pitchFamily="18" charset="0"/>
              <a:cs typeface="Times New Roman" panose="02020603050405020304" pitchFamily="18" charset="0"/>
            </a:endParaRPr>
          </a:p>
        </p:txBody>
      </p:sp>
      <p:sp>
        <p:nvSpPr>
          <p:cNvPr id="9" name="Text 7"/>
          <p:cNvSpPr/>
          <p:nvPr/>
        </p:nvSpPr>
        <p:spPr>
          <a:xfrm>
            <a:off x="3644570" y="3282696"/>
            <a:ext cx="2090090"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Has the same appointment been recorded twice?</a:t>
            </a:r>
            <a:endParaRPr lang="en-US" sz="1510" dirty="0">
              <a:latin typeface="Times New Roman" panose="02020603050405020304" pitchFamily="18" charset="0"/>
              <a:cs typeface="Times New Roman" panose="02020603050405020304" pitchFamily="18" charset="0"/>
            </a:endParaRPr>
          </a:p>
        </p:txBody>
      </p:sp>
      <p:sp>
        <p:nvSpPr>
          <p:cNvPr id="10" name="Shape 8"/>
          <p:cNvSpPr/>
          <p:nvPr/>
        </p:nvSpPr>
        <p:spPr>
          <a:xfrm>
            <a:off x="6191860" y="2487168"/>
            <a:ext cx="2593010" cy="2834640"/>
          </a:xfrm>
          <a:prstGeom prst="roundRect">
            <a:avLst>
              <a:gd name="adj" fmla="val 4937"/>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Shape 9"/>
          <p:cNvSpPr/>
          <p:nvPr/>
        </p:nvSpPr>
        <p:spPr>
          <a:xfrm>
            <a:off x="6191860" y="2487168"/>
            <a:ext cx="64008" cy="2834640"/>
          </a:xfrm>
          <a:prstGeom prst="rect">
            <a:avLst/>
          </a:prstGeom>
          <a:solidFill>
            <a:srgbClr val="8052D8"/>
          </a:solidFill>
          <a:ln w="12700">
            <a:solidFill>
              <a:srgbClr val="8052D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Text 10"/>
          <p:cNvSpPr/>
          <p:nvPr/>
        </p:nvSpPr>
        <p:spPr>
          <a:xfrm>
            <a:off x="6429604" y="2706624"/>
            <a:ext cx="2154098"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Validity</a:t>
            </a:r>
            <a:endParaRPr lang="en-US" sz="1900" dirty="0">
              <a:latin typeface="Times New Roman" panose="02020603050405020304" pitchFamily="18" charset="0"/>
              <a:cs typeface="Times New Roman" panose="02020603050405020304" pitchFamily="18" charset="0"/>
            </a:endParaRPr>
          </a:p>
        </p:txBody>
      </p:sp>
      <p:sp>
        <p:nvSpPr>
          <p:cNvPr id="13" name="Text 11"/>
          <p:cNvSpPr/>
          <p:nvPr/>
        </p:nvSpPr>
        <p:spPr>
          <a:xfrm>
            <a:off x="6429604" y="3282696"/>
            <a:ext cx="2090090"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Are status values and dates allowed?</a:t>
            </a:r>
            <a:endParaRPr lang="en-US" sz="1510" dirty="0">
              <a:latin typeface="Times New Roman" panose="02020603050405020304" pitchFamily="18" charset="0"/>
              <a:cs typeface="Times New Roman" panose="02020603050405020304" pitchFamily="18" charset="0"/>
            </a:endParaRPr>
          </a:p>
        </p:txBody>
      </p:sp>
      <p:sp>
        <p:nvSpPr>
          <p:cNvPr id="14" name="Shape 12"/>
          <p:cNvSpPr/>
          <p:nvPr/>
        </p:nvSpPr>
        <p:spPr>
          <a:xfrm>
            <a:off x="8976893" y="2487168"/>
            <a:ext cx="2593010" cy="2834640"/>
          </a:xfrm>
          <a:prstGeom prst="roundRect">
            <a:avLst>
              <a:gd name="adj" fmla="val 4937"/>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5" name="Shape 13"/>
          <p:cNvSpPr/>
          <p:nvPr/>
        </p:nvSpPr>
        <p:spPr>
          <a:xfrm>
            <a:off x="8976893" y="2487168"/>
            <a:ext cx="64008" cy="2834640"/>
          </a:xfrm>
          <a:prstGeom prst="rect">
            <a:avLst/>
          </a:prstGeom>
          <a:solidFill>
            <a:srgbClr val="E8A23A"/>
          </a:solidFill>
          <a:ln w="12700">
            <a:solidFill>
              <a:srgbClr val="E8A23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6" name="Text 14"/>
          <p:cNvSpPr/>
          <p:nvPr/>
        </p:nvSpPr>
        <p:spPr>
          <a:xfrm>
            <a:off x="9214637" y="2706624"/>
            <a:ext cx="2154098"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Consistency</a:t>
            </a:r>
            <a:endParaRPr lang="en-US" sz="1900" dirty="0">
              <a:latin typeface="Times New Roman" panose="02020603050405020304" pitchFamily="18" charset="0"/>
              <a:cs typeface="Times New Roman" panose="02020603050405020304" pitchFamily="18" charset="0"/>
            </a:endParaRPr>
          </a:p>
        </p:txBody>
      </p:sp>
      <p:sp>
        <p:nvSpPr>
          <p:cNvPr id="17" name="Text 15"/>
          <p:cNvSpPr/>
          <p:nvPr/>
        </p:nvSpPr>
        <p:spPr>
          <a:xfrm>
            <a:off x="9214637" y="3282696"/>
            <a:ext cx="2090090"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Do linked IDs and categories agree across tables?</a:t>
            </a:r>
            <a:endParaRPr lang="en-US" sz="1510" dirty="0">
              <a:latin typeface="Times New Roman" panose="02020603050405020304" pitchFamily="18" charset="0"/>
              <a:cs typeface="Times New Roman" panose="02020603050405020304" pitchFamily="18" charset="0"/>
            </a:endParaRPr>
          </a:p>
        </p:txBody>
      </p:sp>
      <p:sp>
        <p:nvSpPr>
          <p:cNvPr id="18" name="Text 16"/>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Four practical quality checks</a:t>
            </a:r>
            <a:endParaRPr lang="en-US" sz="3180" dirty="0">
              <a:latin typeface="Times New Roman" panose="02020603050405020304" pitchFamily="18" charset="0"/>
              <a:cs typeface="Times New Roman" panose="02020603050405020304" pitchFamily="18" charset="0"/>
            </a:endParaRPr>
          </a:p>
        </p:txBody>
      </p:sp>
      <p:sp>
        <p:nvSpPr>
          <p:cNvPr id="19" name="Text 17"/>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ENGINEER</a:t>
            </a:r>
            <a:endParaRPr lang="en-US" sz="1050" dirty="0">
              <a:latin typeface="Times New Roman" panose="02020603050405020304" pitchFamily="18" charset="0"/>
              <a:cs typeface="Times New Roman" panose="02020603050405020304" pitchFamily="18" charset="0"/>
            </a:endParaRPr>
          </a:p>
        </p:txBody>
      </p:sp>
      <p:sp>
        <p:nvSpPr>
          <p:cNvPr id="21" name="Shape 19"/>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2" name="Shape 20"/>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3" name="Text 21"/>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24" name="Text 22"/>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29</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2633472"/>
            <a:ext cx="3515258"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621792" y="2633472"/>
            <a:ext cx="3515258" cy="73152"/>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813816" y="2871216"/>
            <a:ext cx="3131210"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patients</a:t>
            </a:r>
            <a:endParaRPr lang="en-US" sz="2000" dirty="0">
              <a:latin typeface="Times New Roman" panose="02020603050405020304" pitchFamily="18" charset="0"/>
              <a:cs typeface="Times New Roman" panose="02020603050405020304" pitchFamily="18" charset="0"/>
            </a:endParaRPr>
          </a:p>
        </p:txBody>
      </p:sp>
      <p:sp>
        <p:nvSpPr>
          <p:cNvPr id="5" name="Text 3"/>
          <p:cNvSpPr/>
          <p:nvPr/>
        </p:nvSpPr>
        <p:spPr>
          <a:xfrm>
            <a:off x="813816" y="3401568"/>
            <a:ext cx="3131210"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patient_id</a:t>
            </a:r>
            <a:endParaRPr lang="en-US" sz="1430" dirty="0">
              <a:latin typeface="Times New Roman" panose="02020603050405020304" pitchFamily="18" charset="0"/>
              <a:cs typeface="Times New Roman" panose="02020603050405020304" pitchFamily="18" charset="0"/>
            </a:endParaRPr>
          </a:p>
        </p:txBody>
      </p:sp>
      <p:sp>
        <p:nvSpPr>
          <p:cNvPr id="6" name="Shape 4"/>
          <p:cNvSpPr/>
          <p:nvPr/>
        </p:nvSpPr>
        <p:spPr>
          <a:xfrm>
            <a:off x="4152595" y="3566160"/>
            <a:ext cx="164592" cy="301752"/>
          </a:xfrm>
          <a:prstGeom prst="chevron">
            <a:avLst/>
          </a:prstGeom>
          <a:solidFill>
            <a:srgbClr val="B5C2D0"/>
          </a:solidFill>
          <a:ln w="12700">
            <a:solidFill>
              <a:srgbClr val="B5C2D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4338218" y="2633472"/>
            <a:ext cx="3515258"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Shape 6"/>
          <p:cNvSpPr/>
          <p:nvPr/>
        </p:nvSpPr>
        <p:spPr>
          <a:xfrm>
            <a:off x="4338218" y="2633472"/>
            <a:ext cx="3515258" cy="73152"/>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4530242" y="2871216"/>
            <a:ext cx="3131210"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appointments</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4530242" y="3401568"/>
            <a:ext cx="3131210"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patient_id + doctor_id</a:t>
            </a:r>
            <a:endParaRPr lang="en-US" sz="1430" dirty="0">
              <a:latin typeface="Times New Roman" panose="02020603050405020304" pitchFamily="18" charset="0"/>
              <a:cs typeface="Times New Roman" panose="02020603050405020304" pitchFamily="18" charset="0"/>
            </a:endParaRPr>
          </a:p>
        </p:txBody>
      </p:sp>
      <p:sp>
        <p:nvSpPr>
          <p:cNvPr id="11" name="Shape 9"/>
          <p:cNvSpPr/>
          <p:nvPr/>
        </p:nvSpPr>
        <p:spPr>
          <a:xfrm>
            <a:off x="7869022" y="3566160"/>
            <a:ext cx="164592" cy="301752"/>
          </a:xfrm>
          <a:prstGeom prst="chevron">
            <a:avLst/>
          </a:prstGeom>
          <a:solidFill>
            <a:srgbClr val="B5C2D0"/>
          </a:solidFill>
          <a:ln w="12700">
            <a:solidFill>
              <a:srgbClr val="B5C2D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Shape 10"/>
          <p:cNvSpPr/>
          <p:nvPr/>
        </p:nvSpPr>
        <p:spPr>
          <a:xfrm>
            <a:off x="8054645" y="2633472"/>
            <a:ext cx="3515258"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3" name="Shape 11"/>
          <p:cNvSpPr/>
          <p:nvPr/>
        </p:nvSpPr>
        <p:spPr>
          <a:xfrm>
            <a:off x="8054645" y="2633472"/>
            <a:ext cx="3515258" cy="73152"/>
          </a:xfrm>
          <a:prstGeom prst="rect">
            <a:avLst/>
          </a:prstGeom>
          <a:solidFill>
            <a:srgbClr val="8052D8"/>
          </a:solidFill>
          <a:ln w="12700">
            <a:solidFill>
              <a:srgbClr val="8052D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4" name="Text 12"/>
          <p:cNvSpPr/>
          <p:nvPr/>
        </p:nvSpPr>
        <p:spPr>
          <a:xfrm>
            <a:off x="8246669" y="2871216"/>
            <a:ext cx="3131210"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doctors</a:t>
            </a:r>
            <a:endParaRPr lang="en-US" sz="2000" dirty="0">
              <a:latin typeface="Times New Roman" panose="02020603050405020304" pitchFamily="18" charset="0"/>
              <a:cs typeface="Times New Roman" panose="02020603050405020304" pitchFamily="18" charset="0"/>
            </a:endParaRPr>
          </a:p>
        </p:txBody>
      </p:sp>
      <p:sp>
        <p:nvSpPr>
          <p:cNvPr id="15" name="Text 13"/>
          <p:cNvSpPr/>
          <p:nvPr/>
        </p:nvSpPr>
        <p:spPr>
          <a:xfrm>
            <a:off x="8246669" y="3401568"/>
            <a:ext cx="3131210"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doctor_id</a:t>
            </a:r>
            <a:endParaRPr lang="en-US" sz="1430" dirty="0">
              <a:latin typeface="Times New Roman" panose="02020603050405020304" pitchFamily="18" charset="0"/>
              <a:cs typeface="Times New Roman" panose="02020603050405020304" pitchFamily="18" charset="0"/>
            </a:endParaRPr>
          </a:p>
        </p:txBody>
      </p:sp>
      <p:sp>
        <p:nvSpPr>
          <p:cNvPr id="16" name="Shape 14"/>
          <p:cNvSpPr/>
          <p:nvPr/>
        </p:nvSpPr>
        <p:spPr>
          <a:xfrm>
            <a:off x="621792" y="5650992"/>
            <a:ext cx="10948111" cy="493776"/>
          </a:xfrm>
          <a:prstGeom prst="roundRect">
            <a:avLst>
              <a:gd name="adj" fmla="val 22222"/>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Text 15"/>
          <p:cNvSpPr/>
          <p:nvPr/>
        </p:nvSpPr>
        <p:spPr>
          <a:xfrm>
            <a:off x="822960" y="5705856"/>
            <a:ext cx="1316736" cy="365760"/>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REMEMBER</a:t>
            </a:r>
            <a:endParaRPr lang="en-US" sz="1030" dirty="0">
              <a:latin typeface="Times New Roman" panose="02020603050405020304" pitchFamily="18" charset="0"/>
              <a:cs typeface="Times New Roman" panose="02020603050405020304" pitchFamily="18" charset="0"/>
            </a:endParaRPr>
          </a:p>
        </p:txBody>
      </p:sp>
      <p:sp>
        <p:nvSpPr>
          <p:cNvPr id="18" name="Text 16"/>
          <p:cNvSpPr/>
          <p:nvPr/>
        </p:nvSpPr>
        <p:spPr>
          <a:xfrm>
            <a:off x="2221992" y="5705856"/>
            <a:ext cx="9101023" cy="365760"/>
          </a:xfrm>
          <a:prstGeom prst="rect">
            <a:avLst/>
          </a:prstGeom>
          <a:noFill/>
          <a:ln/>
        </p:spPr>
        <p:txBody>
          <a:bodyPr wrap="square" lIns="0" tIns="0" rIns="0" bIns="0" rtlCol="0" anchor="ctr">
            <a:normAutofit/>
          </a:bodyPr>
          <a:lstStyle/>
          <a:p>
            <a:pPr marL="0" indent="0" algn="l">
              <a:buNone/>
            </a:pPr>
            <a:r>
              <a:rPr lang="en-US" sz="1340" b="1" dirty="0">
                <a:solidFill>
                  <a:srgbClr val="172B42"/>
                </a:solidFill>
                <a:latin typeface="Times New Roman" panose="02020603050405020304" pitchFamily="18" charset="0"/>
                <a:ea typeface="Inter" pitchFamily="34" charset="-122"/>
                <a:cs typeface="Times New Roman" panose="02020603050405020304" pitchFamily="18" charset="0"/>
              </a:rPr>
              <a:t>A join adds useful context to a record by matching IDs.</a:t>
            </a:r>
            <a:endParaRPr lang="en-US" sz="1340" dirty="0">
              <a:latin typeface="Times New Roman" panose="02020603050405020304" pitchFamily="18" charset="0"/>
              <a:cs typeface="Times New Roman" panose="02020603050405020304" pitchFamily="18" charset="0"/>
            </a:endParaRPr>
          </a:p>
        </p:txBody>
      </p:sp>
      <p:sp>
        <p:nvSpPr>
          <p:cNvPr id="19" name="Text 17"/>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Joins: connect related tables</a:t>
            </a:r>
            <a:endParaRPr lang="en-US" sz="3180" dirty="0">
              <a:latin typeface="Times New Roman" panose="02020603050405020304" pitchFamily="18" charset="0"/>
              <a:cs typeface="Times New Roman" panose="02020603050405020304" pitchFamily="18" charset="0"/>
            </a:endParaRPr>
          </a:p>
        </p:txBody>
      </p:sp>
      <p:sp>
        <p:nvSpPr>
          <p:cNvPr id="20" name="Text 18"/>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ENGINEER</a:t>
            </a:r>
            <a:endParaRPr lang="en-US" sz="1050" dirty="0">
              <a:latin typeface="Times New Roman" panose="02020603050405020304" pitchFamily="18" charset="0"/>
              <a:cs typeface="Times New Roman" panose="02020603050405020304" pitchFamily="18" charset="0"/>
            </a:endParaRPr>
          </a:p>
        </p:txBody>
      </p:sp>
      <p:sp>
        <p:nvSpPr>
          <p:cNvPr id="22" name="Shape 20"/>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3" name="Shape 21"/>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4" name="Text 22"/>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25" name="Text 23"/>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30</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42416" y="1947672"/>
            <a:ext cx="10113264" cy="941832"/>
          </a:xfrm>
          <a:prstGeom prst="rect">
            <a:avLst/>
          </a:prstGeom>
          <a:noFill/>
          <a:ln/>
        </p:spPr>
        <p:txBody>
          <a:bodyPr wrap="square" lIns="0" tIns="0" rIns="0" bIns="0" rtlCol="0" anchor="ctr">
            <a:normAutofit/>
          </a:bodyPr>
          <a:lstStyle/>
          <a:p>
            <a:pPr marL="0" indent="0" algn="ctr">
              <a:buNone/>
            </a:pPr>
            <a:r>
              <a:rPr lang="en-US" sz="4600" b="1" dirty="0">
                <a:solidFill>
                  <a:srgbClr val="172B42"/>
                </a:solidFill>
                <a:latin typeface="Inter" pitchFamily="34" charset="0"/>
                <a:ea typeface="Inter" pitchFamily="34" charset="-122"/>
                <a:cs typeface="Inter" pitchFamily="34" charset="-120"/>
              </a:rPr>
              <a:t>LUNCH BREAK</a:t>
            </a:r>
            <a:endParaRPr lang="en-US" sz="4600" dirty="0"/>
          </a:p>
        </p:txBody>
      </p:sp>
      <p:sp>
        <p:nvSpPr>
          <p:cNvPr id="3" name="Text 1"/>
          <p:cNvSpPr/>
          <p:nvPr/>
        </p:nvSpPr>
        <p:spPr>
          <a:xfrm>
            <a:off x="1499616" y="3200400"/>
            <a:ext cx="9235440" cy="512064"/>
          </a:xfrm>
          <a:prstGeom prst="rect">
            <a:avLst/>
          </a:prstGeom>
          <a:noFill/>
          <a:ln/>
        </p:spPr>
        <p:txBody>
          <a:bodyPr wrap="square" lIns="0" tIns="0" rIns="0" bIns="0" rtlCol="0" anchor="ctr">
            <a:normAutofit/>
          </a:bodyPr>
          <a:lstStyle/>
          <a:p>
            <a:pPr algn="ctr"/>
            <a:r>
              <a:rPr lang="en-US" sz="1900" dirty="0">
                <a:solidFill>
                  <a:srgbClr val="5C6D80"/>
                </a:solidFill>
                <a:latin typeface="Inter" pitchFamily="34" charset="0"/>
                <a:ea typeface="Inter" pitchFamily="34" charset="-122"/>
                <a:cs typeface="Inter" pitchFamily="34" charset="-120"/>
              </a:rPr>
              <a:t>12:40–1:10 PM  ·  </a:t>
            </a:r>
            <a:r>
              <a:rPr lang="en-US" sz="1900" dirty="0">
                <a:solidFill>
                  <a:srgbClr val="5C6D80"/>
                </a:solidFill>
                <a:latin typeface="Times New Roman" panose="02020603050405020304" pitchFamily="18" charset="0"/>
                <a:ea typeface="Inter" pitchFamily="34" charset="-122"/>
                <a:cs typeface="Times New Roman" panose="02020603050405020304" pitchFamily="18" charset="0"/>
              </a:rPr>
              <a:t>We resume with the Data Engineer role.</a:t>
            </a:r>
            <a:endParaRPr lang="en-US" sz="1900" dirty="0">
              <a:latin typeface="Times New Roman" panose="02020603050405020304" pitchFamily="18" charset="0"/>
              <a:cs typeface="Times New Roman" panose="02020603050405020304" pitchFamily="18" charset="0"/>
            </a:endParaRPr>
          </a:p>
        </p:txBody>
      </p:sp>
      <p:sp>
        <p:nvSpPr>
          <p:cNvPr id="4" name="Shape 2"/>
          <p:cNvSpPr/>
          <p:nvPr/>
        </p:nvSpPr>
        <p:spPr>
          <a:xfrm>
            <a:off x="4919472" y="4224528"/>
            <a:ext cx="2377440" cy="73152"/>
          </a:xfrm>
          <a:prstGeom prst="roundRect">
            <a:avLst>
              <a:gd name="adj" fmla="val 37500"/>
            </a:avLst>
          </a:prstGeom>
          <a:solidFill>
            <a:srgbClr val="0D9488"/>
          </a:solidFill>
          <a:ln w="12700">
            <a:solidFill>
              <a:srgbClr val="0D9488"/>
            </a:solidFill>
            <a:prstDash val="solid"/>
          </a:ln>
        </p:spPr>
        <p:txBody>
          <a:bodyPr/>
          <a:lstStyle/>
          <a:p>
            <a:endParaRPr/>
          </a:p>
        </p:txBody>
      </p:sp>
      <p:sp>
        <p:nvSpPr>
          <p:cNvPr id="5" name="Text 3"/>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Inter" pitchFamily="34" charset="0"/>
                <a:ea typeface="Inter" pitchFamily="34" charset="-122"/>
                <a:cs typeface="Inter" pitchFamily="34" charset="-120"/>
              </a:rPr>
              <a:t>LUNCH</a:t>
            </a:r>
            <a:endParaRPr lang="en-US" sz="1050" dirty="0"/>
          </a:p>
        </p:txBody>
      </p:sp>
      <p:sp>
        <p:nvSpPr>
          <p:cNvPr id="7" name="Shape 5"/>
          <p:cNvSpPr/>
          <p:nvPr/>
        </p:nvSpPr>
        <p:spPr>
          <a:xfrm>
            <a:off x="621792" y="658368"/>
            <a:ext cx="10948111" cy="0"/>
          </a:xfrm>
          <a:prstGeom prst="line">
            <a:avLst/>
          </a:prstGeom>
          <a:noFill/>
          <a:ln w="15240">
            <a:solidFill>
              <a:srgbClr val="34506B"/>
            </a:solidFill>
            <a:prstDash val="solid"/>
          </a:ln>
        </p:spPr>
        <p:txBody>
          <a:bodyPr/>
          <a:lstStyle/>
          <a:p>
            <a:endParaRPr/>
          </a:p>
        </p:txBody>
      </p:sp>
      <p:sp>
        <p:nvSpPr>
          <p:cNvPr id="8" name="Shape 6"/>
          <p:cNvSpPr/>
          <p:nvPr/>
        </p:nvSpPr>
        <p:spPr>
          <a:xfrm>
            <a:off x="621792" y="6455664"/>
            <a:ext cx="10948111" cy="0"/>
          </a:xfrm>
          <a:prstGeom prst="line">
            <a:avLst/>
          </a:prstGeom>
          <a:noFill/>
          <a:ln w="12700">
            <a:solidFill>
              <a:srgbClr val="34506B"/>
            </a:solidFill>
            <a:prstDash val="solid"/>
          </a:ln>
        </p:spPr>
        <p:txBody>
          <a:bodyPr/>
          <a:lstStyle/>
          <a:p>
            <a:endParaRPr/>
          </a:p>
        </p:txBody>
      </p:sp>
      <p:sp>
        <p:nvSpPr>
          <p:cNvPr id="9" name="Text 7"/>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Inter" pitchFamily="34" charset="0"/>
                <a:ea typeface="Inter" pitchFamily="34" charset="-122"/>
                <a:cs typeface="Inter" pitchFamily="34" charset="-120"/>
              </a:rPr>
              <a:t>K. R. MANGALAM UNIVERSITY  •  21 OCT 2026</a:t>
            </a:r>
            <a:endParaRPr lang="en-US" sz="900" dirty="0"/>
          </a:p>
        </p:txBody>
      </p:sp>
      <p:sp>
        <p:nvSpPr>
          <p:cNvPr id="10" name="Text 8"/>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Inter" pitchFamily="34" charset="0"/>
                <a:ea typeface="Inter" pitchFamily="34" charset="-122"/>
                <a:cs typeface="Inter" pitchFamily="34" charset="-120"/>
              </a:rPr>
              <a:t>NAMAN SHARMA   /   34</a:t>
            </a:r>
            <a:endParaRPr lang="en-US" sz="9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1248" y="2340864"/>
            <a:ext cx="7287768" cy="3090672"/>
          </a:xfrm>
          <a:prstGeom prst="roundRect">
            <a:avLst>
              <a:gd name="adj" fmla="val 4734"/>
            </a:avLst>
          </a:prstGeom>
          <a:solidFill>
            <a:srgbClr val="EAF2F7"/>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Text 1"/>
          <p:cNvSpPr/>
          <p:nvPr/>
        </p:nvSpPr>
        <p:spPr>
          <a:xfrm>
            <a:off x="1078992" y="2569464"/>
            <a:ext cx="3657600" cy="256032"/>
          </a:xfrm>
          <a:prstGeom prst="rect">
            <a:avLst/>
          </a:prstGeom>
          <a:noFill/>
          <a:ln/>
        </p:spPr>
        <p:txBody>
          <a:bodyPr wrap="square" lIns="0" tIns="0" rIns="0" bIns="0" rtlCol="0" anchor="ctr">
            <a:normAutofit/>
          </a:bodyPr>
          <a:lstStyle/>
          <a:p>
            <a:pPr marL="0" indent="0" algn="l">
              <a:buNone/>
            </a:pPr>
            <a:r>
              <a:rPr lang="en-US" sz="1100" b="1" kern="0" spc="100" dirty="0">
                <a:solidFill>
                  <a:srgbClr val="087B75"/>
                </a:solidFill>
                <a:latin typeface="Times New Roman" panose="02020603050405020304" pitchFamily="18" charset="0"/>
                <a:ea typeface="Inter" pitchFamily="34" charset="-122"/>
                <a:cs typeface="Times New Roman" panose="02020603050405020304" pitchFamily="18" charset="0"/>
              </a:rPr>
              <a:t>SQL  /  EXAMPLE</a:t>
            </a:r>
            <a:endParaRPr lang="en-US" sz="1100" dirty="0">
              <a:latin typeface="Times New Roman" panose="02020603050405020304" pitchFamily="18" charset="0"/>
              <a:cs typeface="Times New Roman" panose="02020603050405020304" pitchFamily="18" charset="0"/>
            </a:endParaRPr>
          </a:p>
        </p:txBody>
      </p:sp>
      <p:sp>
        <p:nvSpPr>
          <p:cNvPr id="4" name="Text 2"/>
          <p:cNvSpPr/>
          <p:nvPr/>
        </p:nvSpPr>
        <p:spPr>
          <a:xfrm>
            <a:off x="1078992" y="2999232"/>
            <a:ext cx="6830568" cy="2084832"/>
          </a:xfrm>
          <a:prstGeom prst="rect">
            <a:avLst/>
          </a:prstGeom>
          <a:noFill/>
          <a:ln/>
        </p:spPr>
        <p:txBody>
          <a:bodyPr wrap="square" lIns="0" tIns="0" rIns="0" bIns="0" rtlCol="0" anchor="t">
            <a:normAutofit/>
          </a:bodyPr>
          <a:lstStyle/>
          <a:p>
            <a:pPr marL="0" indent="0" algn="l">
              <a:buNone/>
            </a:pPr>
            <a:r>
              <a:rPr lang="en-US" sz="1630" dirty="0">
                <a:solidFill>
                  <a:srgbClr val="172B42"/>
                </a:solidFill>
                <a:latin typeface="Times New Roman" panose="02020603050405020304" pitchFamily="18" charset="0"/>
                <a:ea typeface="Aptos Mono" pitchFamily="34" charset="-122"/>
                <a:cs typeface="Times New Roman" panose="02020603050405020304" pitchFamily="18" charset="0"/>
              </a:rPr>
              <a:t>SELECT a.appointment_id,</a:t>
            </a:r>
            <a:endParaRPr lang="en-US" sz="1630" dirty="0">
              <a:latin typeface="Times New Roman" panose="02020603050405020304" pitchFamily="18" charset="0"/>
              <a:cs typeface="Times New Roman" panose="02020603050405020304" pitchFamily="18" charset="0"/>
            </a:endParaRPr>
          </a:p>
          <a:p>
            <a:pPr marL="0" indent="0" algn="l">
              <a:buNone/>
            </a:pPr>
            <a:r>
              <a:rPr lang="en-US" sz="1630" dirty="0">
                <a:solidFill>
                  <a:srgbClr val="172B42"/>
                </a:solidFill>
                <a:latin typeface="Times New Roman" panose="02020603050405020304" pitchFamily="18" charset="0"/>
                <a:ea typeface="Aptos Mono" pitchFamily="34" charset="-122"/>
                <a:cs typeface="Times New Roman" panose="02020603050405020304" pitchFamily="18" charset="0"/>
              </a:rPr>
              <a:t>       a.status,</a:t>
            </a:r>
            <a:endParaRPr lang="en-US" sz="1630" dirty="0">
              <a:latin typeface="Times New Roman" panose="02020603050405020304" pitchFamily="18" charset="0"/>
              <a:cs typeface="Times New Roman" panose="02020603050405020304" pitchFamily="18" charset="0"/>
            </a:endParaRPr>
          </a:p>
          <a:p>
            <a:pPr marL="0" indent="0" algn="l">
              <a:buNone/>
            </a:pPr>
            <a:r>
              <a:rPr lang="en-US" sz="1630" dirty="0">
                <a:solidFill>
                  <a:srgbClr val="172B42"/>
                </a:solidFill>
                <a:latin typeface="Times New Roman" panose="02020603050405020304" pitchFamily="18" charset="0"/>
                <a:ea typeface="Aptos Mono" pitchFamily="34" charset="-122"/>
                <a:cs typeface="Times New Roman" panose="02020603050405020304" pitchFamily="18" charset="0"/>
              </a:rPr>
              <a:t>       d.specialization</a:t>
            </a:r>
            <a:endParaRPr lang="en-US" sz="1630" dirty="0">
              <a:latin typeface="Times New Roman" panose="02020603050405020304" pitchFamily="18" charset="0"/>
              <a:cs typeface="Times New Roman" panose="02020603050405020304" pitchFamily="18" charset="0"/>
            </a:endParaRPr>
          </a:p>
          <a:p>
            <a:pPr marL="0" indent="0" algn="l">
              <a:buNone/>
            </a:pPr>
            <a:r>
              <a:rPr lang="en-US" sz="1630" dirty="0">
                <a:solidFill>
                  <a:srgbClr val="172B42"/>
                </a:solidFill>
                <a:latin typeface="Times New Roman" panose="02020603050405020304" pitchFamily="18" charset="0"/>
                <a:ea typeface="Aptos Mono" pitchFamily="34" charset="-122"/>
                <a:cs typeface="Times New Roman" panose="02020603050405020304" pitchFamily="18" charset="0"/>
              </a:rPr>
              <a:t>FROM appointments AS a</a:t>
            </a:r>
            <a:endParaRPr lang="en-US" sz="1630" dirty="0">
              <a:latin typeface="Times New Roman" panose="02020603050405020304" pitchFamily="18" charset="0"/>
              <a:cs typeface="Times New Roman" panose="02020603050405020304" pitchFamily="18" charset="0"/>
            </a:endParaRPr>
          </a:p>
          <a:p>
            <a:pPr marL="0" indent="0" algn="l">
              <a:buNone/>
            </a:pPr>
            <a:r>
              <a:rPr lang="en-US" sz="1630" dirty="0">
                <a:solidFill>
                  <a:srgbClr val="172B42"/>
                </a:solidFill>
                <a:latin typeface="Times New Roman" panose="02020603050405020304" pitchFamily="18" charset="0"/>
                <a:ea typeface="Aptos Mono" pitchFamily="34" charset="-122"/>
                <a:cs typeface="Times New Roman" panose="02020603050405020304" pitchFamily="18" charset="0"/>
              </a:rPr>
              <a:t>JOIN doctors AS d</a:t>
            </a:r>
            <a:endParaRPr lang="en-US" sz="1630" dirty="0">
              <a:latin typeface="Times New Roman" panose="02020603050405020304" pitchFamily="18" charset="0"/>
              <a:cs typeface="Times New Roman" panose="02020603050405020304" pitchFamily="18" charset="0"/>
            </a:endParaRPr>
          </a:p>
          <a:p>
            <a:pPr marL="0" indent="0" algn="l">
              <a:buNone/>
            </a:pPr>
            <a:r>
              <a:rPr lang="en-US" sz="1630" dirty="0">
                <a:solidFill>
                  <a:srgbClr val="172B42"/>
                </a:solidFill>
                <a:latin typeface="Times New Roman" panose="02020603050405020304" pitchFamily="18" charset="0"/>
                <a:ea typeface="Aptos Mono" pitchFamily="34" charset="-122"/>
                <a:cs typeface="Times New Roman" panose="02020603050405020304" pitchFamily="18" charset="0"/>
              </a:rPr>
              <a:t>  ON a.doctor_id = d.doctor_id;</a:t>
            </a:r>
            <a:endParaRPr lang="en-US" sz="1630" dirty="0">
              <a:latin typeface="Times New Roman" panose="02020603050405020304" pitchFamily="18" charset="0"/>
              <a:cs typeface="Times New Roman" panose="02020603050405020304" pitchFamily="18" charset="0"/>
            </a:endParaRPr>
          </a:p>
        </p:txBody>
      </p:sp>
      <p:sp>
        <p:nvSpPr>
          <p:cNvPr id="5" name="Shape 3"/>
          <p:cNvSpPr/>
          <p:nvPr/>
        </p:nvSpPr>
        <p:spPr>
          <a:xfrm>
            <a:off x="8357616" y="2340864"/>
            <a:ext cx="2962656" cy="3090672"/>
          </a:xfrm>
          <a:prstGeom prst="roundRect">
            <a:avLst>
              <a:gd name="adj" fmla="val 4321"/>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6" name="Shape 4"/>
          <p:cNvSpPr/>
          <p:nvPr/>
        </p:nvSpPr>
        <p:spPr>
          <a:xfrm>
            <a:off x="8357616" y="2340864"/>
            <a:ext cx="64008" cy="3090672"/>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8595360" y="3136392"/>
            <a:ext cx="2459736" cy="2112264"/>
          </a:xfrm>
          <a:prstGeom prst="rect">
            <a:avLst/>
          </a:prstGeom>
          <a:noFill/>
          <a:ln/>
        </p:spPr>
        <p:txBody>
          <a:bodyPr wrap="square" lIns="0" tIns="0" rIns="0" bIns="0" rtlCol="0" anchor="t">
            <a:normAutofit/>
          </a:bodyPr>
          <a:lstStyle/>
          <a:p>
            <a:pPr marL="0" indent="0" algn="l">
              <a:buNone/>
            </a:pPr>
            <a:r>
              <a:rPr lang="en-US" sz="1650" dirty="0">
                <a:solidFill>
                  <a:srgbClr val="5C6D80"/>
                </a:solidFill>
                <a:latin typeface="Times New Roman" panose="02020603050405020304" pitchFamily="18" charset="0"/>
                <a:ea typeface="Inter" pitchFamily="34" charset="-122"/>
                <a:cs typeface="Times New Roman" panose="02020603050405020304" pitchFamily="18" charset="0"/>
              </a:rPr>
              <a:t>For each appointment, find its doctor and attach the specialization.</a:t>
            </a:r>
            <a:endParaRPr lang="en-US" sz="1650" dirty="0">
              <a:latin typeface="Times New Roman" panose="02020603050405020304" pitchFamily="18" charset="0"/>
              <a:cs typeface="Times New Roman" panose="02020603050405020304" pitchFamily="18" charset="0"/>
            </a:endParaRPr>
          </a:p>
        </p:txBody>
      </p:sp>
      <p:sp>
        <p:nvSpPr>
          <p:cNvPr id="9" name="Text 7"/>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SQL JOIN: add doctor specialization</a:t>
            </a:r>
            <a:endParaRPr lang="en-US" sz="3180" dirty="0">
              <a:latin typeface="Times New Roman" panose="02020603050405020304" pitchFamily="18" charset="0"/>
              <a:cs typeface="Times New Roman" panose="02020603050405020304" pitchFamily="18" charset="0"/>
            </a:endParaRPr>
          </a:p>
        </p:txBody>
      </p:sp>
      <p:sp>
        <p:nvSpPr>
          <p:cNvPr id="10" name="Text 8"/>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ENGINEER</a:t>
            </a:r>
            <a:endParaRPr lang="en-US" sz="1050" dirty="0">
              <a:latin typeface="Times New Roman" panose="02020603050405020304" pitchFamily="18" charset="0"/>
              <a:cs typeface="Times New Roman" panose="02020603050405020304" pitchFamily="18" charset="0"/>
            </a:endParaRPr>
          </a:p>
        </p:txBody>
      </p:sp>
      <p:sp>
        <p:nvSpPr>
          <p:cNvPr id="12" name="Shape 10"/>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3" name="Shape 11"/>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4" name="Text 12"/>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5" name="Text 13"/>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31</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1248" y="2340864"/>
            <a:ext cx="7287768" cy="3090672"/>
          </a:xfrm>
          <a:prstGeom prst="roundRect">
            <a:avLst>
              <a:gd name="adj" fmla="val 4734"/>
            </a:avLst>
          </a:prstGeom>
          <a:solidFill>
            <a:srgbClr val="EAF2F7"/>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Text 1"/>
          <p:cNvSpPr/>
          <p:nvPr/>
        </p:nvSpPr>
        <p:spPr>
          <a:xfrm>
            <a:off x="1078992" y="2569464"/>
            <a:ext cx="3657600" cy="256032"/>
          </a:xfrm>
          <a:prstGeom prst="rect">
            <a:avLst/>
          </a:prstGeom>
          <a:noFill/>
          <a:ln/>
        </p:spPr>
        <p:txBody>
          <a:bodyPr wrap="square" lIns="0" tIns="0" rIns="0" bIns="0" rtlCol="0" anchor="ctr">
            <a:normAutofit/>
          </a:bodyPr>
          <a:lstStyle/>
          <a:p>
            <a:pPr marL="0" indent="0" algn="l">
              <a:buNone/>
            </a:pPr>
            <a:r>
              <a:rPr lang="en-US" sz="1100" b="1" kern="0" spc="100" dirty="0">
                <a:solidFill>
                  <a:srgbClr val="087B75"/>
                </a:solidFill>
                <a:latin typeface="Times New Roman" panose="02020603050405020304" pitchFamily="18" charset="0"/>
                <a:ea typeface="Inter" pitchFamily="34" charset="-122"/>
                <a:cs typeface="Times New Roman" panose="02020603050405020304" pitchFamily="18" charset="0"/>
              </a:rPr>
              <a:t>SQL  /  EXAMPLE</a:t>
            </a:r>
            <a:endParaRPr lang="en-US" sz="1100" dirty="0">
              <a:latin typeface="Times New Roman" panose="02020603050405020304" pitchFamily="18" charset="0"/>
              <a:cs typeface="Times New Roman" panose="02020603050405020304" pitchFamily="18" charset="0"/>
            </a:endParaRPr>
          </a:p>
        </p:txBody>
      </p:sp>
      <p:sp>
        <p:nvSpPr>
          <p:cNvPr id="4" name="Text 2"/>
          <p:cNvSpPr/>
          <p:nvPr/>
        </p:nvSpPr>
        <p:spPr>
          <a:xfrm>
            <a:off x="1078992" y="2999232"/>
            <a:ext cx="6830568" cy="2084832"/>
          </a:xfrm>
          <a:prstGeom prst="rect">
            <a:avLst/>
          </a:prstGeom>
          <a:noFill/>
          <a:ln/>
        </p:spPr>
        <p:txBody>
          <a:bodyPr wrap="square" lIns="0" tIns="0" rIns="0" bIns="0" rtlCol="0" anchor="t">
            <a:normAutofit/>
          </a:bodyPr>
          <a:lstStyle/>
          <a:p>
            <a:pPr marL="0" indent="0" algn="l">
              <a:buNone/>
            </a:pPr>
            <a:r>
              <a:rPr lang="en-US" sz="1630" dirty="0">
                <a:solidFill>
                  <a:srgbClr val="172B42"/>
                </a:solidFill>
                <a:latin typeface="Times New Roman" panose="02020603050405020304" pitchFamily="18" charset="0"/>
                <a:ea typeface="Aptos Mono" pitchFamily="34" charset="-122"/>
                <a:cs typeface="Times New Roman" panose="02020603050405020304" pitchFamily="18" charset="0"/>
              </a:rPr>
              <a:t>SELECT d.specialization,</a:t>
            </a:r>
            <a:endParaRPr lang="en-US" sz="1630" dirty="0">
              <a:latin typeface="Times New Roman" panose="02020603050405020304" pitchFamily="18" charset="0"/>
              <a:cs typeface="Times New Roman" panose="02020603050405020304" pitchFamily="18" charset="0"/>
            </a:endParaRPr>
          </a:p>
          <a:p>
            <a:pPr marL="0" indent="0" algn="l">
              <a:buNone/>
            </a:pPr>
            <a:r>
              <a:rPr lang="en-US" sz="1630" dirty="0">
                <a:solidFill>
                  <a:srgbClr val="172B42"/>
                </a:solidFill>
                <a:latin typeface="Times New Roman" panose="02020603050405020304" pitchFamily="18" charset="0"/>
                <a:ea typeface="Aptos Mono" pitchFamily="34" charset="-122"/>
                <a:cs typeface="Times New Roman" panose="02020603050405020304" pitchFamily="18" charset="0"/>
              </a:rPr>
              <a:t>       COUNT(*) AS appointment_count</a:t>
            </a:r>
            <a:endParaRPr lang="en-US" sz="1630" dirty="0">
              <a:latin typeface="Times New Roman" panose="02020603050405020304" pitchFamily="18" charset="0"/>
              <a:cs typeface="Times New Roman" panose="02020603050405020304" pitchFamily="18" charset="0"/>
            </a:endParaRPr>
          </a:p>
          <a:p>
            <a:pPr marL="0" indent="0" algn="l">
              <a:buNone/>
            </a:pPr>
            <a:r>
              <a:rPr lang="en-US" sz="1630" dirty="0">
                <a:solidFill>
                  <a:srgbClr val="172B42"/>
                </a:solidFill>
                <a:latin typeface="Times New Roman" panose="02020603050405020304" pitchFamily="18" charset="0"/>
                <a:ea typeface="Aptos Mono" pitchFamily="34" charset="-122"/>
                <a:cs typeface="Times New Roman" panose="02020603050405020304" pitchFamily="18" charset="0"/>
              </a:rPr>
              <a:t>FROM appointments AS a</a:t>
            </a:r>
            <a:endParaRPr lang="en-US" sz="1630" dirty="0">
              <a:latin typeface="Times New Roman" panose="02020603050405020304" pitchFamily="18" charset="0"/>
              <a:cs typeface="Times New Roman" panose="02020603050405020304" pitchFamily="18" charset="0"/>
            </a:endParaRPr>
          </a:p>
          <a:p>
            <a:pPr marL="0" indent="0" algn="l">
              <a:buNone/>
            </a:pPr>
            <a:r>
              <a:rPr lang="en-US" sz="1630" dirty="0">
                <a:solidFill>
                  <a:srgbClr val="172B42"/>
                </a:solidFill>
                <a:latin typeface="Times New Roman" panose="02020603050405020304" pitchFamily="18" charset="0"/>
                <a:ea typeface="Aptos Mono" pitchFamily="34" charset="-122"/>
                <a:cs typeface="Times New Roman" panose="02020603050405020304" pitchFamily="18" charset="0"/>
              </a:rPr>
              <a:t>JOIN doctors AS d</a:t>
            </a:r>
            <a:endParaRPr lang="en-US" sz="1630" dirty="0">
              <a:latin typeface="Times New Roman" panose="02020603050405020304" pitchFamily="18" charset="0"/>
              <a:cs typeface="Times New Roman" panose="02020603050405020304" pitchFamily="18" charset="0"/>
            </a:endParaRPr>
          </a:p>
          <a:p>
            <a:pPr marL="0" indent="0" algn="l">
              <a:buNone/>
            </a:pPr>
            <a:r>
              <a:rPr lang="en-US" sz="1630" dirty="0">
                <a:solidFill>
                  <a:srgbClr val="172B42"/>
                </a:solidFill>
                <a:latin typeface="Times New Roman" panose="02020603050405020304" pitchFamily="18" charset="0"/>
                <a:ea typeface="Aptos Mono" pitchFamily="34" charset="-122"/>
                <a:cs typeface="Times New Roman" panose="02020603050405020304" pitchFamily="18" charset="0"/>
              </a:rPr>
              <a:t>  ON a.doctor_id = d.doctor_id</a:t>
            </a:r>
            <a:endParaRPr lang="en-US" sz="1630" dirty="0">
              <a:latin typeface="Times New Roman" panose="02020603050405020304" pitchFamily="18" charset="0"/>
              <a:cs typeface="Times New Roman" panose="02020603050405020304" pitchFamily="18" charset="0"/>
            </a:endParaRPr>
          </a:p>
          <a:p>
            <a:pPr marL="0" indent="0" algn="l">
              <a:buNone/>
            </a:pPr>
            <a:r>
              <a:rPr lang="en-US" sz="1630" dirty="0">
                <a:solidFill>
                  <a:srgbClr val="172B42"/>
                </a:solidFill>
                <a:latin typeface="Times New Roman" panose="02020603050405020304" pitchFamily="18" charset="0"/>
                <a:ea typeface="Aptos Mono" pitchFamily="34" charset="-122"/>
                <a:cs typeface="Times New Roman" panose="02020603050405020304" pitchFamily="18" charset="0"/>
              </a:rPr>
              <a:t>GROUP BY d.specialization;</a:t>
            </a:r>
            <a:endParaRPr lang="en-US" sz="1630" dirty="0">
              <a:latin typeface="Times New Roman" panose="02020603050405020304" pitchFamily="18" charset="0"/>
              <a:cs typeface="Times New Roman" panose="02020603050405020304" pitchFamily="18" charset="0"/>
            </a:endParaRPr>
          </a:p>
        </p:txBody>
      </p:sp>
      <p:sp>
        <p:nvSpPr>
          <p:cNvPr id="5" name="Shape 3"/>
          <p:cNvSpPr/>
          <p:nvPr/>
        </p:nvSpPr>
        <p:spPr>
          <a:xfrm>
            <a:off x="8357616" y="2340864"/>
            <a:ext cx="2962656" cy="3090672"/>
          </a:xfrm>
          <a:prstGeom prst="roundRect">
            <a:avLst>
              <a:gd name="adj" fmla="val 4321"/>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6" name="Shape 4"/>
          <p:cNvSpPr/>
          <p:nvPr/>
        </p:nvSpPr>
        <p:spPr>
          <a:xfrm>
            <a:off x="8357616" y="2340864"/>
            <a:ext cx="64008" cy="3090672"/>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8595360" y="3136392"/>
            <a:ext cx="2459736" cy="2112264"/>
          </a:xfrm>
          <a:prstGeom prst="rect">
            <a:avLst/>
          </a:prstGeom>
          <a:noFill/>
          <a:ln/>
        </p:spPr>
        <p:txBody>
          <a:bodyPr wrap="square" lIns="0" tIns="0" rIns="0" bIns="0" rtlCol="0" anchor="t">
            <a:normAutofit/>
          </a:bodyPr>
          <a:lstStyle/>
          <a:p>
            <a:pPr marL="0" indent="0" algn="l">
              <a:buNone/>
            </a:pPr>
            <a:r>
              <a:rPr lang="en-US" sz="1650" dirty="0">
                <a:solidFill>
                  <a:srgbClr val="5C6D80"/>
                </a:solidFill>
                <a:latin typeface="Times New Roman" panose="02020603050405020304" pitchFamily="18" charset="0"/>
                <a:ea typeface="Inter" pitchFamily="34" charset="-122"/>
                <a:cs typeface="Times New Roman" panose="02020603050405020304" pitchFamily="18" charset="0"/>
              </a:rPr>
              <a:t>One row per specialization with a count of appointments.</a:t>
            </a:r>
            <a:endParaRPr lang="en-US" sz="1650" dirty="0">
              <a:latin typeface="Times New Roman" panose="02020603050405020304" pitchFamily="18" charset="0"/>
              <a:cs typeface="Times New Roman" panose="02020603050405020304" pitchFamily="18" charset="0"/>
            </a:endParaRPr>
          </a:p>
        </p:txBody>
      </p:sp>
      <p:sp>
        <p:nvSpPr>
          <p:cNvPr id="9" name="Text 7"/>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SQL GROUP BY: summarize the records</a:t>
            </a:r>
            <a:endParaRPr lang="en-US" sz="3180" dirty="0">
              <a:latin typeface="Times New Roman" panose="02020603050405020304" pitchFamily="18" charset="0"/>
              <a:cs typeface="Times New Roman" panose="02020603050405020304" pitchFamily="18" charset="0"/>
            </a:endParaRPr>
          </a:p>
        </p:txBody>
      </p:sp>
      <p:sp>
        <p:nvSpPr>
          <p:cNvPr id="10" name="Text 8"/>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ENGINEER</a:t>
            </a:r>
            <a:endParaRPr lang="en-US" sz="1050" dirty="0">
              <a:latin typeface="Times New Roman" panose="02020603050405020304" pitchFamily="18" charset="0"/>
              <a:cs typeface="Times New Roman" panose="02020603050405020304" pitchFamily="18" charset="0"/>
            </a:endParaRPr>
          </a:p>
        </p:txBody>
      </p:sp>
      <p:sp>
        <p:nvSpPr>
          <p:cNvPr id="12" name="Shape 10"/>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3" name="Shape 11"/>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4" name="Text 12"/>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5" name="Text 13"/>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32</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 y="2331720"/>
            <a:ext cx="6784848" cy="3108960"/>
          </a:xfrm>
          <a:prstGeom prst="roundRect">
            <a:avLst>
              <a:gd name="adj" fmla="val 470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Text 1"/>
          <p:cNvSpPr/>
          <p:nvPr/>
        </p:nvSpPr>
        <p:spPr>
          <a:xfrm>
            <a:off x="1088136" y="2606040"/>
            <a:ext cx="1645920" cy="292608"/>
          </a:xfrm>
          <a:prstGeom prst="rect">
            <a:avLst/>
          </a:prstGeom>
          <a:noFill/>
          <a:ln/>
        </p:spPr>
        <p:txBody>
          <a:bodyPr wrap="square" lIns="0" tIns="0" rIns="0" bIns="0" rtlCol="0" anchor="ctr">
            <a:normAutofit/>
          </a:bodyPr>
          <a:lstStyle/>
          <a:p>
            <a:pPr marL="0" indent="0" algn="l">
              <a:buNone/>
            </a:pPr>
            <a:r>
              <a:rPr lang="en-US" sz="1200" b="1" dirty="0">
                <a:solidFill>
                  <a:srgbClr val="087B75"/>
                </a:solidFill>
                <a:latin typeface="Times New Roman" panose="02020603050405020304" pitchFamily="18" charset="0"/>
                <a:ea typeface="Inter" pitchFamily="34" charset="-122"/>
                <a:cs typeface="Times New Roman" panose="02020603050405020304" pitchFamily="18" charset="0"/>
              </a:rPr>
              <a:t>TASK</a:t>
            </a:r>
            <a:endParaRPr lang="en-US" sz="1200" dirty="0">
              <a:latin typeface="Times New Roman" panose="02020603050405020304" pitchFamily="18" charset="0"/>
              <a:cs typeface="Times New Roman" panose="02020603050405020304" pitchFamily="18" charset="0"/>
            </a:endParaRPr>
          </a:p>
        </p:txBody>
      </p:sp>
      <p:sp>
        <p:nvSpPr>
          <p:cNvPr id="4" name="Shape 2"/>
          <p:cNvSpPr/>
          <p:nvPr/>
        </p:nvSpPr>
        <p:spPr>
          <a:xfrm>
            <a:off x="1078992" y="3154680"/>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5" name="Text 3"/>
          <p:cNvSpPr/>
          <p:nvPr/>
        </p:nvSpPr>
        <p:spPr>
          <a:xfrm>
            <a:off x="1325880" y="2862772"/>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Identify the source tables and their join keys.</a:t>
            </a:r>
            <a:endParaRPr lang="en-US" sz="1900" dirty="0">
              <a:latin typeface="Times New Roman" panose="02020603050405020304" pitchFamily="18" charset="0"/>
              <a:cs typeface="Times New Roman" panose="02020603050405020304" pitchFamily="18" charset="0"/>
            </a:endParaRPr>
          </a:p>
        </p:txBody>
      </p:sp>
      <p:sp>
        <p:nvSpPr>
          <p:cNvPr id="6" name="Shape 4"/>
          <p:cNvSpPr/>
          <p:nvPr/>
        </p:nvSpPr>
        <p:spPr>
          <a:xfrm>
            <a:off x="1078992" y="3776472"/>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Text 5"/>
          <p:cNvSpPr/>
          <p:nvPr/>
        </p:nvSpPr>
        <p:spPr>
          <a:xfrm>
            <a:off x="1325880" y="3484564"/>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Describe one Bronze → Silver cleaning rule.</a:t>
            </a:r>
            <a:endParaRPr lang="en-US" sz="1900" dirty="0">
              <a:latin typeface="Times New Roman" panose="02020603050405020304" pitchFamily="18" charset="0"/>
              <a:cs typeface="Times New Roman" panose="02020603050405020304" pitchFamily="18" charset="0"/>
            </a:endParaRPr>
          </a:p>
        </p:txBody>
      </p:sp>
      <p:sp>
        <p:nvSpPr>
          <p:cNvPr id="8" name="Shape 6"/>
          <p:cNvSpPr/>
          <p:nvPr/>
        </p:nvSpPr>
        <p:spPr>
          <a:xfrm>
            <a:off x="1078992" y="4398264"/>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1325880" y="4106356"/>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Write or describe one Gold-level KPI.</a:t>
            </a:r>
            <a:endParaRPr lang="en-US" sz="1900" dirty="0">
              <a:latin typeface="Times New Roman" panose="02020603050405020304" pitchFamily="18" charset="0"/>
              <a:cs typeface="Times New Roman" panose="02020603050405020304" pitchFamily="18" charset="0"/>
            </a:endParaRPr>
          </a:p>
        </p:txBody>
      </p:sp>
      <p:sp>
        <p:nvSpPr>
          <p:cNvPr id="10" name="Shape 8"/>
          <p:cNvSpPr/>
          <p:nvPr/>
        </p:nvSpPr>
        <p:spPr>
          <a:xfrm>
            <a:off x="7918704" y="2331720"/>
            <a:ext cx="3383280" cy="3108960"/>
          </a:xfrm>
          <a:prstGeom prst="roundRect">
            <a:avLst>
              <a:gd name="adj" fmla="val 4412"/>
            </a:avLst>
          </a:prstGeom>
          <a:solidFill>
            <a:srgbClr val="EAF2F7"/>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Text 9"/>
          <p:cNvSpPr/>
          <p:nvPr/>
        </p:nvSpPr>
        <p:spPr>
          <a:xfrm>
            <a:off x="8193024" y="2651760"/>
            <a:ext cx="2761488" cy="301752"/>
          </a:xfrm>
          <a:prstGeom prst="rect">
            <a:avLst/>
          </a:prstGeom>
          <a:noFill/>
          <a:ln/>
        </p:spPr>
        <p:txBody>
          <a:bodyPr wrap="square" lIns="0" tIns="0" rIns="0" bIns="0" rtlCol="0" anchor="ctr">
            <a:normAutofit/>
          </a:bodyPr>
          <a:lstStyle/>
          <a:p>
            <a:pPr marL="0" indent="0" algn="l">
              <a:buNone/>
            </a:pPr>
            <a:r>
              <a:rPr lang="en-US" sz="1300" b="1" dirty="0">
                <a:solidFill>
                  <a:srgbClr val="087B75"/>
                </a:solidFill>
                <a:latin typeface="Times New Roman" panose="02020603050405020304" pitchFamily="18" charset="0"/>
                <a:ea typeface="Inter" pitchFamily="34" charset="-122"/>
                <a:cs typeface="Times New Roman" panose="02020603050405020304" pitchFamily="18" charset="0"/>
              </a:rPr>
              <a:t>TEAM CHECKPOINT</a:t>
            </a:r>
            <a:endParaRPr lang="en-US" sz="1300" dirty="0">
              <a:latin typeface="Times New Roman" panose="02020603050405020304" pitchFamily="18" charset="0"/>
              <a:cs typeface="Times New Roman" panose="02020603050405020304" pitchFamily="18" charset="0"/>
            </a:endParaRPr>
          </a:p>
        </p:txBody>
      </p:sp>
      <p:sp>
        <p:nvSpPr>
          <p:cNvPr id="12" name="Text 10"/>
          <p:cNvSpPr/>
          <p:nvPr/>
        </p:nvSpPr>
        <p:spPr>
          <a:xfrm>
            <a:off x="8193024" y="3191256"/>
            <a:ext cx="2743200" cy="1755648"/>
          </a:xfrm>
          <a:prstGeom prst="rect">
            <a:avLst/>
          </a:prstGeom>
          <a:noFill/>
          <a:ln/>
        </p:spPr>
        <p:txBody>
          <a:bodyPr wrap="square" lIns="0" tIns="0" rIns="0" bIns="0" rtlCol="0" anchor="t">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A correct explanation for the team earns full credit.</a:t>
            </a:r>
            <a:endParaRPr lang="en-US" sz="1900" dirty="0">
              <a:latin typeface="Times New Roman" panose="02020603050405020304" pitchFamily="18" charset="0"/>
              <a:cs typeface="Times New Roman" panose="02020603050405020304" pitchFamily="18" charset="0"/>
            </a:endParaRPr>
          </a:p>
        </p:txBody>
      </p:sp>
      <p:sp>
        <p:nvSpPr>
          <p:cNvPr id="13" name="Text 11"/>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Engineer checkpoint: explain your plan</a:t>
            </a:r>
            <a:endParaRPr lang="en-US" sz="318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ENGINEER</a:t>
            </a:r>
            <a:endParaRPr lang="en-US" sz="1050" dirty="0">
              <a:latin typeface="Times New Roman" panose="02020603050405020304" pitchFamily="18" charset="0"/>
              <a:cs typeface="Times New Roman" panose="02020603050405020304" pitchFamily="18" charset="0"/>
            </a:endParaRPr>
          </a:p>
        </p:txBody>
      </p:sp>
      <p:sp>
        <p:nvSpPr>
          <p:cNvPr id="16" name="Shape 14"/>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Shape 15"/>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Text 16"/>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9" name="Text 17"/>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33</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60120" y="1051560"/>
            <a:ext cx="2743200" cy="813816"/>
          </a:xfrm>
          <a:prstGeom prst="rect">
            <a:avLst/>
          </a:prstGeom>
          <a:noFill/>
          <a:ln/>
        </p:spPr>
        <p:txBody>
          <a:bodyPr wrap="square" lIns="0" tIns="0" rIns="0" bIns="0" rtlCol="0" anchor="ctr">
            <a:normAutofit fontScale="92500" lnSpcReduction="20000"/>
          </a:bodyPr>
          <a:lstStyle/>
          <a:p>
            <a:pPr marL="0" indent="0" algn="l">
              <a:buNone/>
            </a:pPr>
            <a:r>
              <a:rPr lang="en-US" sz="7100" b="1" dirty="0">
                <a:solidFill>
                  <a:srgbClr val="172B42"/>
                </a:solidFill>
                <a:latin typeface="Times New Roman" panose="02020603050405020304" pitchFamily="18" charset="0"/>
                <a:ea typeface="Inter" pitchFamily="34" charset="-122"/>
                <a:cs typeface="Times New Roman" panose="02020603050405020304" pitchFamily="18" charset="0"/>
              </a:rPr>
              <a:t>04</a:t>
            </a:r>
            <a:endParaRPr lang="en-US" sz="7100" dirty="0">
              <a:latin typeface="Times New Roman" panose="02020603050405020304" pitchFamily="18" charset="0"/>
              <a:cs typeface="Times New Roman" panose="02020603050405020304" pitchFamily="18" charset="0"/>
            </a:endParaRPr>
          </a:p>
        </p:txBody>
      </p:sp>
      <p:sp>
        <p:nvSpPr>
          <p:cNvPr id="3" name="Text 1"/>
          <p:cNvSpPr/>
          <p:nvPr/>
        </p:nvSpPr>
        <p:spPr>
          <a:xfrm>
            <a:off x="960120" y="2231136"/>
            <a:ext cx="10378440" cy="914400"/>
          </a:xfrm>
          <a:prstGeom prst="rect">
            <a:avLst/>
          </a:prstGeom>
          <a:noFill/>
          <a:ln/>
        </p:spPr>
        <p:txBody>
          <a:bodyPr wrap="square" lIns="0" tIns="0" rIns="0" bIns="0" rtlCol="0" anchor="ctr">
            <a:normAutofit/>
          </a:bodyPr>
          <a:lstStyle/>
          <a:p>
            <a:pPr marL="0" indent="0" algn="l">
              <a:buNone/>
            </a:pPr>
            <a:r>
              <a:rPr lang="en-US" sz="4400" b="1" dirty="0">
                <a:solidFill>
                  <a:srgbClr val="172B42"/>
                </a:solidFill>
                <a:latin typeface="Times New Roman" panose="02020603050405020304" pitchFamily="18" charset="0"/>
                <a:ea typeface="Inter" pitchFamily="34" charset="-122"/>
                <a:cs typeface="Times New Roman" panose="02020603050405020304" pitchFamily="18" charset="0"/>
              </a:rPr>
              <a:t>From trusted data to business insight</a:t>
            </a:r>
            <a:endParaRPr lang="en-US" sz="4400" dirty="0">
              <a:latin typeface="Times New Roman" panose="02020603050405020304" pitchFamily="18" charset="0"/>
              <a:cs typeface="Times New Roman" panose="02020603050405020304" pitchFamily="18" charset="0"/>
            </a:endParaRPr>
          </a:p>
        </p:txBody>
      </p:sp>
      <p:sp>
        <p:nvSpPr>
          <p:cNvPr id="4" name="Text 2"/>
          <p:cNvSpPr/>
          <p:nvPr/>
        </p:nvSpPr>
        <p:spPr>
          <a:xfrm>
            <a:off x="996696" y="3429000"/>
            <a:ext cx="9829800" cy="914400"/>
          </a:xfrm>
          <a:prstGeom prst="rect">
            <a:avLst/>
          </a:prstGeom>
          <a:noFill/>
          <a:ln/>
        </p:spPr>
        <p:txBody>
          <a:bodyPr wrap="square" lIns="0" tIns="0" rIns="0" bIns="0" rtlCol="0" anchor="ctr">
            <a:normAutofit/>
          </a:bodyPr>
          <a:lstStyle/>
          <a:p>
            <a:pPr marL="0" indent="0" algn="l">
              <a:buNone/>
            </a:pPr>
            <a:r>
              <a:rPr lang="en-US" sz="2100" dirty="0">
                <a:solidFill>
                  <a:srgbClr val="5C6D80"/>
                </a:solidFill>
                <a:latin typeface="Times New Roman" panose="02020603050405020304" pitchFamily="18" charset="0"/>
                <a:ea typeface="Inter" pitchFamily="34" charset="-122"/>
                <a:cs typeface="Times New Roman" panose="02020603050405020304" pitchFamily="18" charset="0"/>
              </a:rPr>
              <a:t>What happened? Why did it happen? What should we recommend?</a:t>
            </a:r>
            <a:endParaRPr lang="en-US" sz="2100" dirty="0">
              <a:latin typeface="Times New Roman" panose="02020603050405020304" pitchFamily="18" charset="0"/>
              <a:cs typeface="Times New Roman" panose="02020603050405020304" pitchFamily="18" charset="0"/>
            </a:endParaRPr>
          </a:p>
        </p:txBody>
      </p:sp>
      <p:sp>
        <p:nvSpPr>
          <p:cNvPr id="5" name="Shape 3"/>
          <p:cNvSpPr/>
          <p:nvPr/>
        </p:nvSpPr>
        <p:spPr>
          <a:xfrm>
            <a:off x="978408" y="4718304"/>
            <a:ext cx="1106424" cy="91440"/>
          </a:xfrm>
          <a:prstGeom prst="roundRect">
            <a:avLst>
              <a:gd name="adj" fmla="val 40000"/>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6" name="Text 4"/>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ANALYST</a:t>
            </a:r>
            <a:endParaRPr lang="en-US" sz="1050" dirty="0">
              <a:latin typeface="Times New Roman" panose="02020603050405020304" pitchFamily="18" charset="0"/>
              <a:cs typeface="Times New Roman" panose="02020603050405020304" pitchFamily="18" charset="0"/>
            </a:endParaRPr>
          </a:p>
        </p:txBody>
      </p:sp>
      <p:sp>
        <p:nvSpPr>
          <p:cNvPr id="8" name="Shape 6"/>
          <p:cNvSpPr/>
          <p:nvPr/>
        </p:nvSpPr>
        <p:spPr>
          <a:xfrm>
            <a:off x="621792" y="658368"/>
            <a:ext cx="10948111" cy="0"/>
          </a:xfrm>
          <a:prstGeom prst="line">
            <a:avLst/>
          </a:prstGeom>
          <a:noFill/>
          <a:ln w="15240">
            <a:solidFill>
              <a:srgbClr val="34506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Shape 7"/>
          <p:cNvSpPr/>
          <p:nvPr/>
        </p:nvSpPr>
        <p:spPr>
          <a:xfrm>
            <a:off x="621792" y="6455664"/>
            <a:ext cx="10948111" cy="0"/>
          </a:xfrm>
          <a:prstGeom prst="line">
            <a:avLst/>
          </a:prstGeom>
          <a:noFill/>
          <a:ln w="12700">
            <a:solidFill>
              <a:srgbClr val="34506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0" name="Text 8"/>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1" name="Text 9"/>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35</a:t>
            </a:r>
            <a:endParaRPr lang="en-US" sz="900" dirty="0">
              <a:latin typeface="Times New Roman" panose="02020603050405020304" pitchFamily="18" charset="0"/>
              <a:cs typeface="Times New Roman" panose="02020603050405020304" pitchFamily="18" charset="0"/>
            </a:endParaRPr>
          </a:p>
        </p:txBody>
      </p:sp>
      <p:sp>
        <p:nvSpPr>
          <p:cNvPr id="12" name="Section underline"/>
          <p:cNvSpPr/>
          <p:nvPr/>
        </p:nvSpPr>
        <p:spPr>
          <a:xfrm>
            <a:off x="987552" y="4846320"/>
            <a:ext cx="1005840" cy="32004"/>
          </a:xfrm>
          <a:prstGeom prst="rect">
            <a:avLst/>
          </a:prstGeom>
          <a:solidFill>
            <a:srgbClr val="10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7824" y="2432304"/>
            <a:ext cx="5074920" cy="2807208"/>
          </a:xfrm>
          <a:prstGeom prst="roundRect">
            <a:avLst>
              <a:gd name="adj" fmla="val 4560"/>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877824" y="2432304"/>
            <a:ext cx="64008" cy="2807208"/>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1115568" y="2651760"/>
            <a:ext cx="4636008" cy="502920"/>
          </a:xfrm>
          <a:prstGeom prst="rect">
            <a:avLst/>
          </a:prstGeom>
          <a:noFill/>
          <a:ln/>
        </p:spPr>
        <p:txBody>
          <a:bodyPr wrap="square" lIns="0" tIns="0" rIns="0" bIns="0" rtlCol="0" anchor="ctr">
            <a:normAutofit/>
          </a:bodyPr>
          <a:lstStyle/>
          <a:p>
            <a:pPr marL="0" indent="0" algn="l">
              <a:buNone/>
            </a:pPr>
            <a:r>
              <a:rPr lang="en-US" sz="2400" b="1" dirty="0">
                <a:solidFill>
                  <a:srgbClr val="172B42"/>
                </a:solidFill>
                <a:latin typeface="Times New Roman" panose="02020603050405020304" pitchFamily="18" charset="0"/>
                <a:ea typeface="Inter" pitchFamily="34" charset="-122"/>
                <a:cs typeface="Times New Roman" panose="02020603050405020304" pitchFamily="18" charset="0"/>
              </a:rPr>
              <a:t>Engineering handoff</a:t>
            </a:r>
            <a:endParaRPr lang="en-US" sz="2400" dirty="0">
              <a:latin typeface="Times New Roman" panose="02020603050405020304" pitchFamily="18" charset="0"/>
              <a:cs typeface="Times New Roman" panose="02020603050405020304" pitchFamily="18" charset="0"/>
            </a:endParaRPr>
          </a:p>
        </p:txBody>
      </p:sp>
      <p:sp>
        <p:nvSpPr>
          <p:cNvPr id="5" name="Text 3"/>
          <p:cNvSpPr/>
          <p:nvPr/>
        </p:nvSpPr>
        <p:spPr>
          <a:xfrm>
            <a:off x="1115568" y="3227832"/>
            <a:ext cx="4572000" cy="1828800"/>
          </a:xfrm>
          <a:prstGeom prst="rect">
            <a:avLst/>
          </a:prstGeom>
          <a:noFill/>
          <a:ln/>
        </p:spPr>
        <p:txBody>
          <a:bodyPr wrap="square" lIns="0" tIns="0" rIns="0" bIns="0" rtlCol="0" anchor="t">
            <a:normAutofit/>
          </a:bodyPr>
          <a:lstStyle/>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A clean, usable appointments dataset with known definitions.</a:t>
            </a:r>
            <a:endParaRPr lang="en-US" sz="1800" dirty="0">
              <a:latin typeface="Times New Roman" panose="02020603050405020304" pitchFamily="18" charset="0"/>
              <a:cs typeface="Times New Roman" panose="02020603050405020304" pitchFamily="18" charset="0"/>
            </a:endParaRPr>
          </a:p>
        </p:txBody>
      </p:sp>
      <p:sp>
        <p:nvSpPr>
          <p:cNvPr id="6" name="Shape 4"/>
          <p:cNvSpPr/>
          <p:nvPr/>
        </p:nvSpPr>
        <p:spPr>
          <a:xfrm>
            <a:off x="6263640" y="2432304"/>
            <a:ext cx="5074920" cy="2807208"/>
          </a:xfrm>
          <a:prstGeom prst="roundRect">
            <a:avLst>
              <a:gd name="adj" fmla="val 4560"/>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6263640" y="2432304"/>
            <a:ext cx="64008" cy="2807208"/>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6501384" y="2651760"/>
            <a:ext cx="4636008" cy="502920"/>
          </a:xfrm>
          <a:prstGeom prst="rect">
            <a:avLst/>
          </a:prstGeom>
          <a:noFill/>
          <a:ln/>
        </p:spPr>
        <p:txBody>
          <a:bodyPr wrap="square" lIns="0" tIns="0" rIns="0" bIns="0" rtlCol="0" anchor="ctr">
            <a:normAutofit/>
          </a:bodyPr>
          <a:lstStyle/>
          <a:p>
            <a:pPr marL="0" indent="0" algn="l">
              <a:buNone/>
            </a:pPr>
            <a:r>
              <a:rPr lang="en-US" sz="2400" b="1" dirty="0">
                <a:solidFill>
                  <a:srgbClr val="172B42"/>
                </a:solidFill>
                <a:latin typeface="Times New Roman" panose="02020603050405020304" pitchFamily="18" charset="0"/>
                <a:ea typeface="Inter" pitchFamily="34" charset="-122"/>
                <a:cs typeface="Times New Roman" panose="02020603050405020304" pitchFamily="18" charset="0"/>
              </a:rPr>
              <a:t>Analyst ownership</a:t>
            </a:r>
            <a:endParaRPr lang="en-US" sz="2400" dirty="0">
              <a:latin typeface="Times New Roman" panose="02020603050405020304" pitchFamily="18" charset="0"/>
              <a:cs typeface="Times New Roman" panose="02020603050405020304" pitchFamily="18" charset="0"/>
            </a:endParaRPr>
          </a:p>
        </p:txBody>
      </p:sp>
      <p:sp>
        <p:nvSpPr>
          <p:cNvPr id="9" name="Text 7"/>
          <p:cNvSpPr/>
          <p:nvPr/>
        </p:nvSpPr>
        <p:spPr>
          <a:xfrm>
            <a:off x="6501384" y="3227832"/>
            <a:ext cx="4572000" cy="1828800"/>
          </a:xfrm>
          <a:prstGeom prst="rect">
            <a:avLst/>
          </a:prstGeom>
          <a:noFill/>
          <a:ln/>
        </p:spPr>
        <p:txBody>
          <a:bodyPr wrap="square" lIns="0" tIns="0" rIns="0" bIns="0" rtlCol="0" anchor="t">
            <a:normAutofit/>
          </a:bodyPr>
          <a:lstStyle/>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Choose meaningful metrics, investigate patterns, and communicate findings.</a:t>
            </a:r>
            <a:endParaRPr lang="en-US" sz="1800" dirty="0">
              <a:latin typeface="Times New Roman" panose="02020603050405020304" pitchFamily="18" charset="0"/>
              <a:cs typeface="Times New Roman" panose="02020603050405020304" pitchFamily="18" charset="0"/>
            </a:endParaRPr>
          </a:p>
        </p:txBody>
      </p:sp>
      <p:sp>
        <p:nvSpPr>
          <p:cNvPr id="10" name="Shape 8"/>
          <p:cNvSpPr/>
          <p:nvPr/>
        </p:nvSpPr>
        <p:spPr>
          <a:xfrm>
            <a:off x="621792" y="5650992"/>
            <a:ext cx="10948111" cy="493776"/>
          </a:xfrm>
          <a:prstGeom prst="roundRect">
            <a:avLst>
              <a:gd name="adj" fmla="val 22222"/>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Text 9"/>
          <p:cNvSpPr/>
          <p:nvPr/>
        </p:nvSpPr>
        <p:spPr>
          <a:xfrm>
            <a:off x="822960" y="5705856"/>
            <a:ext cx="1316736" cy="365760"/>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THE POINT</a:t>
            </a:r>
            <a:endParaRPr lang="en-US" sz="1030" dirty="0">
              <a:latin typeface="Times New Roman" panose="02020603050405020304" pitchFamily="18" charset="0"/>
              <a:cs typeface="Times New Roman" panose="02020603050405020304" pitchFamily="18" charset="0"/>
            </a:endParaRPr>
          </a:p>
        </p:txBody>
      </p:sp>
      <p:sp>
        <p:nvSpPr>
          <p:cNvPr id="12" name="Text 10"/>
          <p:cNvSpPr/>
          <p:nvPr/>
        </p:nvSpPr>
        <p:spPr>
          <a:xfrm>
            <a:off x="2221992" y="5705856"/>
            <a:ext cx="9101023" cy="365760"/>
          </a:xfrm>
          <a:prstGeom prst="rect">
            <a:avLst/>
          </a:prstGeom>
          <a:noFill/>
          <a:ln/>
        </p:spPr>
        <p:txBody>
          <a:bodyPr wrap="square" lIns="0" tIns="0" rIns="0" bIns="0" rtlCol="0" anchor="ctr">
            <a:normAutofit/>
          </a:bodyPr>
          <a:lstStyle/>
          <a:p>
            <a:pPr marL="0" indent="0" algn="l">
              <a:buNone/>
            </a:pPr>
            <a:r>
              <a:rPr lang="en-US" sz="1340" b="1" dirty="0">
                <a:solidFill>
                  <a:srgbClr val="172B42"/>
                </a:solidFill>
                <a:latin typeface="Times New Roman" panose="02020603050405020304" pitchFamily="18" charset="0"/>
                <a:ea typeface="Inter" pitchFamily="34" charset="-122"/>
                <a:cs typeface="Times New Roman" panose="02020603050405020304" pitchFamily="18" charset="0"/>
              </a:rPr>
              <a:t>The handoff is collaborative; analysts should still question data quality.</a:t>
            </a:r>
            <a:endParaRPr lang="en-US" sz="1340" dirty="0">
              <a:latin typeface="Times New Roman" panose="02020603050405020304" pitchFamily="18" charset="0"/>
              <a:cs typeface="Times New Roman" panose="02020603050405020304" pitchFamily="18" charset="0"/>
            </a:endParaRPr>
          </a:p>
        </p:txBody>
      </p:sp>
      <p:sp>
        <p:nvSpPr>
          <p:cNvPr id="13" name="Text 11"/>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Where engineering ends and analysis begins</a:t>
            </a:r>
            <a:endParaRPr lang="en-US" sz="318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ANALYST</a:t>
            </a:r>
            <a:endParaRPr lang="en-US" sz="1050" dirty="0">
              <a:latin typeface="Times New Roman" panose="02020603050405020304" pitchFamily="18" charset="0"/>
              <a:cs typeface="Times New Roman" panose="02020603050405020304" pitchFamily="18" charset="0"/>
            </a:endParaRPr>
          </a:p>
        </p:txBody>
      </p:sp>
      <p:sp>
        <p:nvSpPr>
          <p:cNvPr id="16" name="Shape 14"/>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Shape 15"/>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Text 16"/>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9" name="Text 17"/>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36</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2633472"/>
            <a:ext cx="2586152"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621792" y="2633472"/>
            <a:ext cx="2586152" cy="73152"/>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813816" y="2871216"/>
            <a:ext cx="2202104"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Inspect</a:t>
            </a:r>
            <a:endParaRPr lang="en-US" sz="2000" dirty="0">
              <a:latin typeface="Times New Roman" panose="02020603050405020304" pitchFamily="18" charset="0"/>
              <a:cs typeface="Times New Roman" panose="02020603050405020304" pitchFamily="18" charset="0"/>
            </a:endParaRPr>
          </a:p>
        </p:txBody>
      </p:sp>
      <p:sp>
        <p:nvSpPr>
          <p:cNvPr id="5" name="Text 3"/>
          <p:cNvSpPr/>
          <p:nvPr/>
        </p:nvSpPr>
        <p:spPr>
          <a:xfrm>
            <a:off x="813816" y="3401568"/>
            <a:ext cx="2202104"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Understand column meaning</a:t>
            </a:r>
            <a:endParaRPr lang="en-US" sz="1430" dirty="0">
              <a:latin typeface="Times New Roman" panose="02020603050405020304" pitchFamily="18" charset="0"/>
              <a:cs typeface="Times New Roman" panose="02020603050405020304" pitchFamily="18" charset="0"/>
            </a:endParaRPr>
          </a:p>
        </p:txBody>
      </p:sp>
      <p:sp>
        <p:nvSpPr>
          <p:cNvPr id="6" name="Shape 4"/>
          <p:cNvSpPr/>
          <p:nvPr/>
        </p:nvSpPr>
        <p:spPr>
          <a:xfrm>
            <a:off x="3223489" y="3566160"/>
            <a:ext cx="164592" cy="301752"/>
          </a:xfrm>
          <a:prstGeom prst="chevron">
            <a:avLst/>
          </a:prstGeom>
          <a:solidFill>
            <a:srgbClr val="B5C2D0"/>
          </a:solidFill>
          <a:ln w="12700">
            <a:solidFill>
              <a:srgbClr val="B5C2D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3409112" y="2633472"/>
            <a:ext cx="2586152"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Shape 6"/>
          <p:cNvSpPr/>
          <p:nvPr/>
        </p:nvSpPr>
        <p:spPr>
          <a:xfrm>
            <a:off x="3409112" y="2633472"/>
            <a:ext cx="2586152" cy="73152"/>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3601136" y="2871216"/>
            <a:ext cx="2202104"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Slice</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3601136" y="3401568"/>
            <a:ext cx="2202104"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Filter by date / doctor</a:t>
            </a:r>
            <a:endParaRPr lang="en-US" sz="1430" dirty="0">
              <a:latin typeface="Times New Roman" panose="02020603050405020304" pitchFamily="18" charset="0"/>
              <a:cs typeface="Times New Roman" panose="02020603050405020304" pitchFamily="18" charset="0"/>
            </a:endParaRPr>
          </a:p>
        </p:txBody>
      </p:sp>
      <p:sp>
        <p:nvSpPr>
          <p:cNvPr id="11" name="Shape 9"/>
          <p:cNvSpPr/>
          <p:nvPr/>
        </p:nvSpPr>
        <p:spPr>
          <a:xfrm>
            <a:off x="6010808" y="3566160"/>
            <a:ext cx="164592" cy="301752"/>
          </a:xfrm>
          <a:prstGeom prst="chevron">
            <a:avLst/>
          </a:prstGeom>
          <a:solidFill>
            <a:srgbClr val="B5C2D0"/>
          </a:solidFill>
          <a:ln w="12700">
            <a:solidFill>
              <a:srgbClr val="B5C2D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Shape 10"/>
          <p:cNvSpPr/>
          <p:nvPr/>
        </p:nvSpPr>
        <p:spPr>
          <a:xfrm>
            <a:off x="6196432" y="2633472"/>
            <a:ext cx="2586152"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3" name="Shape 11"/>
          <p:cNvSpPr/>
          <p:nvPr/>
        </p:nvSpPr>
        <p:spPr>
          <a:xfrm>
            <a:off x="6196432" y="2633472"/>
            <a:ext cx="2586152" cy="73152"/>
          </a:xfrm>
          <a:prstGeom prst="rect">
            <a:avLst/>
          </a:prstGeom>
          <a:solidFill>
            <a:srgbClr val="8052D8"/>
          </a:solidFill>
          <a:ln w="12700">
            <a:solidFill>
              <a:srgbClr val="8052D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4" name="Text 12"/>
          <p:cNvSpPr/>
          <p:nvPr/>
        </p:nvSpPr>
        <p:spPr>
          <a:xfrm>
            <a:off x="6388456" y="2871216"/>
            <a:ext cx="2202104"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Calculate</a:t>
            </a:r>
            <a:endParaRPr lang="en-US" sz="2000" dirty="0">
              <a:latin typeface="Times New Roman" panose="02020603050405020304" pitchFamily="18" charset="0"/>
              <a:cs typeface="Times New Roman" panose="02020603050405020304" pitchFamily="18" charset="0"/>
            </a:endParaRPr>
          </a:p>
        </p:txBody>
      </p:sp>
      <p:sp>
        <p:nvSpPr>
          <p:cNvPr id="15" name="Text 13"/>
          <p:cNvSpPr/>
          <p:nvPr/>
        </p:nvSpPr>
        <p:spPr>
          <a:xfrm>
            <a:off x="6388456" y="3401568"/>
            <a:ext cx="2202104"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Define measures</a:t>
            </a:r>
            <a:endParaRPr lang="en-US" sz="1430" dirty="0">
              <a:latin typeface="Times New Roman" panose="02020603050405020304" pitchFamily="18" charset="0"/>
              <a:cs typeface="Times New Roman" panose="02020603050405020304" pitchFamily="18" charset="0"/>
            </a:endParaRPr>
          </a:p>
        </p:txBody>
      </p:sp>
      <p:sp>
        <p:nvSpPr>
          <p:cNvPr id="16" name="Shape 14"/>
          <p:cNvSpPr/>
          <p:nvPr/>
        </p:nvSpPr>
        <p:spPr>
          <a:xfrm>
            <a:off x="8798128" y="3566160"/>
            <a:ext cx="164592" cy="301752"/>
          </a:xfrm>
          <a:prstGeom prst="chevron">
            <a:avLst/>
          </a:prstGeom>
          <a:solidFill>
            <a:srgbClr val="B5C2D0"/>
          </a:solidFill>
          <a:ln w="12700">
            <a:solidFill>
              <a:srgbClr val="B5C2D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Shape 15"/>
          <p:cNvSpPr/>
          <p:nvPr/>
        </p:nvSpPr>
        <p:spPr>
          <a:xfrm>
            <a:off x="8983751" y="2633472"/>
            <a:ext cx="2586152"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Shape 16"/>
          <p:cNvSpPr/>
          <p:nvPr/>
        </p:nvSpPr>
        <p:spPr>
          <a:xfrm>
            <a:off x="8983751" y="2633472"/>
            <a:ext cx="2586152" cy="73152"/>
          </a:xfrm>
          <a:prstGeom prst="rect">
            <a:avLst/>
          </a:prstGeom>
          <a:solidFill>
            <a:srgbClr val="E8A23A"/>
          </a:solidFill>
          <a:ln w="12700">
            <a:solidFill>
              <a:srgbClr val="E8A23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9" name="Text 17"/>
          <p:cNvSpPr/>
          <p:nvPr/>
        </p:nvSpPr>
        <p:spPr>
          <a:xfrm>
            <a:off x="9175775" y="2871216"/>
            <a:ext cx="2202104"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Present</a:t>
            </a:r>
            <a:endParaRPr lang="en-US" sz="2000" dirty="0">
              <a:latin typeface="Times New Roman" panose="02020603050405020304" pitchFamily="18" charset="0"/>
              <a:cs typeface="Times New Roman" panose="02020603050405020304" pitchFamily="18" charset="0"/>
            </a:endParaRPr>
          </a:p>
        </p:txBody>
      </p:sp>
      <p:sp>
        <p:nvSpPr>
          <p:cNvPr id="20" name="Text 18"/>
          <p:cNvSpPr/>
          <p:nvPr/>
        </p:nvSpPr>
        <p:spPr>
          <a:xfrm>
            <a:off x="9175775" y="3401568"/>
            <a:ext cx="2202104"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Chart + explanation</a:t>
            </a:r>
            <a:endParaRPr lang="en-US" sz="1430" dirty="0">
              <a:latin typeface="Times New Roman" panose="02020603050405020304" pitchFamily="18" charset="0"/>
              <a:cs typeface="Times New Roman" panose="02020603050405020304" pitchFamily="18" charset="0"/>
            </a:endParaRPr>
          </a:p>
        </p:txBody>
      </p:sp>
      <p:sp>
        <p:nvSpPr>
          <p:cNvPr id="21" name="Shape 19"/>
          <p:cNvSpPr/>
          <p:nvPr/>
        </p:nvSpPr>
        <p:spPr>
          <a:xfrm>
            <a:off x="621792" y="5650992"/>
            <a:ext cx="10948111" cy="493776"/>
          </a:xfrm>
          <a:prstGeom prst="roundRect">
            <a:avLst>
              <a:gd name="adj" fmla="val 22222"/>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2" name="Text 20"/>
          <p:cNvSpPr/>
          <p:nvPr/>
        </p:nvSpPr>
        <p:spPr>
          <a:xfrm>
            <a:off x="822960" y="5705856"/>
            <a:ext cx="1316736" cy="365760"/>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REMEMBER</a:t>
            </a:r>
            <a:endParaRPr lang="en-US" sz="1030" dirty="0">
              <a:latin typeface="Times New Roman" panose="02020603050405020304" pitchFamily="18" charset="0"/>
              <a:cs typeface="Times New Roman" panose="02020603050405020304" pitchFamily="18" charset="0"/>
            </a:endParaRPr>
          </a:p>
        </p:txBody>
      </p:sp>
      <p:sp>
        <p:nvSpPr>
          <p:cNvPr id="23" name="Text 21"/>
          <p:cNvSpPr/>
          <p:nvPr/>
        </p:nvSpPr>
        <p:spPr>
          <a:xfrm>
            <a:off x="2221992" y="5705856"/>
            <a:ext cx="9101023" cy="365760"/>
          </a:xfrm>
          <a:prstGeom prst="rect">
            <a:avLst/>
          </a:prstGeom>
          <a:noFill/>
          <a:ln/>
        </p:spPr>
        <p:txBody>
          <a:bodyPr wrap="square" lIns="0" tIns="0" rIns="0" bIns="0" rtlCol="0" anchor="ctr">
            <a:normAutofit/>
          </a:bodyPr>
          <a:lstStyle/>
          <a:p>
            <a:pPr marL="0" indent="0" algn="l">
              <a:buNone/>
            </a:pPr>
            <a:r>
              <a:rPr lang="en-US" sz="1340" b="1" dirty="0">
                <a:solidFill>
                  <a:srgbClr val="172B42"/>
                </a:solidFill>
                <a:latin typeface="Times New Roman" panose="02020603050405020304" pitchFamily="18" charset="0"/>
                <a:ea typeface="Inter" pitchFamily="34" charset="-122"/>
                <a:cs typeface="Times New Roman" panose="02020603050405020304" pitchFamily="18" charset="0"/>
              </a:rPr>
              <a:t>A dashboard is only useful when the underlying metric is understood.</a:t>
            </a:r>
            <a:endParaRPr lang="en-US" sz="1340" dirty="0">
              <a:latin typeface="Times New Roman" panose="02020603050405020304" pitchFamily="18" charset="0"/>
              <a:cs typeface="Times New Roman" panose="02020603050405020304" pitchFamily="18" charset="0"/>
            </a:endParaRPr>
          </a:p>
        </p:txBody>
      </p:sp>
      <p:sp>
        <p:nvSpPr>
          <p:cNvPr id="24" name="Text 22"/>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Frontend processing: prepare for analysis</a:t>
            </a:r>
            <a:endParaRPr lang="en-US" sz="3180" dirty="0">
              <a:latin typeface="Times New Roman" panose="02020603050405020304" pitchFamily="18" charset="0"/>
              <a:cs typeface="Times New Roman" panose="02020603050405020304" pitchFamily="18" charset="0"/>
            </a:endParaRPr>
          </a:p>
        </p:txBody>
      </p:sp>
      <p:sp>
        <p:nvSpPr>
          <p:cNvPr id="25" name="Text 23"/>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ANALYST</a:t>
            </a:r>
            <a:endParaRPr lang="en-US" sz="1050" dirty="0">
              <a:latin typeface="Times New Roman" panose="02020603050405020304" pitchFamily="18" charset="0"/>
              <a:cs typeface="Times New Roman" panose="02020603050405020304" pitchFamily="18" charset="0"/>
            </a:endParaRPr>
          </a:p>
        </p:txBody>
      </p:sp>
      <p:sp>
        <p:nvSpPr>
          <p:cNvPr id="27" name="Shape 25"/>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8" name="Shape 26"/>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9" name="Text 27"/>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30" name="Text 28"/>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37</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04672" y="2340864"/>
            <a:ext cx="7040880" cy="2898648"/>
          </a:xfrm>
          <a:prstGeom prst="roundRect">
            <a:avLst>
              <a:gd name="adj" fmla="val 5363"/>
            </a:avLst>
          </a:prstGeom>
          <a:solidFill>
            <a:srgbClr val="EAF2F7"/>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Text 1"/>
          <p:cNvSpPr/>
          <p:nvPr/>
        </p:nvSpPr>
        <p:spPr>
          <a:xfrm>
            <a:off x="1161288" y="2816352"/>
            <a:ext cx="6355080" cy="2011680"/>
          </a:xfrm>
          <a:prstGeom prst="rect">
            <a:avLst/>
          </a:prstGeom>
          <a:noFill/>
          <a:ln/>
        </p:spPr>
        <p:txBody>
          <a:bodyPr wrap="square" lIns="0" tIns="0" rIns="0" bIns="0" rtlCol="0" anchor="ctr">
            <a:normAutofit/>
          </a:bodyPr>
          <a:lstStyle/>
          <a:p>
            <a:pPr marL="0" indent="0" algn="l">
              <a:buNone/>
            </a:pPr>
            <a:r>
              <a:rPr lang="en-US" sz="3000" b="1" dirty="0">
                <a:solidFill>
                  <a:srgbClr val="172B42"/>
                </a:solidFill>
                <a:latin typeface="Times New Roman" panose="02020603050405020304" pitchFamily="18" charset="0"/>
                <a:ea typeface="Inter" pitchFamily="34" charset="-122"/>
                <a:cs typeface="Times New Roman" panose="02020603050405020304" pitchFamily="18" charset="0"/>
              </a:rPr>
              <a:t>“Is the hospital doing well?”</a:t>
            </a:r>
            <a:endParaRPr lang="en-US" sz="3000" dirty="0">
              <a:latin typeface="Times New Roman" panose="02020603050405020304" pitchFamily="18" charset="0"/>
              <a:cs typeface="Times New Roman" panose="02020603050405020304" pitchFamily="18" charset="0"/>
            </a:endParaRPr>
          </a:p>
          <a:p>
            <a:pPr marL="0" indent="0" algn="l">
              <a:buNone/>
            </a:pPr>
            <a:r>
              <a:rPr lang="en-US" sz="3000" b="1" dirty="0">
                <a:solidFill>
                  <a:srgbClr val="172B42"/>
                </a:solidFill>
                <a:latin typeface="Times New Roman" panose="02020603050405020304" pitchFamily="18" charset="0"/>
                <a:ea typeface="Inter" pitchFamily="34" charset="-122"/>
                <a:cs typeface="Times New Roman" panose="02020603050405020304" pitchFamily="18" charset="0"/>
              </a:rPr>
              <a:t>is not yet a measurable question.</a:t>
            </a:r>
            <a:endParaRPr lang="en-US" sz="3000" dirty="0">
              <a:latin typeface="Times New Roman" panose="02020603050405020304" pitchFamily="18" charset="0"/>
              <a:cs typeface="Times New Roman" panose="02020603050405020304" pitchFamily="18" charset="0"/>
            </a:endParaRPr>
          </a:p>
        </p:txBody>
      </p:sp>
      <p:sp>
        <p:nvSpPr>
          <p:cNvPr id="4" name="Shape 2"/>
          <p:cNvSpPr/>
          <p:nvPr/>
        </p:nvSpPr>
        <p:spPr>
          <a:xfrm>
            <a:off x="8092440" y="2340864"/>
            <a:ext cx="3273552" cy="2898648"/>
          </a:xfrm>
          <a:prstGeom prst="roundRect">
            <a:avLst>
              <a:gd name="adj" fmla="val 5363"/>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5" name="Text 3"/>
          <p:cNvSpPr/>
          <p:nvPr/>
        </p:nvSpPr>
        <p:spPr>
          <a:xfrm>
            <a:off x="8375904" y="2670048"/>
            <a:ext cx="2724912" cy="384048"/>
          </a:xfrm>
          <a:prstGeom prst="rect">
            <a:avLst/>
          </a:prstGeom>
          <a:noFill/>
          <a:ln/>
        </p:spPr>
        <p:txBody>
          <a:bodyPr wrap="square" lIns="0" tIns="0" rIns="0" bIns="0" rtlCol="0" anchor="ctr">
            <a:normAutofit/>
          </a:bodyPr>
          <a:lstStyle/>
          <a:p>
            <a:pPr marL="0" indent="0" algn="l">
              <a:buNone/>
            </a:pPr>
            <a:r>
              <a:rPr lang="en-US" sz="1700" b="1" dirty="0">
                <a:solidFill>
                  <a:srgbClr val="087B75"/>
                </a:solidFill>
                <a:latin typeface="Times New Roman" panose="02020603050405020304" pitchFamily="18" charset="0"/>
                <a:ea typeface="Inter" pitchFamily="34" charset="-122"/>
                <a:cs typeface="Times New Roman" panose="02020603050405020304" pitchFamily="18" charset="0"/>
              </a:rPr>
              <a:t>MAKE IT SPECIFIC</a:t>
            </a:r>
            <a:endParaRPr lang="en-US" sz="1700" dirty="0">
              <a:latin typeface="Times New Roman" panose="02020603050405020304" pitchFamily="18" charset="0"/>
              <a:cs typeface="Times New Roman" panose="02020603050405020304" pitchFamily="18" charset="0"/>
            </a:endParaRPr>
          </a:p>
        </p:txBody>
      </p:sp>
      <p:sp>
        <p:nvSpPr>
          <p:cNvPr id="6" name="Text 4"/>
          <p:cNvSpPr/>
          <p:nvPr/>
        </p:nvSpPr>
        <p:spPr>
          <a:xfrm>
            <a:off x="8375904" y="3282696"/>
            <a:ext cx="2670048" cy="1243584"/>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“What share of scheduled visits were completed this week?”</a:t>
            </a:r>
            <a:endParaRPr lang="en-US" sz="1900" dirty="0">
              <a:latin typeface="Times New Roman" panose="02020603050405020304" pitchFamily="18" charset="0"/>
              <a:cs typeface="Times New Roman" panose="02020603050405020304" pitchFamily="18" charset="0"/>
            </a:endParaRPr>
          </a:p>
        </p:txBody>
      </p:sp>
      <p:sp>
        <p:nvSpPr>
          <p:cNvPr id="7" name="Text 5"/>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Start with the question, not the chart</a:t>
            </a:r>
            <a:endParaRPr lang="en-US" sz="3180" dirty="0">
              <a:latin typeface="Times New Roman" panose="02020603050405020304" pitchFamily="18" charset="0"/>
              <a:cs typeface="Times New Roman" panose="02020603050405020304" pitchFamily="18" charset="0"/>
            </a:endParaRPr>
          </a:p>
        </p:txBody>
      </p:sp>
      <p:sp>
        <p:nvSpPr>
          <p:cNvPr id="8" name="Text 6"/>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ANALYST</a:t>
            </a:r>
            <a:endParaRPr lang="en-US" sz="1050" dirty="0">
              <a:latin typeface="Times New Roman" panose="02020603050405020304" pitchFamily="18" charset="0"/>
              <a:cs typeface="Times New Roman" panose="02020603050405020304" pitchFamily="18" charset="0"/>
            </a:endParaRPr>
          </a:p>
        </p:txBody>
      </p:sp>
      <p:sp>
        <p:nvSpPr>
          <p:cNvPr id="10" name="Shape 8"/>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Shape 9"/>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Text 10"/>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3" name="Text 11"/>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38</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41832" y="2450592"/>
            <a:ext cx="10332720" cy="484632"/>
          </a:xfrm>
          <a:prstGeom prst="roundRect">
            <a:avLst>
              <a:gd name="adj" fmla="val 13208"/>
            </a:avLst>
          </a:prstGeom>
          <a:solidFill>
            <a:srgbClr val="EAF2F7"/>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Text 1"/>
          <p:cNvSpPr/>
          <p:nvPr/>
        </p:nvSpPr>
        <p:spPr>
          <a:xfrm>
            <a:off x="1060704" y="2551176"/>
            <a:ext cx="2090318" cy="320040"/>
          </a:xfrm>
          <a:prstGeom prst="rect">
            <a:avLst/>
          </a:prstGeom>
          <a:noFill/>
          <a:ln/>
        </p:spPr>
        <p:txBody>
          <a:bodyPr wrap="square" lIns="0" tIns="0" rIns="0" bIns="0" rtlCol="0" anchor="ctr">
            <a:normAutofit/>
          </a:bodyPr>
          <a:lstStyle/>
          <a:p>
            <a:pPr marL="0" indent="0" algn="l">
              <a:buNone/>
            </a:pPr>
            <a:r>
              <a:rPr lang="en-US" sz="1200" b="1" dirty="0">
                <a:solidFill>
                  <a:srgbClr val="172B42"/>
                </a:solidFill>
                <a:latin typeface="Times New Roman" panose="02020603050405020304" pitchFamily="18" charset="0"/>
                <a:ea typeface="Inter" pitchFamily="34" charset="-122"/>
                <a:cs typeface="Times New Roman" panose="02020603050405020304" pitchFamily="18" charset="0"/>
              </a:rPr>
              <a:t>appointment_id</a:t>
            </a:r>
            <a:endParaRPr lang="en-US" sz="1200" dirty="0">
              <a:latin typeface="Times New Roman" panose="02020603050405020304" pitchFamily="18" charset="0"/>
              <a:cs typeface="Times New Roman" panose="02020603050405020304" pitchFamily="18" charset="0"/>
            </a:endParaRPr>
          </a:p>
        </p:txBody>
      </p:sp>
      <p:sp>
        <p:nvSpPr>
          <p:cNvPr id="4" name="Text 2"/>
          <p:cNvSpPr/>
          <p:nvPr/>
        </p:nvSpPr>
        <p:spPr>
          <a:xfrm>
            <a:off x="3333902" y="2551176"/>
            <a:ext cx="1780337" cy="320040"/>
          </a:xfrm>
          <a:prstGeom prst="rect">
            <a:avLst/>
          </a:prstGeom>
          <a:noFill/>
          <a:ln/>
        </p:spPr>
        <p:txBody>
          <a:bodyPr wrap="square" lIns="0" tIns="0" rIns="0" bIns="0" rtlCol="0" anchor="ctr">
            <a:normAutofit/>
          </a:bodyPr>
          <a:lstStyle/>
          <a:p>
            <a:pPr marL="0" indent="0" algn="l">
              <a:buNone/>
            </a:pPr>
            <a:r>
              <a:rPr lang="en-US" sz="1200" b="1" dirty="0">
                <a:solidFill>
                  <a:srgbClr val="172B42"/>
                </a:solidFill>
                <a:latin typeface="Times New Roman" panose="02020603050405020304" pitchFamily="18" charset="0"/>
                <a:ea typeface="Inter" pitchFamily="34" charset="-122"/>
                <a:cs typeface="Times New Roman" panose="02020603050405020304" pitchFamily="18" charset="0"/>
              </a:rPr>
              <a:t>doctor_id</a:t>
            </a:r>
            <a:endParaRPr lang="en-US" sz="1200" dirty="0">
              <a:latin typeface="Times New Roman" panose="02020603050405020304" pitchFamily="18" charset="0"/>
              <a:cs typeface="Times New Roman" panose="02020603050405020304" pitchFamily="18" charset="0"/>
            </a:endParaRPr>
          </a:p>
        </p:txBody>
      </p:sp>
      <p:sp>
        <p:nvSpPr>
          <p:cNvPr id="5" name="Text 3"/>
          <p:cNvSpPr/>
          <p:nvPr/>
        </p:nvSpPr>
        <p:spPr>
          <a:xfrm>
            <a:off x="5297119" y="2551176"/>
            <a:ext cx="1986991" cy="320040"/>
          </a:xfrm>
          <a:prstGeom prst="rect">
            <a:avLst/>
          </a:prstGeom>
          <a:noFill/>
          <a:ln/>
        </p:spPr>
        <p:txBody>
          <a:bodyPr wrap="square" lIns="0" tIns="0" rIns="0" bIns="0" rtlCol="0" anchor="ctr">
            <a:normAutofit/>
          </a:bodyPr>
          <a:lstStyle/>
          <a:p>
            <a:pPr marL="0" indent="0" algn="l">
              <a:buNone/>
            </a:pPr>
            <a:r>
              <a:rPr lang="en-US" sz="1200" b="1" dirty="0">
                <a:solidFill>
                  <a:srgbClr val="172B42"/>
                </a:solidFill>
                <a:latin typeface="Times New Roman" panose="02020603050405020304" pitchFamily="18" charset="0"/>
                <a:ea typeface="Inter" pitchFamily="34" charset="-122"/>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p:txBody>
      </p:sp>
      <p:sp>
        <p:nvSpPr>
          <p:cNvPr id="6" name="Text 4"/>
          <p:cNvSpPr/>
          <p:nvPr/>
        </p:nvSpPr>
        <p:spPr>
          <a:xfrm>
            <a:off x="7466990" y="2551176"/>
            <a:ext cx="1677010" cy="320040"/>
          </a:xfrm>
          <a:prstGeom prst="rect">
            <a:avLst/>
          </a:prstGeom>
          <a:noFill/>
          <a:ln/>
        </p:spPr>
        <p:txBody>
          <a:bodyPr wrap="square" lIns="0" tIns="0" rIns="0" bIns="0" rtlCol="0" anchor="ctr">
            <a:normAutofit/>
          </a:bodyPr>
          <a:lstStyle/>
          <a:p>
            <a:pPr marL="0" indent="0" algn="l">
              <a:buNone/>
            </a:pPr>
            <a:r>
              <a:rPr lang="en-US" sz="1200" b="1" dirty="0">
                <a:solidFill>
                  <a:srgbClr val="172B42"/>
                </a:solidFill>
                <a:latin typeface="Times New Roman" panose="02020603050405020304" pitchFamily="18" charset="0"/>
                <a:ea typeface="Inter" pitchFamily="34" charset="-122"/>
                <a:cs typeface="Times New Roman" panose="02020603050405020304" pitchFamily="18" charset="0"/>
              </a:rPr>
              <a:t>date</a:t>
            </a:r>
            <a:endParaRPr lang="en-US" sz="1200" dirty="0">
              <a:latin typeface="Times New Roman" panose="02020603050405020304" pitchFamily="18" charset="0"/>
              <a:cs typeface="Times New Roman" panose="02020603050405020304" pitchFamily="18" charset="0"/>
            </a:endParaRPr>
          </a:p>
        </p:txBody>
      </p:sp>
      <p:sp>
        <p:nvSpPr>
          <p:cNvPr id="7" name="Text 5"/>
          <p:cNvSpPr/>
          <p:nvPr/>
        </p:nvSpPr>
        <p:spPr>
          <a:xfrm>
            <a:off x="9326880" y="2551176"/>
            <a:ext cx="1883664" cy="320040"/>
          </a:xfrm>
          <a:prstGeom prst="rect">
            <a:avLst/>
          </a:prstGeom>
          <a:noFill/>
          <a:ln/>
        </p:spPr>
        <p:txBody>
          <a:bodyPr wrap="square" lIns="0" tIns="0" rIns="0" bIns="0" rtlCol="0" anchor="ctr">
            <a:normAutofit/>
          </a:bodyPr>
          <a:lstStyle/>
          <a:p>
            <a:pPr marL="0" indent="0" algn="l">
              <a:buNone/>
            </a:pPr>
            <a:r>
              <a:rPr lang="en-US" sz="1200" b="1" dirty="0">
                <a:solidFill>
                  <a:srgbClr val="172B42"/>
                </a:solidFill>
                <a:latin typeface="Times New Roman" panose="02020603050405020304" pitchFamily="18" charset="0"/>
                <a:ea typeface="Inter" pitchFamily="34" charset="-122"/>
                <a:cs typeface="Times New Roman" panose="02020603050405020304" pitchFamily="18" charset="0"/>
              </a:rPr>
              <a:t>charge</a:t>
            </a:r>
            <a:endParaRPr lang="en-US" sz="1200" dirty="0">
              <a:latin typeface="Times New Roman" panose="02020603050405020304" pitchFamily="18" charset="0"/>
              <a:cs typeface="Times New Roman" panose="02020603050405020304" pitchFamily="18" charset="0"/>
            </a:endParaRPr>
          </a:p>
        </p:txBody>
      </p:sp>
      <p:sp>
        <p:nvSpPr>
          <p:cNvPr id="8" name="Shape 6"/>
          <p:cNvSpPr/>
          <p:nvPr/>
        </p:nvSpPr>
        <p:spPr>
          <a:xfrm>
            <a:off x="941832" y="2935224"/>
            <a:ext cx="10332720" cy="393192"/>
          </a:xfrm>
          <a:prstGeom prst="rect">
            <a:avLst/>
          </a:prstGeom>
          <a:solidFill>
            <a:srgbClr val="EEF4F8"/>
          </a:solidFill>
          <a:ln w="12700">
            <a:solidFill>
              <a:srgbClr val="F0F5F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1060704" y="3026664"/>
            <a:ext cx="2099462" cy="237744"/>
          </a:xfrm>
          <a:prstGeom prst="rect">
            <a:avLst/>
          </a:prstGeom>
          <a:noFill/>
          <a:ln/>
        </p:spPr>
        <p:txBody>
          <a:bodyPr wrap="square" lIns="0" tIns="0" rIns="0" bIns="0" rtlCol="0" anchor="ctr">
            <a:normAutofit/>
          </a:bodyPr>
          <a:lstStyle/>
          <a:p>
            <a:pPr marL="0" indent="0" algn="l">
              <a:buNone/>
            </a:pPr>
            <a:r>
              <a:rPr lang="en-US" sz="1280" b="1" dirty="0">
                <a:solidFill>
                  <a:srgbClr val="172B42"/>
                </a:solidFill>
                <a:latin typeface="Times New Roman" panose="02020603050405020304" pitchFamily="18" charset="0"/>
                <a:ea typeface="Inter" pitchFamily="34" charset="-122"/>
                <a:cs typeface="Times New Roman" panose="02020603050405020304" pitchFamily="18" charset="0"/>
              </a:rPr>
              <a:t>A101</a:t>
            </a:r>
            <a:endParaRPr lang="en-US" sz="1280" dirty="0">
              <a:latin typeface="Times New Roman" panose="02020603050405020304" pitchFamily="18" charset="0"/>
              <a:cs typeface="Times New Roman" panose="02020603050405020304" pitchFamily="18" charset="0"/>
            </a:endParaRPr>
          </a:p>
        </p:txBody>
      </p:sp>
      <p:sp>
        <p:nvSpPr>
          <p:cNvPr id="10" name="Text 8"/>
          <p:cNvSpPr/>
          <p:nvPr/>
        </p:nvSpPr>
        <p:spPr>
          <a:xfrm>
            <a:off x="3333902" y="3026664"/>
            <a:ext cx="1789481"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D02</a:t>
            </a:r>
            <a:endParaRPr lang="en-US" sz="1280" dirty="0">
              <a:latin typeface="Times New Roman" panose="02020603050405020304" pitchFamily="18" charset="0"/>
              <a:cs typeface="Times New Roman" panose="02020603050405020304" pitchFamily="18" charset="0"/>
            </a:endParaRPr>
          </a:p>
        </p:txBody>
      </p:sp>
      <p:sp>
        <p:nvSpPr>
          <p:cNvPr id="11" name="Text 9"/>
          <p:cNvSpPr/>
          <p:nvPr/>
        </p:nvSpPr>
        <p:spPr>
          <a:xfrm>
            <a:off x="5297119" y="3026664"/>
            <a:ext cx="1996135"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completed</a:t>
            </a:r>
            <a:endParaRPr lang="en-US" sz="1280" dirty="0">
              <a:latin typeface="Times New Roman" panose="02020603050405020304" pitchFamily="18" charset="0"/>
              <a:cs typeface="Times New Roman" panose="02020603050405020304" pitchFamily="18" charset="0"/>
            </a:endParaRPr>
          </a:p>
        </p:txBody>
      </p:sp>
      <p:sp>
        <p:nvSpPr>
          <p:cNvPr id="12" name="Text 10"/>
          <p:cNvSpPr/>
          <p:nvPr/>
        </p:nvSpPr>
        <p:spPr>
          <a:xfrm>
            <a:off x="7466990" y="3026664"/>
            <a:ext cx="1686154"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18 Oct</a:t>
            </a:r>
            <a:endParaRPr lang="en-US" sz="1280" dirty="0">
              <a:latin typeface="Times New Roman" panose="02020603050405020304" pitchFamily="18" charset="0"/>
              <a:cs typeface="Times New Roman" panose="02020603050405020304" pitchFamily="18" charset="0"/>
            </a:endParaRPr>
          </a:p>
        </p:txBody>
      </p:sp>
      <p:sp>
        <p:nvSpPr>
          <p:cNvPr id="13" name="Text 11"/>
          <p:cNvSpPr/>
          <p:nvPr/>
        </p:nvSpPr>
        <p:spPr>
          <a:xfrm>
            <a:off x="9326880" y="3026664"/>
            <a:ext cx="1892808"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500</a:t>
            </a:r>
            <a:endParaRPr lang="en-US" sz="1280" dirty="0">
              <a:latin typeface="Times New Roman" panose="02020603050405020304" pitchFamily="18" charset="0"/>
              <a:cs typeface="Times New Roman" panose="02020603050405020304" pitchFamily="18" charset="0"/>
            </a:endParaRPr>
          </a:p>
        </p:txBody>
      </p:sp>
      <p:sp>
        <p:nvSpPr>
          <p:cNvPr id="14" name="Shape 12"/>
          <p:cNvSpPr/>
          <p:nvPr/>
        </p:nvSpPr>
        <p:spPr>
          <a:xfrm>
            <a:off x="941832" y="3328416"/>
            <a:ext cx="10332720" cy="393192"/>
          </a:xfrm>
          <a:prstGeom prst="rect">
            <a:avLst/>
          </a:prstGeom>
          <a:solidFill>
            <a:srgbClr val="FAFCFE"/>
          </a:solidFill>
          <a:ln w="12700">
            <a:solidFill>
              <a:srgbClr val="FFFFFF"/>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5" name="Text 13"/>
          <p:cNvSpPr/>
          <p:nvPr/>
        </p:nvSpPr>
        <p:spPr>
          <a:xfrm>
            <a:off x="1060704" y="3419856"/>
            <a:ext cx="2099462" cy="237744"/>
          </a:xfrm>
          <a:prstGeom prst="rect">
            <a:avLst/>
          </a:prstGeom>
          <a:noFill/>
          <a:ln/>
        </p:spPr>
        <p:txBody>
          <a:bodyPr wrap="square" lIns="0" tIns="0" rIns="0" bIns="0" rtlCol="0" anchor="ctr">
            <a:normAutofit/>
          </a:bodyPr>
          <a:lstStyle/>
          <a:p>
            <a:pPr marL="0" indent="0" algn="l">
              <a:buNone/>
            </a:pPr>
            <a:r>
              <a:rPr lang="en-US" sz="1280" b="1" dirty="0">
                <a:solidFill>
                  <a:srgbClr val="172B42"/>
                </a:solidFill>
                <a:latin typeface="Times New Roman" panose="02020603050405020304" pitchFamily="18" charset="0"/>
                <a:ea typeface="Inter" pitchFamily="34" charset="-122"/>
                <a:cs typeface="Times New Roman" panose="02020603050405020304" pitchFamily="18" charset="0"/>
              </a:rPr>
              <a:t>A102</a:t>
            </a:r>
            <a:endParaRPr lang="en-US" sz="1280" dirty="0">
              <a:latin typeface="Times New Roman" panose="02020603050405020304" pitchFamily="18" charset="0"/>
              <a:cs typeface="Times New Roman" panose="02020603050405020304" pitchFamily="18" charset="0"/>
            </a:endParaRPr>
          </a:p>
        </p:txBody>
      </p:sp>
      <p:sp>
        <p:nvSpPr>
          <p:cNvPr id="16" name="Text 14"/>
          <p:cNvSpPr/>
          <p:nvPr/>
        </p:nvSpPr>
        <p:spPr>
          <a:xfrm>
            <a:off x="3333902" y="3419856"/>
            <a:ext cx="1789481"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D01</a:t>
            </a:r>
            <a:endParaRPr lang="en-US" sz="1280" dirty="0">
              <a:latin typeface="Times New Roman" panose="02020603050405020304" pitchFamily="18" charset="0"/>
              <a:cs typeface="Times New Roman" panose="02020603050405020304" pitchFamily="18" charset="0"/>
            </a:endParaRPr>
          </a:p>
        </p:txBody>
      </p:sp>
      <p:sp>
        <p:nvSpPr>
          <p:cNvPr id="17" name="Text 15"/>
          <p:cNvSpPr/>
          <p:nvPr/>
        </p:nvSpPr>
        <p:spPr>
          <a:xfrm>
            <a:off x="5297119" y="3419856"/>
            <a:ext cx="1996135"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cancelled</a:t>
            </a:r>
            <a:endParaRPr lang="en-US" sz="1280" dirty="0">
              <a:latin typeface="Times New Roman" panose="02020603050405020304" pitchFamily="18" charset="0"/>
              <a:cs typeface="Times New Roman" panose="02020603050405020304" pitchFamily="18" charset="0"/>
            </a:endParaRPr>
          </a:p>
        </p:txBody>
      </p:sp>
      <p:sp>
        <p:nvSpPr>
          <p:cNvPr id="18" name="Text 16"/>
          <p:cNvSpPr/>
          <p:nvPr/>
        </p:nvSpPr>
        <p:spPr>
          <a:xfrm>
            <a:off x="7466990" y="3419856"/>
            <a:ext cx="1686154"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18 Oct</a:t>
            </a:r>
            <a:endParaRPr lang="en-US" sz="1280" dirty="0">
              <a:latin typeface="Times New Roman" panose="02020603050405020304" pitchFamily="18" charset="0"/>
              <a:cs typeface="Times New Roman" panose="02020603050405020304" pitchFamily="18" charset="0"/>
            </a:endParaRPr>
          </a:p>
        </p:txBody>
      </p:sp>
      <p:sp>
        <p:nvSpPr>
          <p:cNvPr id="19" name="Text 17"/>
          <p:cNvSpPr/>
          <p:nvPr/>
        </p:nvSpPr>
        <p:spPr>
          <a:xfrm>
            <a:off x="9326880" y="3419856"/>
            <a:ext cx="1892808"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0</a:t>
            </a:r>
            <a:endParaRPr lang="en-US" sz="1280" dirty="0">
              <a:latin typeface="Times New Roman" panose="02020603050405020304" pitchFamily="18" charset="0"/>
              <a:cs typeface="Times New Roman" panose="02020603050405020304" pitchFamily="18" charset="0"/>
            </a:endParaRPr>
          </a:p>
        </p:txBody>
      </p:sp>
      <p:sp>
        <p:nvSpPr>
          <p:cNvPr id="20" name="Shape 18"/>
          <p:cNvSpPr/>
          <p:nvPr/>
        </p:nvSpPr>
        <p:spPr>
          <a:xfrm>
            <a:off x="941832" y="3721608"/>
            <a:ext cx="10332720" cy="393192"/>
          </a:xfrm>
          <a:prstGeom prst="rect">
            <a:avLst/>
          </a:prstGeom>
          <a:solidFill>
            <a:srgbClr val="EEF4F8"/>
          </a:solidFill>
          <a:ln w="12700">
            <a:solidFill>
              <a:srgbClr val="F0F5F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1" name="Text 19"/>
          <p:cNvSpPr/>
          <p:nvPr/>
        </p:nvSpPr>
        <p:spPr>
          <a:xfrm>
            <a:off x="1060704" y="3813048"/>
            <a:ext cx="2099462" cy="237744"/>
          </a:xfrm>
          <a:prstGeom prst="rect">
            <a:avLst/>
          </a:prstGeom>
          <a:noFill/>
          <a:ln/>
        </p:spPr>
        <p:txBody>
          <a:bodyPr wrap="square" lIns="0" tIns="0" rIns="0" bIns="0" rtlCol="0" anchor="ctr">
            <a:normAutofit/>
          </a:bodyPr>
          <a:lstStyle/>
          <a:p>
            <a:pPr marL="0" indent="0" algn="l">
              <a:buNone/>
            </a:pPr>
            <a:r>
              <a:rPr lang="en-US" sz="1280" b="1" dirty="0">
                <a:solidFill>
                  <a:srgbClr val="172B42"/>
                </a:solidFill>
                <a:latin typeface="Times New Roman" panose="02020603050405020304" pitchFamily="18" charset="0"/>
                <a:ea typeface="Inter" pitchFamily="34" charset="-122"/>
                <a:cs typeface="Times New Roman" panose="02020603050405020304" pitchFamily="18" charset="0"/>
              </a:rPr>
              <a:t>A103</a:t>
            </a:r>
            <a:endParaRPr lang="en-US" sz="1280" dirty="0">
              <a:latin typeface="Times New Roman" panose="02020603050405020304" pitchFamily="18" charset="0"/>
              <a:cs typeface="Times New Roman" panose="02020603050405020304" pitchFamily="18" charset="0"/>
            </a:endParaRPr>
          </a:p>
        </p:txBody>
      </p:sp>
      <p:sp>
        <p:nvSpPr>
          <p:cNvPr id="22" name="Text 20"/>
          <p:cNvSpPr/>
          <p:nvPr/>
        </p:nvSpPr>
        <p:spPr>
          <a:xfrm>
            <a:off x="3333902" y="3813048"/>
            <a:ext cx="1789481"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D02</a:t>
            </a:r>
            <a:endParaRPr lang="en-US" sz="1280" dirty="0">
              <a:latin typeface="Times New Roman" panose="02020603050405020304" pitchFamily="18" charset="0"/>
              <a:cs typeface="Times New Roman" panose="02020603050405020304" pitchFamily="18" charset="0"/>
            </a:endParaRPr>
          </a:p>
        </p:txBody>
      </p:sp>
      <p:sp>
        <p:nvSpPr>
          <p:cNvPr id="23" name="Text 21"/>
          <p:cNvSpPr/>
          <p:nvPr/>
        </p:nvSpPr>
        <p:spPr>
          <a:xfrm>
            <a:off x="5297119" y="3813048"/>
            <a:ext cx="1996135"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completed</a:t>
            </a:r>
            <a:endParaRPr lang="en-US" sz="1280" dirty="0">
              <a:latin typeface="Times New Roman" panose="02020603050405020304" pitchFamily="18" charset="0"/>
              <a:cs typeface="Times New Roman" panose="02020603050405020304" pitchFamily="18" charset="0"/>
            </a:endParaRPr>
          </a:p>
        </p:txBody>
      </p:sp>
      <p:sp>
        <p:nvSpPr>
          <p:cNvPr id="24" name="Text 22"/>
          <p:cNvSpPr/>
          <p:nvPr/>
        </p:nvSpPr>
        <p:spPr>
          <a:xfrm>
            <a:off x="7466990" y="3813048"/>
            <a:ext cx="1686154"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19 Oct</a:t>
            </a:r>
            <a:endParaRPr lang="en-US" sz="1280" dirty="0">
              <a:latin typeface="Times New Roman" panose="02020603050405020304" pitchFamily="18" charset="0"/>
              <a:cs typeface="Times New Roman" panose="02020603050405020304" pitchFamily="18" charset="0"/>
            </a:endParaRPr>
          </a:p>
        </p:txBody>
      </p:sp>
      <p:sp>
        <p:nvSpPr>
          <p:cNvPr id="25" name="Text 23"/>
          <p:cNvSpPr/>
          <p:nvPr/>
        </p:nvSpPr>
        <p:spPr>
          <a:xfrm>
            <a:off x="9326880" y="3813048"/>
            <a:ext cx="1892808"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500</a:t>
            </a:r>
            <a:endParaRPr lang="en-US" sz="1280" dirty="0">
              <a:latin typeface="Times New Roman" panose="02020603050405020304" pitchFamily="18" charset="0"/>
              <a:cs typeface="Times New Roman" panose="02020603050405020304" pitchFamily="18" charset="0"/>
            </a:endParaRPr>
          </a:p>
        </p:txBody>
      </p:sp>
      <p:sp>
        <p:nvSpPr>
          <p:cNvPr id="26" name="Shape 24"/>
          <p:cNvSpPr/>
          <p:nvPr/>
        </p:nvSpPr>
        <p:spPr>
          <a:xfrm>
            <a:off x="941832" y="4114800"/>
            <a:ext cx="10332720" cy="393192"/>
          </a:xfrm>
          <a:prstGeom prst="rect">
            <a:avLst/>
          </a:prstGeom>
          <a:solidFill>
            <a:srgbClr val="FAFCFE"/>
          </a:solidFill>
          <a:ln w="12700">
            <a:solidFill>
              <a:srgbClr val="FFFFFF"/>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7" name="Text 25"/>
          <p:cNvSpPr/>
          <p:nvPr/>
        </p:nvSpPr>
        <p:spPr>
          <a:xfrm>
            <a:off x="1060704" y="4206240"/>
            <a:ext cx="2099462" cy="237744"/>
          </a:xfrm>
          <a:prstGeom prst="rect">
            <a:avLst/>
          </a:prstGeom>
          <a:noFill/>
          <a:ln/>
        </p:spPr>
        <p:txBody>
          <a:bodyPr wrap="square" lIns="0" tIns="0" rIns="0" bIns="0" rtlCol="0" anchor="ctr">
            <a:normAutofit/>
          </a:bodyPr>
          <a:lstStyle/>
          <a:p>
            <a:pPr marL="0" indent="0" algn="l">
              <a:buNone/>
            </a:pPr>
            <a:r>
              <a:rPr lang="en-US" sz="1280" b="1" dirty="0">
                <a:solidFill>
                  <a:srgbClr val="172B42"/>
                </a:solidFill>
                <a:latin typeface="Times New Roman" panose="02020603050405020304" pitchFamily="18" charset="0"/>
                <a:ea typeface="Inter" pitchFamily="34" charset="-122"/>
                <a:cs typeface="Times New Roman" panose="02020603050405020304" pitchFamily="18" charset="0"/>
              </a:rPr>
              <a:t>A104</a:t>
            </a:r>
            <a:endParaRPr lang="en-US" sz="1280" dirty="0">
              <a:latin typeface="Times New Roman" panose="02020603050405020304" pitchFamily="18" charset="0"/>
              <a:cs typeface="Times New Roman" panose="02020603050405020304" pitchFamily="18" charset="0"/>
            </a:endParaRPr>
          </a:p>
        </p:txBody>
      </p:sp>
      <p:sp>
        <p:nvSpPr>
          <p:cNvPr id="28" name="Text 26"/>
          <p:cNvSpPr/>
          <p:nvPr/>
        </p:nvSpPr>
        <p:spPr>
          <a:xfrm>
            <a:off x="3333902" y="4206240"/>
            <a:ext cx="1789481"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D03</a:t>
            </a:r>
            <a:endParaRPr lang="en-US" sz="1280" dirty="0">
              <a:latin typeface="Times New Roman" panose="02020603050405020304" pitchFamily="18" charset="0"/>
              <a:cs typeface="Times New Roman" panose="02020603050405020304" pitchFamily="18" charset="0"/>
            </a:endParaRPr>
          </a:p>
        </p:txBody>
      </p:sp>
      <p:sp>
        <p:nvSpPr>
          <p:cNvPr id="29" name="Text 27"/>
          <p:cNvSpPr/>
          <p:nvPr/>
        </p:nvSpPr>
        <p:spPr>
          <a:xfrm>
            <a:off x="5297119" y="4206240"/>
            <a:ext cx="1996135"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completed</a:t>
            </a:r>
            <a:endParaRPr lang="en-US" sz="1280" dirty="0">
              <a:latin typeface="Times New Roman" panose="02020603050405020304" pitchFamily="18" charset="0"/>
              <a:cs typeface="Times New Roman" panose="02020603050405020304" pitchFamily="18" charset="0"/>
            </a:endParaRPr>
          </a:p>
        </p:txBody>
      </p:sp>
      <p:sp>
        <p:nvSpPr>
          <p:cNvPr id="30" name="Text 28"/>
          <p:cNvSpPr/>
          <p:nvPr/>
        </p:nvSpPr>
        <p:spPr>
          <a:xfrm>
            <a:off x="7466990" y="4206240"/>
            <a:ext cx="1686154"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19 Oct</a:t>
            </a:r>
            <a:endParaRPr lang="en-US" sz="1280" dirty="0">
              <a:latin typeface="Times New Roman" panose="02020603050405020304" pitchFamily="18" charset="0"/>
              <a:cs typeface="Times New Roman" panose="02020603050405020304" pitchFamily="18" charset="0"/>
            </a:endParaRPr>
          </a:p>
        </p:txBody>
      </p:sp>
      <p:sp>
        <p:nvSpPr>
          <p:cNvPr id="31" name="Text 29"/>
          <p:cNvSpPr/>
          <p:nvPr/>
        </p:nvSpPr>
        <p:spPr>
          <a:xfrm>
            <a:off x="9326880" y="4206240"/>
            <a:ext cx="1892808"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700</a:t>
            </a:r>
            <a:endParaRPr lang="en-US" sz="1280" dirty="0">
              <a:latin typeface="Times New Roman" panose="02020603050405020304" pitchFamily="18" charset="0"/>
              <a:cs typeface="Times New Roman" panose="02020603050405020304" pitchFamily="18" charset="0"/>
            </a:endParaRPr>
          </a:p>
        </p:txBody>
      </p:sp>
      <p:sp>
        <p:nvSpPr>
          <p:cNvPr id="32" name="Shape 30"/>
          <p:cNvSpPr/>
          <p:nvPr/>
        </p:nvSpPr>
        <p:spPr>
          <a:xfrm>
            <a:off x="941832" y="4507992"/>
            <a:ext cx="10332720" cy="393192"/>
          </a:xfrm>
          <a:prstGeom prst="rect">
            <a:avLst/>
          </a:prstGeom>
          <a:solidFill>
            <a:srgbClr val="EEF4F8"/>
          </a:solidFill>
          <a:ln w="12700">
            <a:solidFill>
              <a:srgbClr val="F0F5F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3" name="Text 31"/>
          <p:cNvSpPr/>
          <p:nvPr/>
        </p:nvSpPr>
        <p:spPr>
          <a:xfrm>
            <a:off x="1060704" y="4599432"/>
            <a:ext cx="2099462" cy="237744"/>
          </a:xfrm>
          <a:prstGeom prst="rect">
            <a:avLst/>
          </a:prstGeom>
          <a:noFill/>
          <a:ln/>
        </p:spPr>
        <p:txBody>
          <a:bodyPr wrap="square" lIns="0" tIns="0" rIns="0" bIns="0" rtlCol="0" anchor="ctr">
            <a:normAutofit/>
          </a:bodyPr>
          <a:lstStyle/>
          <a:p>
            <a:pPr marL="0" indent="0" algn="l">
              <a:buNone/>
            </a:pPr>
            <a:r>
              <a:rPr lang="en-US" sz="1280" b="1" dirty="0">
                <a:solidFill>
                  <a:srgbClr val="172B42"/>
                </a:solidFill>
                <a:latin typeface="Times New Roman" panose="02020603050405020304" pitchFamily="18" charset="0"/>
                <a:ea typeface="Inter" pitchFamily="34" charset="-122"/>
                <a:cs typeface="Times New Roman" panose="02020603050405020304" pitchFamily="18" charset="0"/>
              </a:rPr>
              <a:t>A105</a:t>
            </a:r>
            <a:endParaRPr lang="en-US" sz="1280" dirty="0">
              <a:latin typeface="Times New Roman" panose="02020603050405020304" pitchFamily="18" charset="0"/>
              <a:cs typeface="Times New Roman" panose="02020603050405020304" pitchFamily="18" charset="0"/>
            </a:endParaRPr>
          </a:p>
        </p:txBody>
      </p:sp>
      <p:sp>
        <p:nvSpPr>
          <p:cNvPr id="34" name="Text 32"/>
          <p:cNvSpPr/>
          <p:nvPr/>
        </p:nvSpPr>
        <p:spPr>
          <a:xfrm>
            <a:off x="3333902" y="4599432"/>
            <a:ext cx="1789481"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D01</a:t>
            </a:r>
            <a:endParaRPr lang="en-US" sz="1280" dirty="0">
              <a:latin typeface="Times New Roman" panose="02020603050405020304" pitchFamily="18" charset="0"/>
              <a:cs typeface="Times New Roman" panose="02020603050405020304" pitchFamily="18" charset="0"/>
            </a:endParaRPr>
          </a:p>
        </p:txBody>
      </p:sp>
      <p:sp>
        <p:nvSpPr>
          <p:cNvPr id="35" name="Text 33"/>
          <p:cNvSpPr/>
          <p:nvPr/>
        </p:nvSpPr>
        <p:spPr>
          <a:xfrm>
            <a:off x="5297119" y="4599432"/>
            <a:ext cx="1996135"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no-show</a:t>
            </a:r>
            <a:endParaRPr lang="en-US" sz="1280" dirty="0">
              <a:latin typeface="Times New Roman" panose="02020603050405020304" pitchFamily="18" charset="0"/>
              <a:cs typeface="Times New Roman" panose="02020603050405020304" pitchFamily="18" charset="0"/>
            </a:endParaRPr>
          </a:p>
        </p:txBody>
      </p:sp>
      <p:sp>
        <p:nvSpPr>
          <p:cNvPr id="36" name="Text 34"/>
          <p:cNvSpPr/>
          <p:nvPr/>
        </p:nvSpPr>
        <p:spPr>
          <a:xfrm>
            <a:off x="7466990" y="4599432"/>
            <a:ext cx="1686154"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20 Oct</a:t>
            </a:r>
            <a:endParaRPr lang="en-US" sz="1280" dirty="0">
              <a:latin typeface="Times New Roman" panose="02020603050405020304" pitchFamily="18" charset="0"/>
              <a:cs typeface="Times New Roman" panose="02020603050405020304" pitchFamily="18" charset="0"/>
            </a:endParaRPr>
          </a:p>
        </p:txBody>
      </p:sp>
      <p:sp>
        <p:nvSpPr>
          <p:cNvPr id="37" name="Text 35"/>
          <p:cNvSpPr/>
          <p:nvPr/>
        </p:nvSpPr>
        <p:spPr>
          <a:xfrm>
            <a:off x="9326880" y="4599432"/>
            <a:ext cx="1892808"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0</a:t>
            </a:r>
            <a:endParaRPr lang="en-US" sz="1280" dirty="0">
              <a:latin typeface="Times New Roman" panose="02020603050405020304" pitchFamily="18" charset="0"/>
              <a:cs typeface="Times New Roman" panose="02020603050405020304" pitchFamily="18" charset="0"/>
            </a:endParaRPr>
          </a:p>
        </p:txBody>
      </p:sp>
      <p:sp>
        <p:nvSpPr>
          <p:cNvPr id="38" name="Shape 36"/>
          <p:cNvSpPr/>
          <p:nvPr/>
        </p:nvSpPr>
        <p:spPr>
          <a:xfrm>
            <a:off x="941832" y="4901184"/>
            <a:ext cx="10332720" cy="393192"/>
          </a:xfrm>
          <a:prstGeom prst="rect">
            <a:avLst/>
          </a:prstGeom>
          <a:solidFill>
            <a:srgbClr val="FAFCFE"/>
          </a:solidFill>
          <a:ln w="12700">
            <a:solidFill>
              <a:srgbClr val="FFFFFF"/>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9" name="Text 37"/>
          <p:cNvSpPr/>
          <p:nvPr/>
        </p:nvSpPr>
        <p:spPr>
          <a:xfrm>
            <a:off x="1060704" y="4992624"/>
            <a:ext cx="2099462" cy="237744"/>
          </a:xfrm>
          <a:prstGeom prst="rect">
            <a:avLst/>
          </a:prstGeom>
          <a:noFill/>
          <a:ln/>
        </p:spPr>
        <p:txBody>
          <a:bodyPr wrap="square" lIns="0" tIns="0" rIns="0" bIns="0" rtlCol="0" anchor="ctr">
            <a:normAutofit/>
          </a:bodyPr>
          <a:lstStyle/>
          <a:p>
            <a:pPr marL="0" indent="0" algn="l">
              <a:buNone/>
            </a:pPr>
            <a:r>
              <a:rPr lang="en-US" sz="1280" b="1" dirty="0">
                <a:solidFill>
                  <a:srgbClr val="172B42"/>
                </a:solidFill>
                <a:latin typeface="Times New Roman" panose="02020603050405020304" pitchFamily="18" charset="0"/>
                <a:ea typeface="Inter" pitchFamily="34" charset="-122"/>
                <a:cs typeface="Times New Roman" panose="02020603050405020304" pitchFamily="18" charset="0"/>
              </a:rPr>
              <a:t>A106</a:t>
            </a:r>
            <a:endParaRPr lang="en-US" sz="1280" dirty="0">
              <a:latin typeface="Times New Roman" panose="02020603050405020304" pitchFamily="18" charset="0"/>
              <a:cs typeface="Times New Roman" panose="02020603050405020304" pitchFamily="18" charset="0"/>
            </a:endParaRPr>
          </a:p>
        </p:txBody>
      </p:sp>
      <p:sp>
        <p:nvSpPr>
          <p:cNvPr id="40" name="Text 38"/>
          <p:cNvSpPr/>
          <p:nvPr/>
        </p:nvSpPr>
        <p:spPr>
          <a:xfrm>
            <a:off x="3333902" y="4992624"/>
            <a:ext cx="1789481"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D01</a:t>
            </a:r>
            <a:endParaRPr lang="en-US" sz="1280" dirty="0">
              <a:latin typeface="Times New Roman" panose="02020603050405020304" pitchFamily="18" charset="0"/>
              <a:cs typeface="Times New Roman" panose="02020603050405020304" pitchFamily="18" charset="0"/>
            </a:endParaRPr>
          </a:p>
        </p:txBody>
      </p:sp>
      <p:sp>
        <p:nvSpPr>
          <p:cNvPr id="41" name="Text 39"/>
          <p:cNvSpPr/>
          <p:nvPr/>
        </p:nvSpPr>
        <p:spPr>
          <a:xfrm>
            <a:off x="5297119" y="4992624"/>
            <a:ext cx="1996135"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completed</a:t>
            </a:r>
            <a:endParaRPr lang="en-US" sz="1280" dirty="0">
              <a:latin typeface="Times New Roman" panose="02020603050405020304" pitchFamily="18" charset="0"/>
              <a:cs typeface="Times New Roman" panose="02020603050405020304" pitchFamily="18" charset="0"/>
            </a:endParaRPr>
          </a:p>
        </p:txBody>
      </p:sp>
      <p:sp>
        <p:nvSpPr>
          <p:cNvPr id="42" name="Text 40"/>
          <p:cNvSpPr/>
          <p:nvPr/>
        </p:nvSpPr>
        <p:spPr>
          <a:xfrm>
            <a:off x="7466990" y="4992624"/>
            <a:ext cx="1686154"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20 Oct</a:t>
            </a:r>
            <a:endParaRPr lang="en-US" sz="1280" dirty="0">
              <a:latin typeface="Times New Roman" panose="02020603050405020304" pitchFamily="18" charset="0"/>
              <a:cs typeface="Times New Roman" panose="02020603050405020304" pitchFamily="18" charset="0"/>
            </a:endParaRPr>
          </a:p>
        </p:txBody>
      </p:sp>
      <p:sp>
        <p:nvSpPr>
          <p:cNvPr id="43" name="Text 41"/>
          <p:cNvSpPr/>
          <p:nvPr/>
        </p:nvSpPr>
        <p:spPr>
          <a:xfrm>
            <a:off x="9326880" y="4992624"/>
            <a:ext cx="1892808" cy="237744"/>
          </a:xfrm>
          <a:prstGeom prst="rect">
            <a:avLst/>
          </a:prstGeom>
          <a:noFill/>
          <a:ln/>
        </p:spPr>
        <p:txBody>
          <a:bodyPr wrap="square" lIns="0" tIns="0" rIns="0" bIns="0" rtlCol="0" anchor="ctr">
            <a:normAutofit/>
          </a:bodyPr>
          <a:lstStyle/>
          <a:p>
            <a:pPr marL="0" indent="0" algn="l">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850</a:t>
            </a:r>
            <a:endParaRPr lang="en-US" sz="1280" dirty="0">
              <a:latin typeface="Times New Roman" panose="02020603050405020304" pitchFamily="18" charset="0"/>
              <a:cs typeface="Times New Roman" panose="02020603050405020304" pitchFamily="18" charset="0"/>
            </a:endParaRPr>
          </a:p>
        </p:txBody>
      </p:sp>
      <p:sp>
        <p:nvSpPr>
          <p:cNvPr id="44" name="Shape 42"/>
          <p:cNvSpPr/>
          <p:nvPr/>
        </p:nvSpPr>
        <p:spPr>
          <a:xfrm>
            <a:off x="621792" y="5650992"/>
            <a:ext cx="10948111" cy="493776"/>
          </a:xfrm>
          <a:prstGeom prst="roundRect">
            <a:avLst>
              <a:gd name="adj" fmla="val 22222"/>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5" name="Text 43"/>
          <p:cNvSpPr/>
          <p:nvPr/>
        </p:nvSpPr>
        <p:spPr>
          <a:xfrm>
            <a:off x="822960" y="5705856"/>
            <a:ext cx="1316736" cy="365760"/>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LOOK CLOSER</a:t>
            </a:r>
            <a:endParaRPr lang="en-US" sz="1030" dirty="0">
              <a:latin typeface="Times New Roman" panose="02020603050405020304" pitchFamily="18" charset="0"/>
              <a:cs typeface="Times New Roman" panose="02020603050405020304" pitchFamily="18" charset="0"/>
            </a:endParaRPr>
          </a:p>
        </p:txBody>
      </p:sp>
      <p:sp>
        <p:nvSpPr>
          <p:cNvPr id="46" name="Text 44"/>
          <p:cNvSpPr/>
          <p:nvPr/>
        </p:nvSpPr>
        <p:spPr>
          <a:xfrm>
            <a:off x="2221992" y="5705856"/>
            <a:ext cx="9101023" cy="365760"/>
          </a:xfrm>
          <a:prstGeom prst="rect">
            <a:avLst/>
          </a:prstGeom>
          <a:noFill/>
          <a:ln/>
        </p:spPr>
        <p:txBody>
          <a:bodyPr wrap="square" lIns="0" tIns="0" rIns="0" bIns="0" rtlCol="0" anchor="ctr">
            <a:normAutofit/>
          </a:bodyPr>
          <a:lstStyle/>
          <a:p>
            <a:pPr marL="0" indent="0" algn="l">
              <a:buNone/>
            </a:pPr>
            <a:r>
              <a:rPr lang="en-US" sz="1340" b="1" dirty="0">
                <a:solidFill>
                  <a:srgbClr val="172B42"/>
                </a:solidFill>
                <a:latin typeface="Times New Roman" panose="02020603050405020304" pitchFamily="18" charset="0"/>
                <a:ea typeface="Inter" pitchFamily="34" charset="-122"/>
                <a:cs typeface="Times New Roman" panose="02020603050405020304" pitchFamily="18" charset="0"/>
              </a:rPr>
              <a:t>Illustrative clean sample: 6 appointments, 4 completed, 1 cancelled, 1 no-show.</a:t>
            </a:r>
            <a:endParaRPr lang="en-US" sz="1340" dirty="0">
              <a:latin typeface="Times New Roman" panose="02020603050405020304" pitchFamily="18" charset="0"/>
              <a:cs typeface="Times New Roman" panose="02020603050405020304" pitchFamily="18" charset="0"/>
            </a:endParaRPr>
          </a:p>
        </p:txBody>
      </p:sp>
      <p:sp>
        <p:nvSpPr>
          <p:cNvPr id="47" name="Text 45"/>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Understand the dataset before plotting</a:t>
            </a:r>
            <a:endParaRPr lang="en-US" sz="3180" dirty="0">
              <a:latin typeface="Times New Roman" panose="02020603050405020304" pitchFamily="18" charset="0"/>
              <a:cs typeface="Times New Roman" panose="02020603050405020304" pitchFamily="18" charset="0"/>
            </a:endParaRPr>
          </a:p>
        </p:txBody>
      </p:sp>
      <p:sp>
        <p:nvSpPr>
          <p:cNvPr id="48" name="Text 46"/>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ANALYST</a:t>
            </a:r>
            <a:endParaRPr lang="en-US" sz="1050" dirty="0">
              <a:latin typeface="Times New Roman" panose="02020603050405020304" pitchFamily="18" charset="0"/>
              <a:cs typeface="Times New Roman" panose="02020603050405020304" pitchFamily="18" charset="0"/>
            </a:endParaRPr>
          </a:p>
        </p:txBody>
      </p:sp>
      <p:sp>
        <p:nvSpPr>
          <p:cNvPr id="50" name="Shape 48"/>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51" name="Shape 49"/>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52" name="Text 50"/>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53" name="Text 51"/>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39</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1248" y="2340864"/>
            <a:ext cx="7287768" cy="3090672"/>
          </a:xfrm>
          <a:prstGeom prst="roundRect">
            <a:avLst>
              <a:gd name="adj" fmla="val 4734"/>
            </a:avLst>
          </a:prstGeom>
          <a:solidFill>
            <a:srgbClr val="EAF2F7"/>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Text 1"/>
          <p:cNvSpPr/>
          <p:nvPr/>
        </p:nvSpPr>
        <p:spPr>
          <a:xfrm>
            <a:off x="1078992" y="2569464"/>
            <a:ext cx="3657600" cy="256032"/>
          </a:xfrm>
          <a:prstGeom prst="rect">
            <a:avLst/>
          </a:prstGeom>
          <a:noFill/>
          <a:ln/>
        </p:spPr>
        <p:txBody>
          <a:bodyPr wrap="square" lIns="0" tIns="0" rIns="0" bIns="0" rtlCol="0" anchor="ctr">
            <a:normAutofit/>
          </a:bodyPr>
          <a:lstStyle/>
          <a:p>
            <a:pPr marL="0" indent="0" algn="l">
              <a:buNone/>
            </a:pPr>
            <a:r>
              <a:rPr lang="en-US" sz="1100" b="1" kern="0" spc="100" dirty="0">
                <a:solidFill>
                  <a:srgbClr val="087B75"/>
                </a:solidFill>
                <a:latin typeface="Times New Roman" panose="02020603050405020304" pitchFamily="18" charset="0"/>
                <a:ea typeface="Inter" pitchFamily="34" charset="-122"/>
                <a:cs typeface="Times New Roman" panose="02020603050405020304" pitchFamily="18" charset="0"/>
              </a:rPr>
              <a:t>SQL  /  EXAMPLE</a:t>
            </a:r>
            <a:endParaRPr lang="en-US" sz="1100" dirty="0">
              <a:latin typeface="Times New Roman" panose="02020603050405020304" pitchFamily="18" charset="0"/>
              <a:cs typeface="Times New Roman" panose="02020603050405020304" pitchFamily="18" charset="0"/>
            </a:endParaRPr>
          </a:p>
        </p:txBody>
      </p:sp>
      <p:sp>
        <p:nvSpPr>
          <p:cNvPr id="4" name="Text 2"/>
          <p:cNvSpPr/>
          <p:nvPr/>
        </p:nvSpPr>
        <p:spPr>
          <a:xfrm>
            <a:off x="1078992" y="2999232"/>
            <a:ext cx="6830568" cy="2084832"/>
          </a:xfrm>
          <a:prstGeom prst="rect">
            <a:avLst/>
          </a:prstGeom>
          <a:noFill/>
          <a:ln/>
        </p:spPr>
        <p:txBody>
          <a:bodyPr wrap="square" lIns="0" tIns="0" rIns="0" bIns="0" rtlCol="0" anchor="t">
            <a:normAutofit/>
          </a:bodyPr>
          <a:lstStyle/>
          <a:p>
            <a:pPr marL="0" indent="0" algn="l">
              <a:buNone/>
            </a:pPr>
            <a:r>
              <a:rPr lang="en-US" sz="1750" dirty="0">
                <a:solidFill>
                  <a:srgbClr val="172B42"/>
                </a:solidFill>
                <a:latin typeface="Times New Roman" panose="02020603050405020304" pitchFamily="18" charset="0"/>
                <a:ea typeface="Aptos Mono" pitchFamily="34" charset="-122"/>
                <a:cs typeface="Times New Roman" panose="02020603050405020304" pitchFamily="18" charset="0"/>
              </a:rPr>
              <a:t>Completion rate =</a:t>
            </a:r>
            <a:endParaRPr lang="en-US" sz="1750" dirty="0">
              <a:latin typeface="Times New Roman" panose="02020603050405020304" pitchFamily="18" charset="0"/>
              <a:cs typeface="Times New Roman" panose="02020603050405020304" pitchFamily="18" charset="0"/>
            </a:endParaRPr>
          </a:p>
          <a:p>
            <a:pPr marL="0" indent="0" algn="l">
              <a:buNone/>
            </a:pPr>
            <a:endParaRPr lang="en-US" sz="1750" dirty="0">
              <a:latin typeface="Times New Roman" panose="02020603050405020304" pitchFamily="18" charset="0"/>
              <a:cs typeface="Times New Roman" panose="02020603050405020304" pitchFamily="18" charset="0"/>
            </a:endParaRPr>
          </a:p>
          <a:p>
            <a:pPr marL="0" indent="0" algn="l">
              <a:buNone/>
            </a:pPr>
            <a:r>
              <a:rPr lang="en-US" sz="1750" dirty="0">
                <a:solidFill>
                  <a:srgbClr val="172B42"/>
                </a:solidFill>
                <a:latin typeface="Times New Roman" panose="02020603050405020304" pitchFamily="18" charset="0"/>
                <a:ea typeface="Aptos Mono" pitchFamily="34" charset="-122"/>
                <a:cs typeface="Times New Roman" panose="02020603050405020304" pitchFamily="18" charset="0"/>
              </a:rPr>
              <a:t>Completed appointments</a:t>
            </a:r>
            <a:endParaRPr lang="en-US" sz="1750" dirty="0">
              <a:latin typeface="Times New Roman" panose="02020603050405020304" pitchFamily="18" charset="0"/>
              <a:cs typeface="Times New Roman" panose="02020603050405020304" pitchFamily="18" charset="0"/>
            </a:endParaRPr>
          </a:p>
          <a:p>
            <a:pPr marL="0" indent="0" algn="l">
              <a:buNone/>
            </a:pPr>
            <a:r>
              <a:rPr lang="en-US" sz="1750" dirty="0">
                <a:solidFill>
                  <a:srgbClr val="172B42"/>
                </a:solidFill>
                <a:latin typeface="Times New Roman" panose="02020603050405020304" pitchFamily="18" charset="0"/>
                <a:ea typeface="Aptos Mono" pitchFamily="34" charset="-122"/>
                <a:cs typeface="Times New Roman" panose="02020603050405020304" pitchFamily="18" charset="0"/>
              </a:rPr>
              <a:t>───────────────────────  × 100</a:t>
            </a:r>
            <a:endParaRPr lang="en-US" sz="1750" dirty="0">
              <a:latin typeface="Times New Roman" panose="02020603050405020304" pitchFamily="18" charset="0"/>
              <a:cs typeface="Times New Roman" panose="02020603050405020304" pitchFamily="18" charset="0"/>
            </a:endParaRPr>
          </a:p>
          <a:p>
            <a:pPr marL="0" indent="0" algn="l">
              <a:buNone/>
            </a:pPr>
            <a:r>
              <a:rPr lang="en-US" sz="1750" dirty="0">
                <a:solidFill>
                  <a:srgbClr val="172B42"/>
                </a:solidFill>
                <a:latin typeface="Times New Roman" panose="02020603050405020304" pitchFamily="18" charset="0"/>
                <a:ea typeface="Aptos Mono" pitchFamily="34" charset="-122"/>
                <a:cs typeface="Times New Roman" panose="02020603050405020304" pitchFamily="18" charset="0"/>
              </a:rPr>
              <a:t>All valid appointments</a:t>
            </a:r>
            <a:endParaRPr lang="en-US" sz="1750" dirty="0">
              <a:latin typeface="Times New Roman" panose="02020603050405020304" pitchFamily="18" charset="0"/>
              <a:cs typeface="Times New Roman" panose="02020603050405020304" pitchFamily="18" charset="0"/>
            </a:endParaRPr>
          </a:p>
          <a:p>
            <a:pPr marL="0" indent="0" algn="l">
              <a:buNone/>
            </a:pPr>
            <a:endParaRPr lang="en-US" sz="1750" dirty="0">
              <a:latin typeface="Times New Roman" panose="02020603050405020304" pitchFamily="18" charset="0"/>
              <a:cs typeface="Times New Roman" panose="02020603050405020304" pitchFamily="18" charset="0"/>
            </a:endParaRPr>
          </a:p>
          <a:p>
            <a:pPr marL="0" indent="0" algn="l">
              <a:buNone/>
            </a:pPr>
            <a:r>
              <a:rPr lang="en-US" sz="1750" dirty="0">
                <a:solidFill>
                  <a:srgbClr val="172B42"/>
                </a:solidFill>
                <a:latin typeface="Times New Roman" panose="02020603050405020304" pitchFamily="18" charset="0"/>
                <a:ea typeface="Aptos Mono" pitchFamily="34" charset="-122"/>
                <a:cs typeface="Times New Roman" panose="02020603050405020304" pitchFamily="18" charset="0"/>
              </a:rPr>
              <a:t>= 4 / 6 × 100 = 66.7%</a:t>
            </a:r>
            <a:endParaRPr lang="en-US" sz="1750" dirty="0">
              <a:latin typeface="Times New Roman" panose="02020603050405020304" pitchFamily="18" charset="0"/>
              <a:cs typeface="Times New Roman" panose="02020603050405020304" pitchFamily="18" charset="0"/>
            </a:endParaRPr>
          </a:p>
        </p:txBody>
      </p:sp>
      <p:sp>
        <p:nvSpPr>
          <p:cNvPr id="5" name="Shape 3"/>
          <p:cNvSpPr/>
          <p:nvPr/>
        </p:nvSpPr>
        <p:spPr>
          <a:xfrm>
            <a:off x="8357616" y="2340864"/>
            <a:ext cx="2962656" cy="3090672"/>
          </a:xfrm>
          <a:prstGeom prst="roundRect">
            <a:avLst>
              <a:gd name="adj" fmla="val 4321"/>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6" name="Shape 4"/>
          <p:cNvSpPr/>
          <p:nvPr/>
        </p:nvSpPr>
        <p:spPr>
          <a:xfrm>
            <a:off x="8357616" y="2340864"/>
            <a:ext cx="64008" cy="3090672"/>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Text 5"/>
          <p:cNvSpPr/>
          <p:nvPr/>
        </p:nvSpPr>
        <p:spPr>
          <a:xfrm>
            <a:off x="8595360" y="2560320"/>
            <a:ext cx="2523744" cy="502920"/>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Decision check</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8595360" y="3136392"/>
            <a:ext cx="2459736" cy="2112264"/>
          </a:xfrm>
          <a:prstGeom prst="rect">
            <a:avLst/>
          </a:prstGeom>
          <a:noFill/>
          <a:ln/>
        </p:spPr>
        <p:txBody>
          <a:bodyPr wrap="square" lIns="0" tIns="0" rIns="0" bIns="0" rtlCol="0" anchor="t">
            <a:normAutofit/>
          </a:bodyPr>
          <a:lstStyle/>
          <a:p>
            <a:pPr marL="0" indent="0" algn="l">
              <a:buNone/>
            </a:pPr>
            <a:r>
              <a:rPr lang="en-US" sz="1650" dirty="0">
                <a:solidFill>
                  <a:srgbClr val="5C6D80"/>
                </a:solidFill>
                <a:latin typeface="Times New Roman" panose="02020603050405020304" pitchFamily="18" charset="0"/>
                <a:ea typeface="Inter" pitchFamily="34" charset="-122"/>
                <a:cs typeface="Times New Roman" panose="02020603050405020304" pitchFamily="18" charset="0"/>
              </a:rPr>
              <a:t>What if cancelled visits are excluded from the denominator?</a:t>
            </a:r>
            <a:endParaRPr lang="en-US" sz="1650" dirty="0">
              <a:latin typeface="Times New Roman" panose="02020603050405020304" pitchFamily="18" charset="0"/>
              <a:cs typeface="Times New Roman" panose="02020603050405020304" pitchFamily="18" charset="0"/>
            </a:endParaRPr>
          </a:p>
        </p:txBody>
      </p:sp>
      <p:sp>
        <p:nvSpPr>
          <p:cNvPr id="9" name="Text 7"/>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Metric definitions matter</a:t>
            </a:r>
            <a:endParaRPr lang="en-US" sz="3180" dirty="0">
              <a:latin typeface="Times New Roman" panose="02020603050405020304" pitchFamily="18" charset="0"/>
              <a:cs typeface="Times New Roman" panose="02020603050405020304" pitchFamily="18" charset="0"/>
            </a:endParaRPr>
          </a:p>
        </p:txBody>
      </p:sp>
      <p:sp>
        <p:nvSpPr>
          <p:cNvPr id="10" name="Text 8"/>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ANALYST</a:t>
            </a:r>
            <a:endParaRPr lang="en-US" sz="1050" dirty="0">
              <a:latin typeface="Times New Roman" panose="02020603050405020304" pitchFamily="18" charset="0"/>
              <a:cs typeface="Times New Roman" panose="02020603050405020304" pitchFamily="18" charset="0"/>
            </a:endParaRPr>
          </a:p>
        </p:txBody>
      </p:sp>
      <p:sp>
        <p:nvSpPr>
          <p:cNvPr id="12" name="Shape 10"/>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3" name="Shape 11"/>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4" name="Text 12"/>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5" name="Text 13"/>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40</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2093976"/>
            <a:ext cx="10561320" cy="3291840"/>
          </a:xfrm>
          <a:prstGeom prst="roundRect">
            <a:avLst>
              <a:gd name="adj" fmla="val 4444"/>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Text 1"/>
          <p:cNvSpPr/>
          <p:nvPr/>
        </p:nvSpPr>
        <p:spPr>
          <a:xfrm>
            <a:off x="1069848" y="2276856"/>
            <a:ext cx="6400800" cy="301752"/>
          </a:xfrm>
          <a:prstGeom prst="rect">
            <a:avLst/>
          </a:prstGeom>
          <a:noFill/>
          <a:ln/>
        </p:spPr>
        <p:txBody>
          <a:bodyPr wrap="square" lIns="0" tIns="0" rIns="0" bIns="0" rtlCol="0" anchor="ctr">
            <a:normAutofit/>
          </a:bodyPr>
          <a:lstStyle/>
          <a:p>
            <a:pPr marL="0" indent="0" algn="l">
              <a:buNone/>
            </a:pPr>
            <a:r>
              <a:rPr lang="en-US" sz="1150" b="1" kern="0" spc="70" dirty="0">
                <a:solidFill>
                  <a:srgbClr val="5C6D80"/>
                </a:solidFill>
                <a:latin typeface="Times New Roman" panose="02020603050405020304" pitchFamily="18" charset="0"/>
                <a:ea typeface="Inter" pitchFamily="34" charset="-122"/>
                <a:cs typeface="Times New Roman" panose="02020603050405020304" pitchFamily="18" charset="0"/>
              </a:rPr>
              <a:t>CLINICPULSE  /  OPERATIONS OVERVIEW</a:t>
            </a:r>
            <a:endParaRPr lang="en-US" sz="1150" dirty="0">
              <a:latin typeface="Times New Roman" panose="02020603050405020304" pitchFamily="18" charset="0"/>
              <a:cs typeface="Times New Roman" panose="02020603050405020304" pitchFamily="18" charset="0"/>
            </a:endParaRPr>
          </a:p>
        </p:txBody>
      </p:sp>
      <p:sp>
        <p:nvSpPr>
          <p:cNvPr id="4" name="Shape 2"/>
          <p:cNvSpPr/>
          <p:nvPr/>
        </p:nvSpPr>
        <p:spPr>
          <a:xfrm>
            <a:off x="1051560" y="2724912"/>
            <a:ext cx="2304288" cy="822960"/>
          </a:xfrm>
          <a:prstGeom prst="roundRect">
            <a:avLst>
              <a:gd name="adj" fmla="val 11111"/>
            </a:avLst>
          </a:prstGeom>
          <a:solidFill>
            <a:srgbClr val="F5F9FC"/>
          </a:solidFill>
          <a:ln w="12700">
            <a:solidFill>
              <a:srgbClr val="F8FAFC"/>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5" name="Text 3"/>
          <p:cNvSpPr/>
          <p:nvPr/>
        </p:nvSpPr>
        <p:spPr>
          <a:xfrm>
            <a:off x="1207008" y="2852928"/>
            <a:ext cx="2057400" cy="201168"/>
          </a:xfrm>
          <a:prstGeom prst="rect">
            <a:avLst/>
          </a:prstGeom>
          <a:noFill/>
          <a:ln/>
        </p:spPr>
        <p:txBody>
          <a:bodyPr wrap="square" lIns="0" tIns="0" rIns="0" bIns="0" rtlCol="0" anchor="ctr">
            <a:normAutofit/>
          </a:bodyPr>
          <a:lstStyle/>
          <a:p>
            <a:pPr marL="0" indent="0" algn="l">
              <a:buNone/>
            </a:pPr>
            <a:r>
              <a:rPr lang="en-US" sz="1130" dirty="0">
                <a:solidFill>
                  <a:srgbClr val="5C6D80"/>
                </a:solidFill>
                <a:latin typeface="Times New Roman" panose="02020603050405020304" pitchFamily="18" charset="0"/>
                <a:ea typeface="Inter" pitchFamily="34" charset="-122"/>
                <a:cs typeface="Times New Roman" panose="02020603050405020304" pitchFamily="18" charset="0"/>
              </a:rPr>
              <a:t>Appointments</a:t>
            </a:r>
            <a:endParaRPr lang="en-US" sz="1130" dirty="0">
              <a:latin typeface="Times New Roman" panose="02020603050405020304" pitchFamily="18" charset="0"/>
              <a:cs typeface="Times New Roman" panose="02020603050405020304" pitchFamily="18" charset="0"/>
            </a:endParaRPr>
          </a:p>
        </p:txBody>
      </p:sp>
      <p:sp>
        <p:nvSpPr>
          <p:cNvPr id="6" name="Text 4"/>
          <p:cNvSpPr/>
          <p:nvPr/>
        </p:nvSpPr>
        <p:spPr>
          <a:xfrm>
            <a:off x="1207008" y="3099816"/>
            <a:ext cx="2011680" cy="338328"/>
          </a:xfrm>
          <a:prstGeom prst="rect">
            <a:avLst/>
          </a:prstGeom>
          <a:noFill/>
          <a:ln/>
        </p:spPr>
        <p:txBody>
          <a:bodyPr wrap="square" lIns="0" tIns="0" rIns="0" bIns="0" rtlCol="0" anchor="ctr">
            <a:normAutofit lnSpcReduction="10000"/>
          </a:bodyPr>
          <a:lstStyle/>
          <a:p>
            <a:pPr marL="0" indent="0" algn="l">
              <a:buNone/>
            </a:pPr>
            <a:r>
              <a:rPr lang="en-US" sz="2400" b="1" dirty="0">
                <a:solidFill>
                  <a:srgbClr val="172B42"/>
                </a:solidFill>
                <a:latin typeface="Times New Roman" panose="02020603050405020304" pitchFamily="18" charset="0"/>
                <a:ea typeface="Inter" pitchFamily="34" charset="-122"/>
                <a:cs typeface="Times New Roman" panose="02020603050405020304" pitchFamily="18" charset="0"/>
              </a:rPr>
              <a:t>6</a:t>
            </a:r>
            <a:endParaRPr lang="en-US" sz="2400" dirty="0">
              <a:latin typeface="Times New Roman" panose="02020603050405020304" pitchFamily="18" charset="0"/>
              <a:cs typeface="Times New Roman" panose="02020603050405020304" pitchFamily="18" charset="0"/>
            </a:endParaRPr>
          </a:p>
        </p:txBody>
      </p:sp>
      <p:sp>
        <p:nvSpPr>
          <p:cNvPr id="7" name="Shape 5"/>
          <p:cNvSpPr/>
          <p:nvPr/>
        </p:nvSpPr>
        <p:spPr>
          <a:xfrm>
            <a:off x="3584448" y="2724912"/>
            <a:ext cx="2304288" cy="822960"/>
          </a:xfrm>
          <a:prstGeom prst="roundRect">
            <a:avLst>
              <a:gd name="adj" fmla="val 11111"/>
            </a:avLst>
          </a:prstGeom>
          <a:solidFill>
            <a:srgbClr val="F5F9FC"/>
          </a:solidFill>
          <a:ln w="12700">
            <a:solidFill>
              <a:srgbClr val="F8FAFC"/>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3739896" y="2852928"/>
            <a:ext cx="2057400" cy="201168"/>
          </a:xfrm>
          <a:prstGeom prst="rect">
            <a:avLst/>
          </a:prstGeom>
          <a:noFill/>
          <a:ln/>
        </p:spPr>
        <p:txBody>
          <a:bodyPr wrap="square" lIns="0" tIns="0" rIns="0" bIns="0" rtlCol="0" anchor="ctr">
            <a:normAutofit/>
          </a:bodyPr>
          <a:lstStyle/>
          <a:p>
            <a:pPr marL="0" indent="0" algn="l">
              <a:buNone/>
            </a:pPr>
            <a:r>
              <a:rPr lang="en-US" sz="1130" dirty="0">
                <a:solidFill>
                  <a:srgbClr val="5C6D80"/>
                </a:solidFill>
                <a:latin typeface="Times New Roman" panose="02020603050405020304" pitchFamily="18" charset="0"/>
                <a:ea typeface="Inter" pitchFamily="34" charset="-122"/>
                <a:cs typeface="Times New Roman" panose="02020603050405020304" pitchFamily="18" charset="0"/>
              </a:rPr>
              <a:t>Completed</a:t>
            </a:r>
            <a:endParaRPr lang="en-US" sz="1130" dirty="0">
              <a:latin typeface="Times New Roman" panose="02020603050405020304" pitchFamily="18" charset="0"/>
              <a:cs typeface="Times New Roman" panose="02020603050405020304" pitchFamily="18" charset="0"/>
            </a:endParaRPr>
          </a:p>
        </p:txBody>
      </p:sp>
      <p:sp>
        <p:nvSpPr>
          <p:cNvPr id="9" name="Text 7"/>
          <p:cNvSpPr/>
          <p:nvPr/>
        </p:nvSpPr>
        <p:spPr>
          <a:xfrm>
            <a:off x="3739896" y="3099816"/>
            <a:ext cx="2011680" cy="338328"/>
          </a:xfrm>
          <a:prstGeom prst="rect">
            <a:avLst/>
          </a:prstGeom>
          <a:noFill/>
          <a:ln/>
        </p:spPr>
        <p:txBody>
          <a:bodyPr wrap="square" lIns="0" tIns="0" rIns="0" bIns="0" rtlCol="0" anchor="ctr">
            <a:normAutofit lnSpcReduction="10000"/>
          </a:bodyPr>
          <a:lstStyle/>
          <a:p>
            <a:pPr marL="0" indent="0" algn="l">
              <a:buNone/>
            </a:pPr>
            <a:r>
              <a:rPr lang="en-US" sz="2400" b="1" dirty="0">
                <a:solidFill>
                  <a:srgbClr val="172B42"/>
                </a:solidFill>
                <a:latin typeface="Times New Roman" panose="02020603050405020304" pitchFamily="18" charset="0"/>
                <a:ea typeface="Inter" pitchFamily="34" charset="-122"/>
                <a:cs typeface="Times New Roman" panose="02020603050405020304" pitchFamily="18" charset="0"/>
              </a:rPr>
              <a:t>4</a:t>
            </a:r>
            <a:endParaRPr lang="en-US" sz="2400" dirty="0">
              <a:latin typeface="Times New Roman" panose="02020603050405020304" pitchFamily="18" charset="0"/>
              <a:cs typeface="Times New Roman" panose="02020603050405020304" pitchFamily="18" charset="0"/>
            </a:endParaRPr>
          </a:p>
        </p:txBody>
      </p:sp>
      <p:sp>
        <p:nvSpPr>
          <p:cNvPr id="10" name="Shape 8"/>
          <p:cNvSpPr/>
          <p:nvPr/>
        </p:nvSpPr>
        <p:spPr>
          <a:xfrm>
            <a:off x="6117336" y="2724912"/>
            <a:ext cx="2304288" cy="822960"/>
          </a:xfrm>
          <a:prstGeom prst="roundRect">
            <a:avLst>
              <a:gd name="adj" fmla="val 11111"/>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Text 9"/>
          <p:cNvSpPr/>
          <p:nvPr/>
        </p:nvSpPr>
        <p:spPr>
          <a:xfrm>
            <a:off x="6272784" y="2852928"/>
            <a:ext cx="2057400" cy="201168"/>
          </a:xfrm>
          <a:prstGeom prst="rect">
            <a:avLst/>
          </a:prstGeom>
          <a:noFill/>
          <a:ln/>
        </p:spPr>
        <p:txBody>
          <a:bodyPr wrap="square" lIns="0" tIns="0" rIns="0" bIns="0" rtlCol="0" anchor="ctr">
            <a:normAutofit/>
          </a:bodyPr>
          <a:lstStyle/>
          <a:p>
            <a:pPr marL="0" indent="0" algn="l">
              <a:buNone/>
            </a:pPr>
            <a:r>
              <a:rPr lang="en-US" sz="1130" dirty="0">
                <a:solidFill>
                  <a:srgbClr val="5C6D80"/>
                </a:solidFill>
                <a:latin typeface="Times New Roman" panose="02020603050405020304" pitchFamily="18" charset="0"/>
                <a:ea typeface="Inter" pitchFamily="34" charset="-122"/>
                <a:cs typeface="Times New Roman" panose="02020603050405020304" pitchFamily="18" charset="0"/>
              </a:rPr>
              <a:t>Completion rate</a:t>
            </a:r>
            <a:endParaRPr lang="en-US" sz="1130" dirty="0">
              <a:latin typeface="Times New Roman" panose="02020603050405020304" pitchFamily="18" charset="0"/>
              <a:cs typeface="Times New Roman" panose="02020603050405020304" pitchFamily="18" charset="0"/>
            </a:endParaRPr>
          </a:p>
        </p:txBody>
      </p:sp>
      <p:sp>
        <p:nvSpPr>
          <p:cNvPr id="12" name="Text 10"/>
          <p:cNvSpPr/>
          <p:nvPr/>
        </p:nvSpPr>
        <p:spPr>
          <a:xfrm>
            <a:off x="6272784" y="3099816"/>
            <a:ext cx="2011680" cy="338328"/>
          </a:xfrm>
          <a:prstGeom prst="rect">
            <a:avLst/>
          </a:prstGeom>
          <a:noFill/>
          <a:ln/>
        </p:spPr>
        <p:txBody>
          <a:bodyPr wrap="square" lIns="0" tIns="0" rIns="0" bIns="0" rtlCol="0" anchor="ctr">
            <a:normAutofit lnSpcReduction="10000"/>
          </a:bodyPr>
          <a:lstStyle/>
          <a:p>
            <a:pPr marL="0" indent="0" algn="l">
              <a:buNone/>
            </a:pPr>
            <a:r>
              <a:rPr lang="en-US" sz="2400" b="1" dirty="0">
                <a:solidFill>
                  <a:srgbClr val="087B75"/>
                </a:solidFill>
                <a:latin typeface="Times New Roman" panose="02020603050405020304" pitchFamily="18" charset="0"/>
                <a:ea typeface="Inter" pitchFamily="34" charset="-122"/>
                <a:cs typeface="Times New Roman" panose="02020603050405020304" pitchFamily="18" charset="0"/>
              </a:rPr>
              <a:t>66.7%</a:t>
            </a:r>
            <a:endParaRPr lang="en-US" sz="2400" dirty="0">
              <a:latin typeface="Times New Roman" panose="02020603050405020304" pitchFamily="18" charset="0"/>
              <a:cs typeface="Times New Roman" panose="02020603050405020304" pitchFamily="18" charset="0"/>
            </a:endParaRPr>
          </a:p>
        </p:txBody>
      </p:sp>
      <p:sp>
        <p:nvSpPr>
          <p:cNvPr id="13" name="Shape 11"/>
          <p:cNvSpPr/>
          <p:nvPr/>
        </p:nvSpPr>
        <p:spPr>
          <a:xfrm>
            <a:off x="8650224" y="2724912"/>
            <a:ext cx="2304288" cy="822960"/>
          </a:xfrm>
          <a:prstGeom prst="roundRect">
            <a:avLst>
              <a:gd name="adj" fmla="val 11111"/>
            </a:avLst>
          </a:prstGeom>
          <a:solidFill>
            <a:srgbClr val="F5F9FC"/>
          </a:solidFill>
          <a:ln w="12700">
            <a:solidFill>
              <a:srgbClr val="F8FAFC"/>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4" name="Text 12"/>
          <p:cNvSpPr/>
          <p:nvPr/>
        </p:nvSpPr>
        <p:spPr>
          <a:xfrm>
            <a:off x="8805672" y="2852928"/>
            <a:ext cx="2057400" cy="201168"/>
          </a:xfrm>
          <a:prstGeom prst="rect">
            <a:avLst/>
          </a:prstGeom>
          <a:noFill/>
          <a:ln/>
        </p:spPr>
        <p:txBody>
          <a:bodyPr wrap="square" lIns="0" tIns="0" rIns="0" bIns="0" rtlCol="0" anchor="ctr">
            <a:normAutofit/>
          </a:bodyPr>
          <a:lstStyle/>
          <a:p>
            <a:pPr marL="0" indent="0" algn="l">
              <a:buNone/>
            </a:pPr>
            <a:r>
              <a:rPr lang="en-US" sz="1130" dirty="0">
                <a:solidFill>
                  <a:srgbClr val="5C6D80"/>
                </a:solidFill>
                <a:latin typeface="Times New Roman" panose="02020603050405020304" pitchFamily="18" charset="0"/>
                <a:ea typeface="Inter" pitchFamily="34" charset="-122"/>
                <a:cs typeface="Times New Roman" panose="02020603050405020304" pitchFamily="18" charset="0"/>
              </a:rPr>
              <a:t>Cancellations</a:t>
            </a:r>
            <a:endParaRPr lang="en-US" sz="1130" dirty="0">
              <a:latin typeface="Times New Roman" panose="02020603050405020304" pitchFamily="18" charset="0"/>
              <a:cs typeface="Times New Roman" panose="02020603050405020304" pitchFamily="18" charset="0"/>
            </a:endParaRPr>
          </a:p>
        </p:txBody>
      </p:sp>
      <p:sp>
        <p:nvSpPr>
          <p:cNvPr id="15" name="Text 13"/>
          <p:cNvSpPr/>
          <p:nvPr/>
        </p:nvSpPr>
        <p:spPr>
          <a:xfrm>
            <a:off x="8805672" y="3099816"/>
            <a:ext cx="2011680" cy="338328"/>
          </a:xfrm>
          <a:prstGeom prst="rect">
            <a:avLst/>
          </a:prstGeom>
          <a:noFill/>
          <a:ln/>
        </p:spPr>
        <p:txBody>
          <a:bodyPr wrap="square" lIns="0" tIns="0" rIns="0" bIns="0" rtlCol="0" anchor="ctr">
            <a:normAutofit lnSpcReduction="10000"/>
          </a:bodyPr>
          <a:lstStyle/>
          <a:p>
            <a:pPr marL="0" indent="0" algn="l">
              <a:buNone/>
            </a:pPr>
            <a:r>
              <a:rPr lang="en-US" sz="2400" b="1" dirty="0">
                <a:solidFill>
                  <a:srgbClr val="172B42"/>
                </a:solidFill>
                <a:latin typeface="Times New Roman" panose="02020603050405020304" pitchFamily="18" charset="0"/>
                <a:ea typeface="Inter" pitchFamily="34" charset="-122"/>
                <a:cs typeface="Times New Roman" panose="02020603050405020304" pitchFamily="18" charset="0"/>
              </a:rPr>
              <a:t>1</a:t>
            </a:r>
            <a:endParaRPr lang="en-US" sz="2400" dirty="0">
              <a:latin typeface="Times New Roman" panose="02020603050405020304" pitchFamily="18" charset="0"/>
              <a:cs typeface="Times New Roman" panose="02020603050405020304" pitchFamily="18" charset="0"/>
            </a:endParaRPr>
          </a:p>
        </p:txBody>
      </p:sp>
      <p:sp>
        <p:nvSpPr>
          <p:cNvPr id="16" name="Text 14"/>
          <p:cNvSpPr/>
          <p:nvPr/>
        </p:nvSpPr>
        <p:spPr>
          <a:xfrm>
            <a:off x="1060704" y="3849624"/>
            <a:ext cx="4572000" cy="237744"/>
          </a:xfrm>
          <a:prstGeom prst="rect">
            <a:avLst/>
          </a:prstGeom>
          <a:noFill/>
          <a:ln/>
        </p:spPr>
        <p:txBody>
          <a:bodyPr wrap="square" lIns="0" tIns="0" rIns="0" bIns="0" rtlCol="0" anchor="ctr">
            <a:normAutofit/>
          </a:bodyPr>
          <a:lstStyle/>
          <a:p>
            <a:pPr marL="0" indent="0" algn="l">
              <a:buNone/>
            </a:pPr>
            <a:r>
              <a:rPr lang="en-US" sz="1070" b="1" dirty="0">
                <a:solidFill>
                  <a:srgbClr val="5C6D80"/>
                </a:solidFill>
                <a:latin typeface="Times New Roman" panose="02020603050405020304" pitchFamily="18" charset="0"/>
                <a:ea typeface="Inter" pitchFamily="34" charset="-122"/>
                <a:cs typeface="Times New Roman" panose="02020603050405020304" pitchFamily="18" charset="0"/>
              </a:rPr>
              <a:t>APPOINTMENTS BY SPECIALIZATION</a:t>
            </a:r>
            <a:endParaRPr lang="en-US" sz="1070" dirty="0">
              <a:latin typeface="Times New Roman" panose="02020603050405020304" pitchFamily="18" charset="0"/>
              <a:cs typeface="Times New Roman" panose="02020603050405020304" pitchFamily="18" charset="0"/>
            </a:endParaRPr>
          </a:p>
        </p:txBody>
      </p:sp>
      <p:sp>
        <p:nvSpPr>
          <p:cNvPr id="17" name="Text 15"/>
          <p:cNvSpPr/>
          <p:nvPr/>
        </p:nvSpPr>
        <p:spPr>
          <a:xfrm>
            <a:off x="1060704" y="4242816"/>
            <a:ext cx="1508760" cy="219456"/>
          </a:xfrm>
          <a:prstGeom prst="rect">
            <a:avLst/>
          </a:prstGeom>
          <a:noFill/>
          <a:ln/>
        </p:spPr>
        <p:txBody>
          <a:bodyPr wrap="square" lIns="0" tIns="0" rIns="0" bIns="0" rtlCol="0" anchor="ctr">
            <a:normAutofit/>
          </a:bodyPr>
          <a:lstStyle/>
          <a:p>
            <a:pPr marL="0" indent="0" algn="l">
              <a:buNone/>
            </a:pPr>
            <a:r>
              <a:rPr lang="en-US" sz="1100" dirty="0">
                <a:solidFill>
                  <a:srgbClr val="172B42"/>
                </a:solidFill>
                <a:latin typeface="Times New Roman" panose="02020603050405020304" pitchFamily="18" charset="0"/>
                <a:ea typeface="Inter" pitchFamily="34" charset="-122"/>
                <a:cs typeface="Times New Roman" panose="02020603050405020304" pitchFamily="18" charset="0"/>
              </a:rPr>
              <a:t>Cardiology</a:t>
            </a:r>
            <a:endParaRPr lang="en-US" sz="1100" dirty="0">
              <a:latin typeface="Times New Roman" panose="02020603050405020304" pitchFamily="18" charset="0"/>
              <a:cs typeface="Times New Roman" panose="02020603050405020304" pitchFamily="18" charset="0"/>
            </a:endParaRPr>
          </a:p>
        </p:txBody>
      </p:sp>
      <p:sp>
        <p:nvSpPr>
          <p:cNvPr id="18" name="Shape 16"/>
          <p:cNvSpPr/>
          <p:nvPr/>
        </p:nvSpPr>
        <p:spPr>
          <a:xfrm>
            <a:off x="2651760" y="4293108"/>
            <a:ext cx="2971800" cy="128016"/>
          </a:xfrm>
          <a:prstGeom prst="roundRect">
            <a:avLst>
              <a:gd name="adj" fmla="val 28571"/>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9" name="Text 17"/>
          <p:cNvSpPr/>
          <p:nvPr/>
        </p:nvSpPr>
        <p:spPr>
          <a:xfrm>
            <a:off x="5879592" y="4242816"/>
            <a:ext cx="384048" cy="228600"/>
          </a:xfrm>
          <a:prstGeom prst="rect">
            <a:avLst/>
          </a:prstGeom>
          <a:noFill/>
          <a:ln/>
        </p:spPr>
        <p:txBody>
          <a:bodyPr wrap="square" lIns="0" tIns="0" rIns="0" bIns="0" rtlCol="0" anchor="ctr">
            <a:normAutofit/>
          </a:bodyPr>
          <a:lstStyle/>
          <a:p>
            <a:pPr marL="0" indent="0" algn="l">
              <a:buNone/>
            </a:pPr>
            <a:r>
              <a:rPr lang="en-US" sz="1130" b="1" dirty="0">
                <a:solidFill>
                  <a:srgbClr val="172B42"/>
                </a:solidFill>
                <a:latin typeface="Times New Roman" panose="02020603050405020304" pitchFamily="18" charset="0"/>
                <a:ea typeface="Inter" pitchFamily="34" charset="-122"/>
                <a:cs typeface="Times New Roman" panose="02020603050405020304" pitchFamily="18" charset="0"/>
              </a:rPr>
              <a:t>3</a:t>
            </a:r>
            <a:endParaRPr lang="en-US" sz="1130" dirty="0">
              <a:latin typeface="Times New Roman" panose="02020603050405020304" pitchFamily="18" charset="0"/>
              <a:cs typeface="Times New Roman" panose="02020603050405020304" pitchFamily="18" charset="0"/>
            </a:endParaRPr>
          </a:p>
        </p:txBody>
      </p:sp>
      <p:sp>
        <p:nvSpPr>
          <p:cNvPr id="20" name="Text 18"/>
          <p:cNvSpPr/>
          <p:nvPr/>
        </p:nvSpPr>
        <p:spPr>
          <a:xfrm>
            <a:off x="1060704" y="4553712"/>
            <a:ext cx="1508760" cy="219456"/>
          </a:xfrm>
          <a:prstGeom prst="rect">
            <a:avLst/>
          </a:prstGeom>
          <a:noFill/>
          <a:ln/>
        </p:spPr>
        <p:txBody>
          <a:bodyPr wrap="square" lIns="0" tIns="0" rIns="0" bIns="0" rtlCol="0" anchor="ctr">
            <a:normAutofit/>
          </a:bodyPr>
          <a:lstStyle/>
          <a:p>
            <a:pPr marL="0" indent="0" algn="l">
              <a:buNone/>
            </a:pPr>
            <a:r>
              <a:rPr lang="en-US" sz="1100" dirty="0">
                <a:solidFill>
                  <a:srgbClr val="172B42"/>
                </a:solidFill>
                <a:latin typeface="Times New Roman" panose="02020603050405020304" pitchFamily="18" charset="0"/>
                <a:ea typeface="Inter" pitchFamily="34" charset="-122"/>
                <a:cs typeface="Times New Roman" panose="02020603050405020304" pitchFamily="18" charset="0"/>
              </a:rPr>
              <a:t>General Medicine</a:t>
            </a:r>
            <a:endParaRPr lang="en-US" sz="1100" dirty="0">
              <a:latin typeface="Times New Roman" panose="02020603050405020304" pitchFamily="18" charset="0"/>
              <a:cs typeface="Times New Roman" panose="02020603050405020304" pitchFamily="18" charset="0"/>
            </a:endParaRPr>
          </a:p>
        </p:txBody>
      </p:sp>
      <p:sp>
        <p:nvSpPr>
          <p:cNvPr id="21" name="Shape 19"/>
          <p:cNvSpPr/>
          <p:nvPr/>
        </p:nvSpPr>
        <p:spPr>
          <a:xfrm>
            <a:off x="2651760" y="4604004"/>
            <a:ext cx="1981200" cy="128016"/>
          </a:xfrm>
          <a:prstGeom prst="roundRect">
            <a:avLst>
              <a:gd name="adj" fmla="val 28571"/>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2" name="Text 20"/>
          <p:cNvSpPr/>
          <p:nvPr/>
        </p:nvSpPr>
        <p:spPr>
          <a:xfrm>
            <a:off x="5879592" y="4553712"/>
            <a:ext cx="384048" cy="228600"/>
          </a:xfrm>
          <a:prstGeom prst="rect">
            <a:avLst/>
          </a:prstGeom>
          <a:noFill/>
          <a:ln/>
        </p:spPr>
        <p:txBody>
          <a:bodyPr wrap="square" lIns="0" tIns="0" rIns="0" bIns="0" rtlCol="0" anchor="ctr">
            <a:normAutofit/>
          </a:bodyPr>
          <a:lstStyle/>
          <a:p>
            <a:pPr marL="0" indent="0" algn="l">
              <a:buNone/>
            </a:pPr>
            <a:r>
              <a:rPr lang="en-US" sz="1130" b="1" dirty="0">
                <a:solidFill>
                  <a:srgbClr val="172B42"/>
                </a:solidFill>
                <a:latin typeface="Times New Roman" panose="02020603050405020304" pitchFamily="18" charset="0"/>
                <a:ea typeface="Inter" pitchFamily="34" charset="-122"/>
                <a:cs typeface="Times New Roman" panose="02020603050405020304" pitchFamily="18" charset="0"/>
              </a:rPr>
              <a:t>2</a:t>
            </a:r>
            <a:endParaRPr lang="en-US" sz="1130" dirty="0">
              <a:latin typeface="Times New Roman" panose="02020603050405020304" pitchFamily="18" charset="0"/>
              <a:cs typeface="Times New Roman" panose="02020603050405020304" pitchFamily="18" charset="0"/>
            </a:endParaRPr>
          </a:p>
        </p:txBody>
      </p:sp>
      <p:sp>
        <p:nvSpPr>
          <p:cNvPr id="23" name="Text 21"/>
          <p:cNvSpPr/>
          <p:nvPr/>
        </p:nvSpPr>
        <p:spPr>
          <a:xfrm>
            <a:off x="1060704" y="4864608"/>
            <a:ext cx="1508760" cy="219456"/>
          </a:xfrm>
          <a:prstGeom prst="rect">
            <a:avLst/>
          </a:prstGeom>
          <a:noFill/>
          <a:ln/>
        </p:spPr>
        <p:txBody>
          <a:bodyPr wrap="square" lIns="0" tIns="0" rIns="0" bIns="0" rtlCol="0" anchor="ctr">
            <a:normAutofit/>
          </a:bodyPr>
          <a:lstStyle/>
          <a:p>
            <a:pPr marL="0" indent="0" algn="l">
              <a:buNone/>
            </a:pPr>
            <a:r>
              <a:rPr lang="en-US" sz="1100" dirty="0">
                <a:solidFill>
                  <a:srgbClr val="172B42"/>
                </a:solidFill>
                <a:latin typeface="Times New Roman" panose="02020603050405020304" pitchFamily="18" charset="0"/>
                <a:ea typeface="Inter" pitchFamily="34" charset="-122"/>
                <a:cs typeface="Times New Roman" panose="02020603050405020304" pitchFamily="18" charset="0"/>
              </a:rPr>
              <a:t>Orthopedics</a:t>
            </a:r>
            <a:endParaRPr lang="en-US" sz="1100" dirty="0">
              <a:latin typeface="Times New Roman" panose="02020603050405020304" pitchFamily="18" charset="0"/>
              <a:cs typeface="Times New Roman" panose="02020603050405020304" pitchFamily="18" charset="0"/>
            </a:endParaRPr>
          </a:p>
        </p:txBody>
      </p:sp>
      <p:sp>
        <p:nvSpPr>
          <p:cNvPr id="24" name="Shape 22"/>
          <p:cNvSpPr/>
          <p:nvPr/>
        </p:nvSpPr>
        <p:spPr>
          <a:xfrm>
            <a:off x="2651760" y="4914900"/>
            <a:ext cx="990600" cy="128016"/>
          </a:xfrm>
          <a:prstGeom prst="roundRect">
            <a:avLst>
              <a:gd name="adj" fmla="val 28571"/>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5" name="Text 23"/>
          <p:cNvSpPr/>
          <p:nvPr/>
        </p:nvSpPr>
        <p:spPr>
          <a:xfrm>
            <a:off x="5879592" y="4864608"/>
            <a:ext cx="384048" cy="228600"/>
          </a:xfrm>
          <a:prstGeom prst="rect">
            <a:avLst/>
          </a:prstGeom>
          <a:noFill/>
          <a:ln/>
        </p:spPr>
        <p:txBody>
          <a:bodyPr wrap="square" lIns="0" tIns="0" rIns="0" bIns="0" rtlCol="0" anchor="ctr">
            <a:normAutofit/>
          </a:bodyPr>
          <a:lstStyle/>
          <a:p>
            <a:pPr marL="0" indent="0" algn="l">
              <a:buNone/>
            </a:pPr>
            <a:r>
              <a:rPr lang="en-US" sz="1130" b="1" dirty="0">
                <a:solidFill>
                  <a:srgbClr val="172B42"/>
                </a:solidFill>
                <a:latin typeface="Times New Roman" panose="02020603050405020304" pitchFamily="18" charset="0"/>
                <a:ea typeface="Inter" pitchFamily="34" charset="-122"/>
                <a:cs typeface="Times New Roman" panose="02020603050405020304" pitchFamily="18" charset="0"/>
              </a:rPr>
              <a:t>1</a:t>
            </a:r>
            <a:endParaRPr lang="en-US" sz="1130" dirty="0">
              <a:latin typeface="Times New Roman" panose="02020603050405020304" pitchFamily="18" charset="0"/>
              <a:cs typeface="Times New Roman" panose="02020603050405020304" pitchFamily="18" charset="0"/>
            </a:endParaRPr>
          </a:p>
        </p:txBody>
      </p:sp>
      <p:sp>
        <p:nvSpPr>
          <p:cNvPr id="26" name="Text 24"/>
          <p:cNvSpPr/>
          <p:nvPr/>
        </p:nvSpPr>
        <p:spPr>
          <a:xfrm>
            <a:off x="6492240" y="3950208"/>
            <a:ext cx="4297680" cy="256032"/>
          </a:xfrm>
          <a:prstGeom prst="rect">
            <a:avLst/>
          </a:prstGeom>
          <a:noFill/>
          <a:ln/>
        </p:spPr>
        <p:txBody>
          <a:bodyPr wrap="square" lIns="0" tIns="0" rIns="0" bIns="0" rtlCol="0" anchor="ctr">
            <a:normAutofit/>
          </a:bodyPr>
          <a:lstStyle/>
          <a:p>
            <a:pPr marL="0" indent="0" algn="l">
              <a:buNone/>
            </a:pPr>
            <a:r>
              <a:rPr lang="en-US" sz="1110" b="1" dirty="0">
                <a:solidFill>
                  <a:srgbClr val="087B75"/>
                </a:solidFill>
                <a:latin typeface="Times New Roman" panose="02020603050405020304" pitchFamily="18" charset="0"/>
                <a:ea typeface="Inter" pitchFamily="34" charset="-122"/>
                <a:cs typeface="Times New Roman" panose="02020603050405020304" pitchFamily="18" charset="0"/>
              </a:rPr>
              <a:t>WHAT WOULD YOU DO NEXT?</a:t>
            </a:r>
            <a:endParaRPr lang="en-US" sz="1110" dirty="0">
              <a:latin typeface="Times New Roman" panose="02020603050405020304" pitchFamily="18" charset="0"/>
              <a:cs typeface="Times New Roman" panose="02020603050405020304" pitchFamily="18" charset="0"/>
            </a:endParaRPr>
          </a:p>
        </p:txBody>
      </p:sp>
      <p:sp>
        <p:nvSpPr>
          <p:cNvPr id="27" name="Text 25"/>
          <p:cNvSpPr/>
          <p:nvPr/>
        </p:nvSpPr>
        <p:spPr>
          <a:xfrm>
            <a:off x="6492240" y="4306824"/>
            <a:ext cx="4233672" cy="868680"/>
          </a:xfrm>
          <a:prstGeom prst="rect">
            <a:avLst/>
          </a:prstGeom>
          <a:noFill/>
          <a:ln/>
        </p:spPr>
        <p:txBody>
          <a:bodyPr wrap="square" lIns="0" tIns="0" rIns="0" bIns="0" rtlCol="0" anchor="ctr">
            <a:normAutofit/>
          </a:bodyPr>
          <a:lstStyle/>
          <a:p>
            <a:pPr marL="0" indent="0" algn="l">
              <a:buNone/>
            </a:pPr>
            <a:r>
              <a:rPr lang="en-US" sz="1600" b="1" dirty="0">
                <a:solidFill>
                  <a:srgbClr val="172B42"/>
                </a:solidFill>
                <a:latin typeface="Times New Roman" panose="02020603050405020304" pitchFamily="18" charset="0"/>
                <a:ea typeface="Inter" pitchFamily="34" charset="-122"/>
                <a:cs typeface="Times New Roman" panose="02020603050405020304" pitchFamily="18" charset="0"/>
              </a:rPr>
              <a:t>Investigate cancelled visits</a:t>
            </a:r>
            <a:endParaRPr lang="en-US" sz="1600" dirty="0">
              <a:latin typeface="Times New Roman" panose="02020603050405020304" pitchFamily="18" charset="0"/>
              <a:cs typeface="Times New Roman" panose="02020603050405020304" pitchFamily="18" charset="0"/>
            </a:endParaRPr>
          </a:p>
          <a:p>
            <a:pPr marL="0" indent="0" algn="l">
              <a:buNone/>
            </a:pPr>
            <a:r>
              <a:rPr lang="en-US" sz="1600" b="1" dirty="0">
                <a:solidFill>
                  <a:srgbClr val="172B42"/>
                </a:solidFill>
                <a:latin typeface="Times New Roman" panose="02020603050405020304" pitchFamily="18" charset="0"/>
                <a:ea typeface="Inter" pitchFamily="34" charset="-122"/>
                <a:cs typeface="Times New Roman" panose="02020603050405020304" pitchFamily="18" charset="0"/>
              </a:rPr>
              <a:t>and review doctor demand</a:t>
            </a:r>
            <a:endParaRPr lang="en-US" sz="1600" dirty="0">
              <a:latin typeface="Times New Roman" panose="02020603050405020304" pitchFamily="18" charset="0"/>
              <a:cs typeface="Times New Roman" panose="02020603050405020304" pitchFamily="18" charset="0"/>
            </a:endParaRPr>
          </a:p>
          <a:p>
            <a:pPr marL="0" indent="0" algn="l">
              <a:buNone/>
            </a:pPr>
            <a:r>
              <a:rPr lang="en-US" sz="1600" b="1" dirty="0">
                <a:solidFill>
                  <a:srgbClr val="172B42"/>
                </a:solidFill>
                <a:latin typeface="Times New Roman" panose="02020603050405020304" pitchFamily="18" charset="0"/>
                <a:ea typeface="Inter" pitchFamily="34" charset="-122"/>
                <a:cs typeface="Times New Roman" panose="02020603050405020304" pitchFamily="18" charset="0"/>
              </a:rPr>
              <a:t>before changing staffing.</a:t>
            </a:r>
            <a:endParaRPr lang="en-US" sz="1600" dirty="0">
              <a:latin typeface="Times New Roman" panose="02020603050405020304" pitchFamily="18" charset="0"/>
              <a:cs typeface="Times New Roman" panose="02020603050405020304" pitchFamily="18" charset="0"/>
            </a:endParaRPr>
          </a:p>
        </p:txBody>
      </p:sp>
      <p:sp>
        <p:nvSpPr>
          <p:cNvPr id="28" name="Text 26"/>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A dashboard: one view, several decisions</a:t>
            </a:r>
            <a:endParaRPr lang="en-US" sz="3180" dirty="0">
              <a:latin typeface="Times New Roman" panose="02020603050405020304" pitchFamily="18" charset="0"/>
              <a:cs typeface="Times New Roman" panose="02020603050405020304" pitchFamily="18" charset="0"/>
            </a:endParaRPr>
          </a:p>
        </p:txBody>
      </p:sp>
      <p:sp>
        <p:nvSpPr>
          <p:cNvPr id="29" name="Text 27"/>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ANALYST</a:t>
            </a:r>
            <a:endParaRPr lang="en-US" sz="1050" dirty="0">
              <a:latin typeface="Times New Roman" panose="02020603050405020304" pitchFamily="18" charset="0"/>
              <a:cs typeface="Times New Roman" panose="02020603050405020304" pitchFamily="18" charset="0"/>
            </a:endParaRPr>
          </a:p>
        </p:txBody>
      </p:sp>
      <p:sp>
        <p:nvSpPr>
          <p:cNvPr id="31" name="Shape 29"/>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2" name="Shape 30"/>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3" name="Text 31"/>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34" name="Text 32"/>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41</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621792" y="2487168"/>
            <a:ext cx="64008" cy="2834640"/>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859536"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Trend over time</a:t>
            </a:r>
            <a:endParaRPr lang="en-US" sz="1900" dirty="0">
              <a:latin typeface="Times New Roman" panose="02020603050405020304" pitchFamily="18" charset="0"/>
              <a:cs typeface="Times New Roman" panose="02020603050405020304" pitchFamily="18" charset="0"/>
            </a:endParaRPr>
          </a:p>
        </p:txBody>
      </p:sp>
      <p:sp>
        <p:nvSpPr>
          <p:cNvPr id="5" name="Text 3"/>
          <p:cNvSpPr/>
          <p:nvPr/>
        </p:nvSpPr>
        <p:spPr>
          <a:xfrm>
            <a:off x="859536"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Line chart for daily or monthly movement.</a:t>
            </a:r>
            <a:endParaRPr lang="en-US" sz="1510" dirty="0">
              <a:latin typeface="Times New Roman" panose="02020603050405020304" pitchFamily="18" charset="0"/>
              <a:cs typeface="Times New Roman" panose="02020603050405020304" pitchFamily="18" charset="0"/>
            </a:endParaRPr>
          </a:p>
        </p:txBody>
      </p:sp>
      <p:sp>
        <p:nvSpPr>
          <p:cNvPr id="6" name="Shape 4"/>
          <p:cNvSpPr/>
          <p:nvPr/>
        </p:nvSpPr>
        <p:spPr>
          <a:xfrm>
            <a:off x="4335170"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4335170" y="2487168"/>
            <a:ext cx="64008" cy="2834640"/>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4572914"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Compare categories</a:t>
            </a:r>
            <a:endParaRPr lang="en-US" sz="1900" dirty="0">
              <a:latin typeface="Times New Roman" panose="02020603050405020304" pitchFamily="18" charset="0"/>
              <a:cs typeface="Times New Roman" panose="02020603050405020304" pitchFamily="18" charset="0"/>
            </a:endParaRPr>
          </a:p>
        </p:txBody>
      </p:sp>
      <p:sp>
        <p:nvSpPr>
          <p:cNvPr id="9" name="Text 7"/>
          <p:cNvSpPr/>
          <p:nvPr/>
        </p:nvSpPr>
        <p:spPr>
          <a:xfrm>
            <a:off x="4572914"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Bar chart for doctors or specializations.</a:t>
            </a:r>
            <a:endParaRPr lang="en-US" sz="1510" dirty="0">
              <a:latin typeface="Times New Roman" panose="02020603050405020304" pitchFamily="18" charset="0"/>
              <a:cs typeface="Times New Roman" panose="02020603050405020304" pitchFamily="18" charset="0"/>
            </a:endParaRPr>
          </a:p>
        </p:txBody>
      </p:sp>
      <p:sp>
        <p:nvSpPr>
          <p:cNvPr id="10" name="Shape 8"/>
          <p:cNvSpPr/>
          <p:nvPr/>
        </p:nvSpPr>
        <p:spPr>
          <a:xfrm>
            <a:off x="8048549"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Shape 9"/>
          <p:cNvSpPr/>
          <p:nvPr/>
        </p:nvSpPr>
        <p:spPr>
          <a:xfrm>
            <a:off x="8048549" y="2487168"/>
            <a:ext cx="64008" cy="2834640"/>
          </a:xfrm>
          <a:prstGeom prst="rect">
            <a:avLst/>
          </a:prstGeom>
          <a:solidFill>
            <a:srgbClr val="8052D8"/>
          </a:solidFill>
          <a:ln w="12700">
            <a:solidFill>
              <a:srgbClr val="8052D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Text 10"/>
          <p:cNvSpPr/>
          <p:nvPr/>
        </p:nvSpPr>
        <p:spPr>
          <a:xfrm>
            <a:off x="8286293"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Show distribution</a:t>
            </a:r>
            <a:endParaRPr lang="en-US" sz="1900" dirty="0">
              <a:latin typeface="Times New Roman" panose="02020603050405020304" pitchFamily="18" charset="0"/>
              <a:cs typeface="Times New Roman" panose="02020603050405020304" pitchFamily="18" charset="0"/>
            </a:endParaRPr>
          </a:p>
        </p:txBody>
      </p:sp>
      <p:sp>
        <p:nvSpPr>
          <p:cNvPr id="13" name="Text 11"/>
          <p:cNvSpPr/>
          <p:nvPr/>
        </p:nvSpPr>
        <p:spPr>
          <a:xfrm>
            <a:off x="8286293"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Bar or stacked bar for appointment statuses.</a:t>
            </a:r>
            <a:endParaRPr lang="en-US" sz="151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Which chart tells the right story?</a:t>
            </a:r>
            <a:endParaRPr lang="en-US" sz="3180" dirty="0">
              <a:latin typeface="Times New Roman" panose="02020603050405020304" pitchFamily="18" charset="0"/>
              <a:cs typeface="Times New Roman" panose="02020603050405020304" pitchFamily="18" charset="0"/>
            </a:endParaRPr>
          </a:p>
        </p:txBody>
      </p:sp>
      <p:sp>
        <p:nvSpPr>
          <p:cNvPr id="15" name="Text 13"/>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ANALYST</a:t>
            </a:r>
            <a:endParaRPr lang="en-US" sz="1050" dirty="0">
              <a:latin typeface="Times New Roman" panose="02020603050405020304" pitchFamily="18" charset="0"/>
              <a:cs typeface="Times New Roman" panose="02020603050405020304" pitchFamily="18" charset="0"/>
            </a:endParaRPr>
          </a:p>
        </p:txBody>
      </p:sp>
      <p:sp>
        <p:nvSpPr>
          <p:cNvPr id="17" name="Shape 15"/>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Shape 16"/>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9" name="Text 17"/>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20" name="Text 18"/>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42</a:t>
            </a:r>
            <a:endParaRPr lang="en-US" sz="900" dirty="0">
              <a:latin typeface="Times New Roman" panose="02020603050405020304" pitchFamily="18" charset="0"/>
              <a:cs typeface="Times New Roman" panose="02020603050405020304" pitchFamily="18" charset="0"/>
            </a:endParaRPr>
          </a:p>
        </p:txBody>
      </p:sp>
      <p:sp>
        <p:nvSpPr>
          <p:cNvPr id="21" name="IMAGE PLACEHOLDER | Line chart example"/>
          <p:cNvSpPr/>
          <p:nvPr/>
        </p:nvSpPr>
        <p:spPr>
          <a:xfrm>
            <a:off x="868680" y="4306824"/>
            <a:ext cx="2944368" cy="822960"/>
          </a:xfrm>
          <a:prstGeom prst="roundRect">
            <a:avLst>
              <a:gd name="adj" fmla="val 10000"/>
            </a:avLst>
          </a:prstGeom>
          <a:solidFill>
            <a:srgbClr val="F1F7FA"/>
          </a:solidFill>
          <a:ln w="14604">
            <a:solidFill>
              <a:srgbClr val="98B2C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2" name="Rectangle 21"/>
          <p:cNvSpPr/>
          <p:nvPr/>
        </p:nvSpPr>
        <p:spPr>
          <a:xfrm>
            <a:off x="978407" y="4576572"/>
            <a:ext cx="347472" cy="265176"/>
          </a:xfrm>
          <a:prstGeom prst="rect">
            <a:avLst/>
          </a:prstGeom>
          <a:noFill/>
          <a:ln w="14604">
            <a:solidFill>
              <a:srgbClr val="7D9E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 name="Oval 22"/>
          <p:cNvSpPr/>
          <p:nvPr/>
        </p:nvSpPr>
        <p:spPr>
          <a:xfrm>
            <a:off x="1193840" y="4626864"/>
            <a:ext cx="68580" cy="68580"/>
          </a:xfrm>
          <a:prstGeom prst="ellipse">
            <a:avLst/>
          </a:prstGeom>
          <a:solidFill>
            <a:srgbClr val="7D9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4" name="PLACEHOLDER LABEL | Line chart example"/>
          <p:cNvSpPr txBox="1"/>
          <p:nvPr/>
        </p:nvSpPr>
        <p:spPr>
          <a:xfrm>
            <a:off x="1389888" y="4604337"/>
            <a:ext cx="2331720" cy="246221"/>
          </a:xfrm>
          <a:prstGeom prst="rect">
            <a:avLst/>
          </a:prstGeom>
          <a:noFill/>
        </p:spPr>
        <p:txBody>
          <a:bodyPr wrap="square" anchor="ctr">
            <a:spAutoFit/>
          </a:bodyPr>
          <a:lstStyle/>
          <a:p>
            <a:pPr algn="l"/>
            <a:r>
              <a:rPr sz="1000" b="1">
                <a:solidFill>
                  <a:srgbClr val="4F7183"/>
                </a:solidFill>
                <a:latin typeface="Times New Roman" panose="02020603050405020304" pitchFamily="18" charset="0"/>
                <a:cs typeface="Times New Roman" panose="02020603050405020304" pitchFamily="18" charset="0"/>
              </a:rPr>
              <a:t>Line chart example</a:t>
            </a:r>
          </a:p>
        </p:txBody>
      </p:sp>
      <p:sp>
        <p:nvSpPr>
          <p:cNvPr id="25" name="IMAGE PLACEHOLDER | Bar chart example"/>
          <p:cNvSpPr/>
          <p:nvPr/>
        </p:nvSpPr>
        <p:spPr>
          <a:xfrm>
            <a:off x="4581144" y="4306824"/>
            <a:ext cx="2944368" cy="822960"/>
          </a:xfrm>
          <a:prstGeom prst="roundRect">
            <a:avLst>
              <a:gd name="adj" fmla="val 10000"/>
            </a:avLst>
          </a:prstGeom>
          <a:solidFill>
            <a:srgbClr val="F1F7FA"/>
          </a:solidFill>
          <a:ln w="14604">
            <a:solidFill>
              <a:srgbClr val="98B2C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6" name="Rectangle 25"/>
          <p:cNvSpPr/>
          <p:nvPr/>
        </p:nvSpPr>
        <p:spPr>
          <a:xfrm>
            <a:off x="4690872" y="4576572"/>
            <a:ext cx="347472" cy="265176"/>
          </a:xfrm>
          <a:prstGeom prst="rect">
            <a:avLst/>
          </a:prstGeom>
          <a:noFill/>
          <a:ln w="14604">
            <a:solidFill>
              <a:srgbClr val="7D9E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7" name="Oval 26"/>
          <p:cNvSpPr/>
          <p:nvPr/>
        </p:nvSpPr>
        <p:spPr>
          <a:xfrm>
            <a:off x="4906304" y="4626864"/>
            <a:ext cx="68580" cy="68580"/>
          </a:xfrm>
          <a:prstGeom prst="ellipse">
            <a:avLst/>
          </a:prstGeom>
          <a:solidFill>
            <a:srgbClr val="7D9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8" name="PLACEHOLDER LABEL | Bar chart example"/>
          <p:cNvSpPr txBox="1"/>
          <p:nvPr/>
        </p:nvSpPr>
        <p:spPr>
          <a:xfrm>
            <a:off x="5102352" y="4604337"/>
            <a:ext cx="2331720" cy="246221"/>
          </a:xfrm>
          <a:prstGeom prst="rect">
            <a:avLst/>
          </a:prstGeom>
          <a:noFill/>
        </p:spPr>
        <p:txBody>
          <a:bodyPr wrap="square" anchor="ctr">
            <a:spAutoFit/>
          </a:bodyPr>
          <a:lstStyle/>
          <a:p>
            <a:pPr algn="l"/>
            <a:r>
              <a:rPr sz="1000" b="1">
                <a:solidFill>
                  <a:srgbClr val="4F7183"/>
                </a:solidFill>
                <a:latin typeface="Times New Roman" panose="02020603050405020304" pitchFamily="18" charset="0"/>
                <a:cs typeface="Times New Roman" panose="02020603050405020304" pitchFamily="18" charset="0"/>
              </a:rPr>
              <a:t>Bar chart example</a:t>
            </a:r>
          </a:p>
        </p:txBody>
      </p:sp>
      <p:sp>
        <p:nvSpPr>
          <p:cNvPr id="29" name="IMAGE PLACEHOLDER | Stacked bar example"/>
          <p:cNvSpPr/>
          <p:nvPr/>
        </p:nvSpPr>
        <p:spPr>
          <a:xfrm>
            <a:off x="8293608" y="4306824"/>
            <a:ext cx="2944368" cy="822960"/>
          </a:xfrm>
          <a:prstGeom prst="roundRect">
            <a:avLst>
              <a:gd name="adj" fmla="val 10000"/>
            </a:avLst>
          </a:prstGeom>
          <a:solidFill>
            <a:srgbClr val="F1F7FA"/>
          </a:solidFill>
          <a:ln w="14604">
            <a:solidFill>
              <a:srgbClr val="98B2C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0" name="Rectangle 29"/>
          <p:cNvSpPr/>
          <p:nvPr/>
        </p:nvSpPr>
        <p:spPr>
          <a:xfrm>
            <a:off x="8403336" y="4576572"/>
            <a:ext cx="347472" cy="265176"/>
          </a:xfrm>
          <a:prstGeom prst="rect">
            <a:avLst/>
          </a:prstGeom>
          <a:noFill/>
          <a:ln w="14604">
            <a:solidFill>
              <a:srgbClr val="7D9E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1" name="Oval 30"/>
          <p:cNvSpPr/>
          <p:nvPr/>
        </p:nvSpPr>
        <p:spPr>
          <a:xfrm>
            <a:off x="8618768" y="4626864"/>
            <a:ext cx="68580" cy="68580"/>
          </a:xfrm>
          <a:prstGeom prst="ellipse">
            <a:avLst/>
          </a:prstGeom>
          <a:solidFill>
            <a:srgbClr val="7D9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2" name="PLACEHOLDER LABEL | Stacked bar example"/>
          <p:cNvSpPr txBox="1"/>
          <p:nvPr/>
        </p:nvSpPr>
        <p:spPr>
          <a:xfrm>
            <a:off x="8814816" y="4604337"/>
            <a:ext cx="2331720" cy="246221"/>
          </a:xfrm>
          <a:prstGeom prst="rect">
            <a:avLst/>
          </a:prstGeom>
          <a:noFill/>
        </p:spPr>
        <p:txBody>
          <a:bodyPr wrap="square" anchor="ctr">
            <a:spAutoFit/>
          </a:bodyPr>
          <a:lstStyle/>
          <a:p>
            <a:pPr algn="l"/>
            <a:r>
              <a:rPr sz="1000" b="1">
                <a:solidFill>
                  <a:srgbClr val="4F7183"/>
                </a:solidFill>
                <a:latin typeface="Times New Roman" panose="02020603050405020304" pitchFamily="18" charset="0"/>
                <a:cs typeface="Times New Roman" panose="02020603050405020304" pitchFamily="18" charset="0"/>
              </a:rPr>
              <a:t>Stacked bar example</a:t>
            </a:r>
          </a:p>
        </p:txBody>
      </p:sp>
      <p:pic>
        <p:nvPicPr>
          <p:cNvPr id="33" name="Picture 32">
            <a:extLst>
              <a:ext uri="{FF2B5EF4-FFF2-40B4-BE49-F238E27FC236}">
                <a16:creationId xmlns:a16="http://schemas.microsoft.com/office/drawing/2014/main" id="{76EE539F-3165-2FC7-C714-B9B19FC1E099}"/>
              </a:ext>
            </a:extLst>
          </p:cNvPr>
          <p:cNvPicPr>
            <a:picLocks noChangeAspect="1"/>
          </p:cNvPicPr>
          <p:nvPr/>
        </p:nvPicPr>
        <p:blipFill>
          <a:blip r:embed="rId3"/>
          <a:stretch>
            <a:fillRect/>
          </a:stretch>
        </p:blipFill>
        <p:spPr>
          <a:xfrm>
            <a:off x="763524" y="3961103"/>
            <a:ext cx="3178454" cy="1298674"/>
          </a:xfrm>
          <a:prstGeom prst="rect">
            <a:avLst/>
          </a:prstGeom>
        </p:spPr>
      </p:pic>
      <p:pic>
        <p:nvPicPr>
          <p:cNvPr id="35" name="Picture 34">
            <a:extLst>
              <a:ext uri="{FF2B5EF4-FFF2-40B4-BE49-F238E27FC236}">
                <a16:creationId xmlns:a16="http://schemas.microsoft.com/office/drawing/2014/main" id="{2FF9872B-E9BE-E245-4C13-B9065518A3BF}"/>
              </a:ext>
            </a:extLst>
          </p:cNvPr>
          <p:cNvPicPr>
            <a:picLocks noChangeAspect="1"/>
          </p:cNvPicPr>
          <p:nvPr/>
        </p:nvPicPr>
        <p:blipFill>
          <a:blip r:embed="rId4"/>
          <a:stretch>
            <a:fillRect/>
          </a:stretch>
        </p:blipFill>
        <p:spPr>
          <a:xfrm>
            <a:off x="4507078" y="4023359"/>
            <a:ext cx="3148278" cy="1207007"/>
          </a:xfrm>
          <a:prstGeom prst="rect">
            <a:avLst/>
          </a:prstGeom>
        </p:spPr>
      </p:pic>
      <p:pic>
        <p:nvPicPr>
          <p:cNvPr id="37" name="Picture 36">
            <a:extLst>
              <a:ext uri="{FF2B5EF4-FFF2-40B4-BE49-F238E27FC236}">
                <a16:creationId xmlns:a16="http://schemas.microsoft.com/office/drawing/2014/main" id="{CF5525CC-CFD8-41D7-084B-A1AC84F18748}"/>
              </a:ext>
            </a:extLst>
          </p:cNvPr>
          <p:cNvPicPr>
            <a:picLocks noChangeAspect="1"/>
          </p:cNvPicPr>
          <p:nvPr/>
        </p:nvPicPr>
        <p:blipFill>
          <a:blip r:embed="rId5"/>
          <a:stretch>
            <a:fillRect/>
          </a:stretch>
        </p:blipFill>
        <p:spPr>
          <a:xfrm>
            <a:off x="8227771" y="4021074"/>
            <a:ext cx="3018434" cy="11910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 y="2331720"/>
            <a:ext cx="6784848" cy="3108960"/>
          </a:xfrm>
          <a:prstGeom prst="roundRect">
            <a:avLst>
              <a:gd name="adj" fmla="val 470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Text 1"/>
          <p:cNvSpPr/>
          <p:nvPr/>
        </p:nvSpPr>
        <p:spPr>
          <a:xfrm>
            <a:off x="1088136" y="2606040"/>
            <a:ext cx="1645920" cy="292608"/>
          </a:xfrm>
          <a:prstGeom prst="rect">
            <a:avLst/>
          </a:prstGeom>
          <a:noFill/>
          <a:ln/>
        </p:spPr>
        <p:txBody>
          <a:bodyPr wrap="square" lIns="0" tIns="0" rIns="0" bIns="0" rtlCol="0" anchor="ctr">
            <a:normAutofit/>
          </a:bodyPr>
          <a:lstStyle/>
          <a:p>
            <a:pPr marL="0" indent="0" algn="l">
              <a:buNone/>
            </a:pPr>
            <a:r>
              <a:rPr lang="en-US" sz="1200" b="1" dirty="0">
                <a:solidFill>
                  <a:srgbClr val="087B75"/>
                </a:solidFill>
                <a:latin typeface="Times New Roman" panose="02020603050405020304" pitchFamily="18" charset="0"/>
                <a:ea typeface="Inter" pitchFamily="34" charset="-122"/>
                <a:cs typeface="Times New Roman" panose="02020603050405020304" pitchFamily="18" charset="0"/>
              </a:rPr>
              <a:t>TASK</a:t>
            </a:r>
            <a:endParaRPr lang="en-US" sz="1200" dirty="0">
              <a:latin typeface="Times New Roman" panose="02020603050405020304" pitchFamily="18" charset="0"/>
              <a:cs typeface="Times New Roman" panose="02020603050405020304" pitchFamily="18" charset="0"/>
            </a:endParaRPr>
          </a:p>
        </p:txBody>
      </p:sp>
      <p:sp>
        <p:nvSpPr>
          <p:cNvPr id="4" name="Shape 2"/>
          <p:cNvSpPr/>
          <p:nvPr/>
        </p:nvSpPr>
        <p:spPr>
          <a:xfrm>
            <a:off x="1078992" y="3154680"/>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5" name="Text 3"/>
          <p:cNvSpPr/>
          <p:nvPr/>
        </p:nvSpPr>
        <p:spPr>
          <a:xfrm>
            <a:off x="1325880" y="2848708"/>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Do KPI cards reconcile with underlying records?</a:t>
            </a:r>
            <a:endParaRPr lang="en-US" sz="1900" dirty="0">
              <a:latin typeface="Times New Roman" panose="02020603050405020304" pitchFamily="18" charset="0"/>
              <a:cs typeface="Times New Roman" panose="02020603050405020304" pitchFamily="18" charset="0"/>
            </a:endParaRPr>
          </a:p>
        </p:txBody>
      </p:sp>
      <p:sp>
        <p:nvSpPr>
          <p:cNvPr id="6" name="Shape 4"/>
          <p:cNvSpPr/>
          <p:nvPr/>
        </p:nvSpPr>
        <p:spPr>
          <a:xfrm>
            <a:off x="1078992" y="3776472"/>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Text 5"/>
          <p:cNvSpPr/>
          <p:nvPr/>
        </p:nvSpPr>
        <p:spPr>
          <a:xfrm>
            <a:off x="1325880" y="3470500"/>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Are filters, date ranges and denominators documented?</a:t>
            </a:r>
            <a:endParaRPr lang="en-US" sz="1900" dirty="0">
              <a:latin typeface="Times New Roman" panose="02020603050405020304" pitchFamily="18" charset="0"/>
              <a:cs typeface="Times New Roman" panose="02020603050405020304" pitchFamily="18" charset="0"/>
            </a:endParaRPr>
          </a:p>
        </p:txBody>
      </p:sp>
      <p:sp>
        <p:nvSpPr>
          <p:cNvPr id="8" name="Shape 6"/>
          <p:cNvSpPr/>
          <p:nvPr/>
        </p:nvSpPr>
        <p:spPr>
          <a:xfrm>
            <a:off x="1078992" y="4398264"/>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1325880" y="4092292"/>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Are chart titles and labels understandable?</a:t>
            </a:r>
            <a:endParaRPr lang="en-US" sz="1900" dirty="0">
              <a:latin typeface="Times New Roman" panose="02020603050405020304" pitchFamily="18" charset="0"/>
              <a:cs typeface="Times New Roman" panose="02020603050405020304" pitchFamily="18" charset="0"/>
            </a:endParaRPr>
          </a:p>
        </p:txBody>
      </p:sp>
      <p:sp>
        <p:nvSpPr>
          <p:cNvPr id="10" name="Shape 8"/>
          <p:cNvSpPr/>
          <p:nvPr/>
        </p:nvSpPr>
        <p:spPr>
          <a:xfrm>
            <a:off x="7918704" y="2331720"/>
            <a:ext cx="3383280" cy="3108960"/>
          </a:xfrm>
          <a:prstGeom prst="roundRect">
            <a:avLst>
              <a:gd name="adj" fmla="val 4412"/>
            </a:avLst>
          </a:prstGeom>
          <a:solidFill>
            <a:srgbClr val="EAF2F7"/>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Text 9"/>
          <p:cNvSpPr/>
          <p:nvPr/>
        </p:nvSpPr>
        <p:spPr>
          <a:xfrm>
            <a:off x="8193024" y="2651760"/>
            <a:ext cx="2761488" cy="301752"/>
          </a:xfrm>
          <a:prstGeom prst="rect">
            <a:avLst/>
          </a:prstGeom>
          <a:noFill/>
          <a:ln/>
        </p:spPr>
        <p:txBody>
          <a:bodyPr wrap="square" lIns="0" tIns="0" rIns="0" bIns="0" rtlCol="0" anchor="ctr">
            <a:normAutofit/>
          </a:bodyPr>
          <a:lstStyle/>
          <a:p>
            <a:pPr marL="0" indent="0" algn="l">
              <a:buNone/>
            </a:pPr>
            <a:r>
              <a:rPr lang="en-US" sz="1300" b="1" dirty="0">
                <a:solidFill>
                  <a:srgbClr val="087B75"/>
                </a:solidFill>
                <a:latin typeface="Times New Roman" panose="02020603050405020304" pitchFamily="18" charset="0"/>
                <a:ea typeface="Inter" pitchFamily="34" charset="-122"/>
                <a:cs typeface="Times New Roman" panose="02020603050405020304" pitchFamily="18" charset="0"/>
              </a:rPr>
              <a:t>QC CHECKLIST</a:t>
            </a:r>
            <a:endParaRPr lang="en-US" sz="1300" dirty="0">
              <a:latin typeface="Times New Roman" panose="02020603050405020304" pitchFamily="18" charset="0"/>
              <a:cs typeface="Times New Roman" panose="02020603050405020304" pitchFamily="18" charset="0"/>
            </a:endParaRPr>
          </a:p>
        </p:txBody>
      </p:sp>
      <p:sp>
        <p:nvSpPr>
          <p:cNvPr id="12" name="Text 10"/>
          <p:cNvSpPr/>
          <p:nvPr/>
        </p:nvSpPr>
        <p:spPr>
          <a:xfrm>
            <a:off x="8193024" y="3191256"/>
            <a:ext cx="2743200" cy="1755648"/>
          </a:xfrm>
          <a:prstGeom prst="rect">
            <a:avLst/>
          </a:prstGeom>
          <a:noFill/>
          <a:ln/>
        </p:spPr>
        <p:txBody>
          <a:bodyPr wrap="square" lIns="0" tIns="0" rIns="0" bIns="0" rtlCol="0" anchor="t">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A polished incorrect dashboard is worse than a simple correct one.</a:t>
            </a:r>
            <a:endParaRPr lang="en-US" sz="1900" dirty="0">
              <a:latin typeface="Times New Roman" panose="02020603050405020304" pitchFamily="18" charset="0"/>
              <a:cs typeface="Times New Roman" panose="02020603050405020304" pitchFamily="18" charset="0"/>
            </a:endParaRPr>
          </a:p>
        </p:txBody>
      </p:sp>
      <p:sp>
        <p:nvSpPr>
          <p:cNvPr id="13" name="Text 11"/>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Quality control before delivery</a:t>
            </a:r>
            <a:endParaRPr lang="en-US" sz="318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ANALYST</a:t>
            </a:r>
            <a:endParaRPr lang="en-US" sz="1050" dirty="0">
              <a:latin typeface="Times New Roman" panose="02020603050405020304" pitchFamily="18" charset="0"/>
              <a:cs typeface="Times New Roman" panose="02020603050405020304" pitchFamily="18" charset="0"/>
            </a:endParaRPr>
          </a:p>
        </p:txBody>
      </p:sp>
      <p:sp>
        <p:nvSpPr>
          <p:cNvPr id="16" name="Shape 14"/>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Shape 15"/>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Text 16"/>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9" name="Text 17"/>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43</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7824" y="2432304"/>
            <a:ext cx="5074920" cy="2807208"/>
          </a:xfrm>
          <a:prstGeom prst="roundRect">
            <a:avLst>
              <a:gd name="adj" fmla="val 4560"/>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877824" y="2432304"/>
            <a:ext cx="64008" cy="2807208"/>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1115568" y="2651760"/>
            <a:ext cx="4636008" cy="502920"/>
          </a:xfrm>
          <a:prstGeom prst="rect">
            <a:avLst/>
          </a:prstGeom>
          <a:noFill/>
          <a:ln/>
        </p:spPr>
        <p:txBody>
          <a:bodyPr wrap="square" lIns="0" tIns="0" rIns="0" bIns="0" rtlCol="0" anchor="ctr">
            <a:normAutofit/>
          </a:bodyPr>
          <a:lstStyle/>
          <a:p>
            <a:pPr marL="0" indent="0" algn="l">
              <a:buNone/>
            </a:pPr>
            <a:r>
              <a:rPr lang="en-US" sz="2400" b="1" dirty="0">
                <a:solidFill>
                  <a:srgbClr val="172B42"/>
                </a:solidFill>
                <a:latin typeface="Times New Roman" panose="02020603050405020304" pitchFamily="18" charset="0"/>
                <a:ea typeface="Inter" pitchFamily="34" charset="-122"/>
                <a:cs typeface="Times New Roman" panose="02020603050405020304" pitchFamily="18" charset="0"/>
              </a:rPr>
              <a:t>Observation</a:t>
            </a:r>
            <a:endParaRPr lang="en-US" sz="2400" dirty="0">
              <a:latin typeface="Times New Roman" panose="02020603050405020304" pitchFamily="18" charset="0"/>
              <a:cs typeface="Times New Roman" panose="02020603050405020304" pitchFamily="18" charset="0"/>
            </a:endParaRPr>
          </a:p>
        </p:txBody>
      </p:sp>
      <p:sp>
        <p:nvSpPr>
          <p:cNvPr id="5" name="Text 3"/>
          <p:cNvSpPr/>
          <p:nvPr/>
        </p:nvSpPr>
        <p:spPr>
          <a:xfrm>
            <a:off x="1115568" y="3227832"/>
            <a:ext cx="4572000" cy="1828800"/>
          </a:xfrm>
          <a:prstGeom prst="rect">
            <a:avLst/>
          </a:prstGeom>
          <a:noFill/>
          <a:ln/>
        </p:spPr>
        <p:txBody>
          <a:bodyPr wrap="square" lIns="0" tIns="0" rIns="0" bIns="0" rtlCol="0" anchor="t">
            <a:normAutofit/>
          </a:bodyPr>
          <a:lstStyle/>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Cardiology has 3 of 6 appointment records.</a:t>
            </a:r>
            <a:endParaRPr lang="en-US" sz="1800" dirty="0">
              <a:latin typeface="Times New Roman" panose="02020603050405020304" pitchFamily="18" charset="0"/>
              <a:cs typeface="Times New Roman" panose="02020603050405020304" pitchFamily="18" charset="0"/>
            </a:endParaRPr>
          </a:p>
        </p:txBody>
      </p:sp>
      <p:sp>
        <p:nvSpPr>
          <p:cNvPr id="6" name="Shape 4"/>
          <p:cNvSpPr/>
          <p:nvPr/>
        </p:nvSpPr>
        <p:spPr>
          <a:xfrm>
            <a:off x="6263640" y="2432304"/>
            <a:ext cx="5074920" cy="2807208"/>
          </a:xfrm>
          <a:prstGeom prst="roundRect">
            <a:avLst>
              <a:gd name="adj" fmla="val 4560"/>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6263640" y="2432304"/>
            <a:ext cx="64008" cy="2807208"/>
          </a:xfrm>
          <a:prstGeom prst="rect">
            <a:avLst/>
          </a:prstGeom>
          <a:solidFill>
            <a:srgbClr val="E8A23A"/>
          </a:solidFill>
          <a:ln w="12700">
            <a:solidFill>
              <a:srgbClr val="E8A23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6501384" y="2651760"/>
            <a:ext cx="4636008" cy="502920"/>
          </a:xfrm>
          <a:prstGeom prst="rect">
            <a:avLst/>
          </a:prstGeom>
          <a:noFill/>
          <a:ln/>
        </p:spPr>
        <p:txBody>
          <a:bodyPr wrap="square" lIns="0" tIns="0" rIns="0" bIns="0" rtlCol="0" anchor="ctr">
            <a:normAutofit/>
          </a:bodyPr>
          <a:lstStyle/>
          <a:p>
            <a:pPr marL="0" indent="0" algn="l">
              <a:buNone/>
            </a:pPr>
            <a:r>
              <a:rPr lang="en-US" sz="2400" b="1" dirty="0">
                <a:solidFill>
                  <a:srgbClr val="172B42"/>
                </a:solidFill>
                <a:latin typeface="Times New Roman" panose="02020603050405020304" pitchFamily="18" charset="0"/>
                <a:ea typeface="Inter" pitchFamily="34" charset="-122"/>
                <a:cs typeface="Times New Roman" panose="02020603050405020304" pitchFamily="18" charset="0"/>
              </a:rPr>
              <a:t>Action to test</a:t>
            </a:r>
            <a:endParaRPr lang="en-US" sz="2400" dirty="0">
              <a:latin typeface="Times New Roman" panose="02020603050405020304" pitchFamily="18" charset="0"/>
              <a:cs typeface="Times New Roman" panose="02020603050405020304" pitchFamily="18" charset="0"/>
            </a:endParaRPr>
          </a:p>
        </p:txBody>
      </p:sp>
      <p:sp>
        <p:nvSpPr>
          <p:cNvPr id="9" name="Text 7"/>
          <p:cNvSpPr/>
          <p:nvPr/>
        </p:nvSpPr>
        <p:spPr>
          <a:xfrm>
            <a:off x="6501384" y="3227832"/>
            <a:ext cx="4572000" cy="1828800"/>
          </a:xfrm>
          <a:prstGeom prst="rect">
            <a:avLst/>
          </a:prstGeom>
          <a:noFill/>
          <a:ln/>
        </p:spPr>
        <p:txBody>
          <a:bodyPr wrap="square" lIns="0" tIns="0" rIns="0" bIns="0" rtlCol="0" anchor="t">
            <a:normAutofit/>
          </a:bodyPr>
          <a:lstStyle/>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Review scheduling and cancellation patterns before adding staff.</a:t>
            </a:r>
            <a:endParaRPr lang="en-US" sz="1800" dirty="0">
              <a:latin typeface="Times New Roman" panose="02020603050405020304" pitchFamily="18" charset="0"/>
              <a:cs typeface="Times New Roman" panose="02020603050405020304" pitchFamily="18" charset="0"/>
            </a:endParaRPr>
          </a:p>
        </p:txBody>
      </p:sp>
      <p:sp>
        <p:nvSpPr>
          <p:cNvPr id="10" name="Shape 8"/>
          <p:cNvSpPr/>
          <p:nvPr/>
        </p:nvSpPr>
        <p:spPr>
          <a:xfrm>
            <a:off x="621792" y="5650992"/>
            <a:ext cx="10948111" cy="493776"/>
          </a:xfrm>
          <a:prstGeom prst="roundRect">
            <a:avLst>
              <a:gd name="adj" fmla="val 22222"/>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Text 9"/>
          <p:cNvSpPr/>
          <p:nvPr/>
        </p:nvSpPr>
        <p:spPr>
          <a:xfrm>
            <a:off x="822960" y="5705856"/>
            <a:ext cx="1316736" cy="365760"/>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THE POINT</a:t>
            </a:r>
            <a:endParaRPr lang="en-US" sz="1030" dirty="0">
              <a:latin typeface="Times New Roman" panose="02020603050405020304" pitchFamily="18" charset="0"/>
              <a:cs typeface="Times New Roman" panose="02020603050405020304" pitchFamily="18" charset="0"/>
            </a:endParaRPr>
          </a:p>
        </p:txBody>
      </p:sp>
      <p:sp>
        <p:nvSpPr>
          <p:cNvPr id="12" name="Text 10"/>
          <p:cNvSpPr/>
          <p:nvPr/>
        </p:nvSpPr>
        <p:spPr>
          <a:xfrm>
            <a:off x="2221992" y="5705856"/>
            <a:ext cx="9101023" cy="365760"/>
          </a:xfrm>
          <a:prstGeom prst="rect">
            <a:avLst/>
          </a:prstGeom>
          <a:noFill/>
          <a:ln/>
        </p:spPr>
        <p:txBody>
          <a:bodyPr wrap="square" lIns="0" tIns="0" rIns="0" bIns="0" rtlCol="0" anchor="ctr">
            <a:normAutofit/>
          </a:bodyPr>
          <a:lstStyle/>
          <a:p>
            <a:pPr marL="0" indent="0" algn="l">
              <a:buNone/>
            </a:pPr>
            <a:r>
              <a:rPr lang="en-US" sz="1340" b="1" dirty="0">
                <a:solidFill>
                  <a:srgbClr val="172B42"/>
                </a:solidFill>
                <a:latin typeface="Times New Roman" panose="02020603050405020304" pitchFamily="18" charset="0"/>
                <a:ea typeface="Inter" pitchFamily="34" charset="-122"/>
                <a:cs typeface="Times New Roman" panose="02020603050405020304" pitchFamily="18" charset="0"/>
              </a:rPr>
              <a:t>A chart shows a pattern; a recommendation adds context and caution.</a:t>
            </a:r>
            <a:endParaRPr lang="en-US" sz="1340" dirty="0">
              <a:latin typeface="Times New Roman" panose="02020603050405020304" pitchFamily="18" charset="0"/>
              <a:cs typeface="Times New Roman" panose="02020603050405020304" pitchFamily="18" charset="0"/>
            </a:endParaRPr>
          </a:p>
        </p:txBody>
      </p:sp>
      <p:sp>
        <p:nvSpPr>
          <p:cNvPr id="13" name="Text 11"/>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Turn a number into a recommendation</a:t>
            </a:r>
            <a:endParaRPr lang="en-US" sz="318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ANALYST</a:t>
            </a:r>
            <a:endParaRPr lang="en-US" sz="1050" dirty="0">
              <a:latin typeface="Times New Roman" panose="02020603050405020304" pitchFamily="18" charset="0"/>
              <a:cs typeface="Times New Roman" panose="02020603050405020304" pitchFamily="18" charset="0"/>
            </a:endParaRPr>
          </a:p>
        </p:txBody>
      </p:sp>
      <p:sp>
        <p:nvSpPr>
          <p:cNvPr id="16" name="Shape 14"/>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Shape 15"/>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Text 16"/>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9" name="Text 17"/>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44</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621792" y="2487168"/>
            <a:ext cx="64008" cy="2834640"/>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859536"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Excel</a:t>
            </a:r>
            <a:endParaRPr lang="en-US" sz="1900" dirty="0">
              <a:latin typeface="Times New Roman" panose="02020603050405020304" pitchFamily="18" charset="0"/>
              <a:cs typeface="Times New Roman" panose="02020603050405020304" pitchFamily="18" charset="0"/>
            </a:endParaRPr>
          </a:p>
        </p:txBody>
      </p:sp>
      <p:sp>
        <p:nvSpPr>
          <p:cNvPr id="5" name="Text 3"/>
          <p:cNvSpPr/>
          <p:nvPr/>
        </p:nvSpPr>
        <p:spPr>
          <a:xfrm>
            <a:off x="859536"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PivotTables, lookups, quick charts and checks.</a:t>
            </a:r>
            <a:endParaRPr lang="en-US" sz="1510" dirty="0">
              <a:latin typeface="Times New Roman" panose="02020603050405020304" pitchFamily="18" charset="0"/>
              <a:cs typeface="Times New Roman" panose="02020603050405020304" pitchFamily="18" charset="0"/>
            </a:endParaRPr>
          </a:p>
        </p:txBody>
      </p:sp>
      <p:sp>
        <p:nvSpPr>
          <p:cNvPr id="6" name="Shape 4"/>
          <p:cNvSpPr/>
          <p:nvPr/>
        </p:nvSpPr>
        <p:spPr>
          <a:xfrm>
            <a:off x="4335170"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4335170" y="2487168"/>
            <a:ext cx="64008" cy="2834640"/>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4572914"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SQL + Tableau</a:t>
            </a:r>
            <a:endParaRPr lang="en-US" sz="1900" dirty="0">
              <a:latin typeface="Times New Roman" panose="02020603050405020304" pitchFamily="18" charset="0"/>
              <a:cs typeface="Times New Roman" panose="02020603050405020304" pitchFamily="18" charset="0"/>
            </a:endParaRPr>
          </a:p>
        </p:txBody>
      </p:sp>
      <p:sp>
        <p:nvSpPr>
          <p:cNvPr id="9" name="Text 7"/>
          <p:cNvSpPr/>
          <p:nvPr/>
        </p:nvSpPr>
        <p:spPr>
          <a:xfrm>
            <a:off x="4572914"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Query linked tables and build interactive reports.</a:t>
            </a:r>
            <a:endParaRPr lang="en-US" sz="1510" dirty="0">
              <a:latin typeface="Times New Roman" panose="02020603050405020304" pitchFamily="18" charset="0"/>
              <a:cs typeface="Times New Roman" panose="02020603050405020304" pitchFamily="18" charset="0"/>
            </a:endParaRPr>
          </a:p>
        </p:txBody>
      </p:sp>
      <p:sp>
        <p:nvSpPr>
          <p:cNvPr id="10" name="Shape 8"/>
          <p:cNvSpPr/>
          <p:nvPr/>
        </p:nvSpPr>
        <p:spPr>
          <a:xfrm>
            <a:off x="8048549"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Shape 9"/>
          <p:cNvSpPr/>
          <p:nvPr/>
        </p:nvSpPr>
        <p:spPr>
          <a:xfrm>
            <a:off x="8048549" y="2487168"/>
            <a:ext cx="64008" cy="2834640"/>
          </a:xfrm>
          <a:prstGeom prst="rect">
            <a:avLst/>
          </a:prstGeom>
          <a:solidFill>
            <a:srgbClr val="8052D8"/>
          </a:solidFill>
          <a:ln w="12700">
            <a:solidFill>
              <a:srgbClr val="8052D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Text 10"/>
          <p:cNvSpPr/>
          <p:nvPr/>
        </p:nvSpPr>
        <p:spPr>
          <a:xfrm>
            <a:off x="8286293"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Python</a:t>
            </a:r>
            <a:endParaRPr lang="en-US" sz="1900" dirty="0">
              <a:latin typeface="Times New Roman" panose="02020603050405020304" pitchFamily="18" charset="0"/>
              <a:cs typeface="Times New Roman" panose="02020603050405020304" pitchFamily="18" charset="0"/>
            </a:endParaRPr>
          </a:p>
        </p:txBody>
      </p:sp>
      <p:sp>
        <p:nvSpPr>
          <p:cNvPr id="13" name="Text 11"/>
          <p:cNvSpPr/>
          <p:nvPr/>
        </p:nvSpPr>
        <p:spPr>
          <a:xfrm>
            <a:off x="8286293"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Clean, summarize and visualize through Pandas.</a:t>
            </a:r>
            <a:endParaRPr lang="en-US" sz="151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Tools you can start with</a:t>
            </a:r>
            <a:endParaRPr lang="en-US" sz="3180" dirty="0">
              <a:latin typeface="Times New Roman" panose="02020603050405020304" pitchFamily="18" charset="0"/>
              <a:cs typeface="Times New Roman" panose="02020603050405020304" pitchFamily="18" charset="0"/>
            </a:endParaRPr>
          </a:p>
        </p:txBody>
      </p:sp>
      <p:sp>
        <p:nvSpPr>
          <p:cNvPr id="15" name="Text 13"/>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ANALYST</a:t>
            </a:r>
            <a:endParaRPr lang="en-US" sz="1050" dirty="0">
              <a:latin typeface="Times New Roman" panose="02020603050405020304" pitchFamily="18" charset="0"/>
              <a:cs typeface="Times New Roman" panose="02020603050405020304" pitchFamily="18" charset="0"/>
            </a:endParaRPr>
          </a:p>
        </p:txBody>
      </p:sp>
      <p:sp>
        <p:nvSpPr>
          <p:cNvPr id="17" name="Shape 15"/>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Shape 16"/>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9" name="Text 17"/>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20" name="Text 18"/>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45</a:t>
            </a:r>
            <a:endParaRPr lang="en-US" sz="900" dirty="0">
              <a:latin typeface="Times New Roman" panose="02020603050405020304" pitchFamily="18" charset="0"/>
              <a:cs typeface="Times New Roman" panose="02020603050405020304" pitchFamily="18" charset="0"/>
            </a:endParaRPr>
          </a:p>
        </p:txBody>
      </p:sp>
      <p:sp>
        <p:nvSpPr>
          <p:cNvPr id="21" name="IMAGE PLACEHOLDER | Excel PivotTable screenshot"/>
          <p:cNvSpPr/>
          <p:nvPr/>
        </p:nvSpPr>
        <p:spPr>
          <a:xfrm>
            <a:off x="868680" y="4370832"/>
            <a:ext cx="2944368" cy="758952"/>
          </a:xfrm>
          <a:prstGeom prst="roundRect">
            <a:avLst>
              <a:gd name="adj" fmla="val 10000"/>
            </a:avLst>
          </a:prstGeom>
          <a:solidFill>
            <a:srgbClr val="F1F7FA"/>
          </a:solidFill>
          <a:ln w="14604">
            <a:solidFill>
              <a:srgbClr val="98B2C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2" name="Rectangle 21"/>
          <p:cNvSpPr/>
          <p:nvPr/>
        </p:nvSpPr>
        <p:spPr>
          <a:xfrm>
            <a:off x="978407" y="4608576"/>
            <a:ext cx="347472" cy="265176"/>
          </a:xfrm>
          <a:prstGeom prst="rect">
            <a:avLst/>
          </a:prstGeom>
          <a:noFill/>
          <a:ln w="14604">
            <a:solidFill>
              <a:srgbClr val="7D9E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 name="Oval 22"/>
          <p:cNvSpPr/>
          <p:nvPr/>
        </p:nvSpPr>
        <p:spPr>
          <a:xfrm>
            <a:off x="1193840" y="4658868"/>
            <a:ext cx="68580" cy="68580"/>
          </a:xfrm>
          <a:prstGeom prst="ellipse">
            <a:avLst/>
          </a:prstGeom>
          <a:solidFill>
            <a:srgbClr val="7D9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4" name="PLACEHOLDER LABEL | Excel PivotTable screenshot"/>
          <p:cNvSpPr txBox="1"/>
          <p:nvPr/>
        </p:nvSpPr>
        <p:spPr>
          <a:xfrm>
            <a:off x="1389888" y="4645574"/>
            <a:ext cx="2331720" cy="227755"/>
          </a:xfrm>
          <a:prstGeom prst="rect">
            <a:avLst/>
          </a:prstGeom>
          <a:noFill/>
        </p:spPr>
        <p:txBody>
          <a:bodyPr wrap="square" anchor="ctr">
            <a:spAutoFit/>
          </a:bodyPr>
          <a:lstStyle/>
          <a:p>
            <a:pPr algn="l"/>
            <a:r>
              <a:rPr sz="880" b="1">
                <a:solidFill>
                  <a:srgbClr val="4F7183"/>
                </a:solidFill>
                <a:latin typeface="Times New Roman" panose="02020603050405020304" pitchFamily="18" charset="0"/>
                <a:cs typeface="Times New Roman" panose="02020603050405020304" pitchFamily="18" charset="0"/>
              </a:rPr>
              <a:t>Excel PivotTable screenshot</a:t>
            </a:r>
          </a:p>
        </p:txBody>
      </p:sp>
      <p:sp>
        <p:nvSpPr>
          <p:cNvPr id="25" name="IMAGE PLACEHOLDER | Tableau + SQL example"/>
          <p:cNvSpPr/>
          <p:nvPr/>
        </p:nvSpPr>
        <p:spPr>
          <a:xfrm>
            <a:off x="4581144" y="4370832"/>
            <a:ext cx="2944368" cy="758952"/>
          </a:xfrm>
          <a:prstGeom prst="roundRect">
            <a:avLst>
              <a:gd name="adj" fmla="val 10000"/>
            </a:avLst>
          </a:prstGeom>
          <a:solidFill>
            <a:srgbClr val="F1F7FA"/>
          </a:solidFill>
          <a:ln w="14604">
            <a:solidFill>
              <a:srgbClr val="98B2C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6" name="Rectangle 25"/>
          <p:cNvSpPr/>
          <p:nvPr/>
        </p:nvSpPr>
        <p:spPr>
          <a:xfrm>
            <a:off x="4690872" y="4608576"/>
            <a:ext cx="347472" cy="265176"/>
          </a:xfrm>
          <a:prstGeom prst="rect">
            <a:avLst/>
          </a:prstGeom>
          <a:noFill/>
          <a:ln w="14604">
            <a:solidFill>
              <a:srgbClr val="7D9E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7" name="Oval 26"/>
          <p:cNvSpPr/>
          <p:nvPr/>
        </p:nvSpPr>
        <p:spPr>
          <a:xfrm>
            <a:off x="4906304" y="4658868"/>
            <a:ext cx="68580" cy="68580"/>
          </a:xfrm>
          <a:prstGeom prst="ellipse">
            <a:avLst/>
          </a:prstGeom>
          <a:solidFill>
            <a:srgbClr val="7D9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8" name="PLACEHOLDER LABEL | Tableau + SQL example"/>
          <p:cNvSpPr txBox="1"/>
          <p:nvPr/>
        </p:nvSpPr>
        <p:spPr>
          <a:xfrm>
            <a:off x="5102352" y="4645574"/>
            <a:ext cx="2331720" cy="227755"/>
          </a:xfrm>
          <a:prstGeom prst="rect">
            <a:avLst/>
          </a:prstGeom>
          <a:noFill/>
        </p:spPr>
        <p:txBody>
          <a:bodyPr wrap="square" anchor="ctr">
            <a:spAutoFit/>
          </a:bodyPr>
          <a:lstStyle/>
          <a:p>
            <a:pPr algn="l"/>
            <a:r>
              <a:rPr sz="880" b="1">
                <a:solidFill>
                  <a:srgbClr val="4F7183"/>
                </a:solidFill>
                <a:latin typeface="Times New Roman" panose="02020603050405020304" pitchFamily="18" charset="0"/>
                <a:cs typeface="Times New Roman" panose="02020603050405020304" pitchFamily="18" charset="0"/>
              </a:rPr>
              <a:t>Tableau + SQL example</a:t>
            </a:r>
          </a:p>
        </p:txBody>
      </p:sp>
      <p:sp>
        <p:nvSpPr>
          <p:cNvPr id="29" name="IMAGE PLACEHOLDER | Python notebook screenshot"/>
          <p:cNvSpPr/>
          <p:nvPr/>
        </p:nvSpPr>
        <p:spPr>
          <a:xfrm>
            <a:off x="8293608" y="4370832"/>
            <a:ext cx="2944368" cy="758952"/>
          </a:xfrm>
          <a:prstGeom prst="roundRect">
            <a:avLst>
              <a:gd name="adj" fmla="val 10000"/>
            </a:avLst>
          </a:prstGeom>
          <a:solidFill>
            <a:srgbClr val="F1F7FA"/>
          </a:solidFill>
          <a:ln w="14604">
            <a:solidFill>
              <a:srgbClr val="98B2C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0" name="Rectangle 29"/>
          <p:cNvSpPr/>
          <p:nvPr/>
        </p:nvSpPr>
        <p:spPr>
          <a:xfrm>
            <a:off x="8403336" y="4608576"/>
            <a:ext cx="347472" cy="265176"/>
          </a:xfrm>
          <a:prstGeom prst="rect">
            <a:avLst/>
          </a:prstGeom>
          <a:noFill/>
          <a:ln w="14604">
            <a:solidFill>
              <a:srgbClr val="7D9E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1" name="Oval 30"/>
          <p:cNvSpPr/>
          <p:nvPr/>
        </p:nvSpPr>
        <p:spPr>
          <a:xfrm>
            <a:off x="8618768" y="4658868"/>
            <a:ext cx="68580" cy="68580"/>
          </a:xfrm>
          <a:prstGeom prst="ellipse">
            <a:avLst/>
          </a:prstGeom>
          <a:solidFill>
            <a:srgbClr val="7D9E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2" name="PLACEHOLDER LABEL | Python notebook screenshot"/>
          <p:cNvSpPr txBox="1"/>
          <p:nvPr/>
        </p:nvSpPr>
        <p:spPr>
          <a:xfrm>
            <a:off x="8814816" y="4645574"/>
            <a:ext cx="2331720" cy="227755"/>
          </a:xfrm>
          <a:prstGeom prst="rect">
            <a:avLst/>
          </a:prstGeom>
          <a:noFill/>
        </p:spPr>
        <p:txBody>
          <a:bodyPr wrap="square" anchor="ctr">
            <a:spAutoFit/>
          </a:bodyPr>
          <a:lstStyle/>
          <a:p>
            <a:pPr algn="l"/>
            <a:r>
              <a:rPr sz="880" b="1">
                <a:solidFill>
                  <a:srgbClr val="4F7183"/>
                </a:solidFill>
                <a:latin typeface="Times New Roman" panose="02020603050405020304" pitchFamily="18" charset="0"/>
                <a:cs typeface="Times New Roman" panose="02020603050405020304" pitchFamily="18" charset="0"/>
              </a:rPr>
              <a:t>Python notebook screenshot</a:t>
            </a:r>
          </a:p>
        </p:txBody>
      </p:sp>
      <p:pic>
        <p:nvPicPr>
          <p:cNvPr id="33" name="Picture 32">
            <a:extLst>
              <a:ext uri="{FF2B5EF4-FFF2-40B4-BE49-F238E27FC236}">
                <a16:creationId xmlns:a16="http://schemas.microsoft.com/office/drawing/2014/main" id="{F933DD55-E2E0-E700-167B-F79379E08A0B}"/>
              </a:ext>
            </a:extLst>
          </p:cNvPr>
          <p:cNvPicPr>
            <a:picLocks noChangeAspect="1"/>
          </p:cNvPicPr>
          <p:nvPr/>
        </p:nvPicPr>
        <p:blipFill>
          <a:blip r:embed="rId3"/>
          <a:stretch>
            <a:fillRect/>
          </a:stretch>
        </p:blipFill>
        <p:spPr>
          <a:xfrm>
            <a:off x="756648" y="4174967"/>
            <a:ext cx="3185329" cy="967801"/>
          </a:xfrm>
          <a:prstGeom prst="rect">
            <a:avLst/>
          </a:prstGeom>
        </p:spPr>
      </p:pic>
      <p:pic>
        <p:nvPicPr>
          <p:cNvPr id="35" name="Picture 34">
            <a:extLst>
              <a:ext uri="{FF2B5EF4-FFF2-40B4-BE49-F238E27FC236}">
                <a16:creationId xmlns:a16="http://schemas.microsoft.com/office/drawing/2014/main" id="{0B1468F8-D640-2311-71E6-3FA39912EE6B}"/>
              </a:ext>
            </a:extLst>
          </p:cNvPr>
          <p:cNvPicPr>
            <a:picLocks noChangeAspect="1"/>
          </p:cNvPicPr>
          <p:nvPr/>
        </p:nvPicPr>
        <p:blipFill>
          <a:blip r:embed="rId4"/>
          <a:stretch>
            <a:fillRect/>
          </a:stretch>
        </p:blipFill>
        <p:spPr>
          <a:xfrm>
            <a:off x="4489246" y="4174967"/>
            <a:ext cx="3213202" cy="967801"/>
          </a:xfrm>
          <a:prstGeom prst="rect">
            <a:avLst/>
          </a:prstGeom>
        </p:spPr>
      </p:pic>
      <p:pic>
        <p:nvPicPr>
          <p:cNvPr id="37" name="Picture 36">
            <a:extLst>
              <a:ext uri="{FF2B5EF4-FFF2-40B4-BE49-F238E27FC236}">
                <a16:creationId xmlns:a16="http://schemas.microsoft.com/office/drawing/2014/main" id="{8D62E369-FC11-5612-5E8A-EA314C48A9FE}"/>
              </a:ext>
            </a:extLst>
          </p:cNvPr>
          <p:cNvPicPr>
            <a:picLocks noChangeAspect="1"/>
          </p:cNvPicPr>
          <p:nvPr/>
        </p:nvPicPr>
        <p:blipFill>
          <a:blip r:embed="rId5"/>
          <a:stretch>
            <a:fillRect/>
          </a:stretch>
        </p:blipFill>
        <p:spPr>
          <a:xfrm>
            <a:off x="8226857" y="4195028"/>
            <a:ext cx="3141878" cy="96780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 y="2331720"/>
            <a:ext cx="6784848" cy="3108960"/>
          </a:xfrm>
          <a:prstGeom prst="roundRect">
            <a:avLst>
              <a:gd name="adj" fmla="val 470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Text 1"/>
          <p:cNvSpPr/>
          <p:nvPr/>
        </p:nvSpPr>
        <p:spPr>
          <a:xfrm>
            <a:off x="1088136" y="2606040"/>
            <a:ext cx="1645920" cy="292608"/>
          </a:xfrm>
          <a:prstGeom prst="rect">
            <a:avLst/>
          </a:prstGeom>
          <a:noFill/>
          <a:ln/>
        </p:spPr>
        <p:txBody>
          <a:bodyPr wrap="square" lIns="0" tIns="0" rIns="0" bIns="0" rtlCol="0" anchor="ctr">
            <a:normAutofit/>
          </a:bodyPr>
          <a:lstStyle/>
          <a:p>
            <a:pPr marL="0" indent="0" algn="l">
              <a:buNone/>
            </a:pPr>
            <a:r>
              <a:rPr lang="en-US" sz="1200" b="1" dirty="0">
                <a:solidFill>
                  <a:srgbClr val="087B75"/>
                </a:solidFill>
                <a:latin typeface="Times New Roman" panose="02020603050405020304" pitchFamily="18" charset="0"/>
                <a:ea typeface="Inter" pitchFamily="34" charset="-122"/>
                <a:cs typeface="Times New Roman" panose="02020603050405020304" pitchFamily="18" charset="0"/>
              </a:rPr>
              <a:t>TASK</a:t>
            </a:r>
            <a:endParaRPr lang="en-US" sz="1200" dirty="0">
              <a:latin typeface="Times New Roman" panose="02020603050405020304" pitchFamily="18" charset="0"/>
              <a:cs typeface="Times New Roman" panose="02020603050405020304" pitchFamily="18" charset="0"/>
            </a:endParaRPr>
          </a:p>
        </p:txBody>
      </p:sp>
      <p:sp>
        <p:nvSpPr>
          <p:cNvPr id="4" name="Shape 2"/>
          <p:cNvSpPr/>
          <p:nvPr/>
        </p:nvSpPr>
        <p:spPr>
          <a:xfrm>
            <a:off x="1078992" y="3154680"/>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5" name="Text 3"/>
          <p:cNvSpPr/>
          <p:nvPr/>
        </p:nvSpPr>
        <p:spPr>
          <a:xfrm>
            <a:off x="1325880" y="2876844"/>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The chart shows 3 cardiology visits out of 6 total.</a:t>
            </a:r>
            <a:endParaRPr lang="en-US" sz="1900" dirty="0">
              <a:latin typeface="Times New Roman" panose="02020603050405020304" pitchFamily="18" charset="0"/>
              <a:cs typeface="Times New Roman" panose="02020603050405020304" pitchFamily="18" charset="0"/>
            </a:endParaRPr>
          </a:p>
        </p:txBody>
      </p:sp>
      <p:sp>
        <p:nvSpPr>
          <p:cNvPr id="6" name="Shape 4"/>
          <p:cNvSpPr/>
          <p:nvPr/>
        </p:nvSpPr>
        <p:spPr>
          <a:xfrm>
            <a:off x="1078992" y="3776472"/>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Text 5"/>
          <p:cNvSpPr/>
          <p:nvPr/>
        </p:nvSpPr>
        <p:spPr>
          <a:xfrm>
            <a:off x="1325880" y="3498636"/>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A teammate says: “Cardiology is always overloaded.”</a:t>
            </a:r>
            <a:endParaRPr lang="en-US" sz="1900" dirty="0">
              <a:latin typeface="Times New Roman" panose="02020603050405020304" pitchFamily="18" charset="0"/>
              <a:cs typeface="Times New Roman" panose="02020603050405020304" pitchFamily="18" charset="0"/>
            </a:endParaRPr>
          </a:p>
        </p:txBody>
      </p:sp>
      <p:sp>
        <p:nvSpPr>
          <p:cNvPr id="8" name="Shape 6"/>
          <p:cNvSpPr/>
          <p:nvPr/>
        </p:nvSpPr>
        <p:spPr>
          <a:xfrm>
            <a:off x="1078992" y="4398264"/>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1325880" y="4120428"/>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What additional evidence would you need?</a:t>
            </a:r>
            <a:endParaRPr lang="en-US" sz="1900" dirty="0">
              <a:latin typeface="Times New Roman" panose="02020603050405020304" pitchFamily="18" charset="0"/>
              <a:cs typeface="Times New Roman" panose="02020603050405020304" pitchFamily="18" charset="0"/>
            </a:endParaRPr>
          </a:p>
        </p:txBody>
      </p:sp>
      <p:sp>
        <p:nvSpPr>
          <p:cNvPr id="10" name="Shape 8"/>
          <p:cNvSpPr/>
          <p:nvPr/>
        </p:nvSpPr>
        <p:spPr>
          <a:xfrm>
            <a:off x="7918704" y="2331720"/>
            <a:ext cx="3383280" cy="3108960"/>
          </a:xfrm>
          <a:prstGeom prst="roundRect">
            <a:avLst>
              <a:gd name="adj" fmla="val 4412"/>
            </a:avLst>
          </a:prstGeom>
          <a:solidFill>
            <a:srgbClr val="EAF2F7"/>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Text 10"/>
          <p:cNvSpPr/>
          <p:nvPr/>
        </p:nvSpPr>
        <p:spPr>
          <a:xfrm>
            <a:off x="8193024" y="3191256"/>
            <a:ext cx="2743200" cy="1755648"/>
          </a:xfrm>
          <a:prstGeom prst="rect">
            <a:avLst/>
          </a:prstGeom>
          <a:noFill/>
          <a:ln/>
        </p:spPr>
        <p:txBody>
          <a:bodyPr wrap="square" lIns="0" tIns="0" rIns="0" bIns="0" rtlCol="0" anchor="t">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Think time range, denominator, doctor capacity and cancellations.</a:t>
            </a:r>
            <a:endParaRPr lang="en-US" sz="1900" dirty="0">
              <a:latin typeface="Times New Roman" panose="02020603050405020304" pitchFamily="18" charset="0"/>
              <a:cs typeface="Times New Roman" panose="02020603050405020304" pitchFamily="18" charset="0"/>
            </a:endParaRPr>
          </a:p>
        </p:txBody>
      </p:sp>
      <p:sp>
        <p:nvSpPr>
          <p:cNvPr id="13" name="Text 11"/>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Find the misleading conclusion</a:t>
            </a:r>
            <a:endParaRPr lang="en-US" sz="318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ANALYST</a:t>
            </a:r>
            <a:endParaRPr lang="en-US" sz="1050" dirty="0">
              <a:latin typeface="Times New Roman" panose="02020603050405020304" pitchFamily="18" charset="0"/>
              <a:cs typeface="Times New Roman" panose="02020603050405020304" pitchFamily="18" charset="0"/>
            </a:endParaRPr>
          </a:p>
        </p:txBody>
      </p:sp>
      <p:sp>
        <p:nvSpPr>
          <p:cNvPr id="16" name="Shape 14"/>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Shape 15"/>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Text 16"/>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9" name="Text 17"/>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46</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2633472"/>
            <a:ext cx="3515258"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621792" y="2633472"/>
            <a:ext cx="3515258" cy="73152"/>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813816" y="2871216"/>
            <a:ext cx="3131210"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Accurate</a:t>
            </a:r>
            <a:endParaRPr lang="en-US" sz="2000" dirty="0">
              <a:latin typeface="Times New Roman" panose="02020603050405020304" pitchFamily="18" charset="0"/>
              <a:cs typeface="Times New Roman" panose="02020603050405020304" pitchFamily="18" charset="0"/>
            </a:endParaRPr>
          </a:p>
        </p:txBody>
      </p:sp>
      <p:sp>
        <p:nvSpPr>
          <p:cNvPr id="5" name="Text 3"/>
          <p:cNvSpPr/>
          <p:nvPr/>
        </p:nvSpPr>
        <p:spPr>
          <a:xfrm>
            <a:off x="813816" y="3401568"/>
            <a:ext cx="3131210"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Valid numbers</a:t>
            </a:r>
            <a:endParaRPr lang="en-US" sz="1430" dirty="0">
              <a:latin typeface="Times New Roman" panose="02020603050405020304" pitchFamily="18" charset="0"/>
              <a:cs typeface="Times New Roman" panose="02020603050405020304" pitchFamily="18" charset="0"/>
            </a:endParaRPr>
          </a:p>
        </p:txBody>
      </p:sp>
      <p:sp>
        <p:nvSpPr>
          <p:cNvPr id="6" name="Shape 4"/>
          <p:cNvSpPr/>
          <p:nvPr/>
        </p:nvSpPr>
        <p:spPr>
          <a:xfrm>
            <a:off x="4152595" y="3566160"/>
            <a:ext cx="164592" cy="301752"/>
          </a:xfrm>
          <a:prstGeom prst="chevron">
            <a:avLst/>
          </a:prstGeom>
          <a:solidFill>
            <a:srgbClr val="B5C2D0"/>
          </a:solidFill>
          <a:ln w="12700">
            <a:solidFill>
              <a:srgbClr val="B5C2D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4338218" y="2633472"/>
            <a:ext cx="3515258"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Shape 6"/>
          <p:cNvSpPr/>
          <p:nvPr/>
        </p:nvSpPr>
        <p:spPr>
          <a:xfrm>
            <a:off x="4338218" y="2633472"/>
            <a:ext cx="3515258" cy="73152"/>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4530242" y="2871216"/>
            <a:ext cx="3131210"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Clear</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4530242" y="3401568"/>
            <a:ext cx="3131210"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Easy to understand</a:t>
            </a:r>
            <a:endParaRPr lang="en-US" sz="1430" dirty="0">
              <a:latin typeface="Times New Roman" panose="02020603050405020304" pitchFamily="18" charset="0"/>
              <a:cs typeface="Times New Roman" panose="02020603050405020304" pitchFamily="18" charset="0"/>
            </a:endParaRPr>
          </a:p>
        </p:txBody>
      </p:sp>
      <p:sp>
        <p:nvSpPr>
          <p:cNvPr id="11" name="Shape 9"/>
          <p:cNvSpPr/>
          <p:nvPr/>
        </p:nvSpPr>
        <p:spPr>
          <a:xfrm>
            <a:off x="7869022" y="3566160"/>
            <a:ext cx="164592" cy="301752"/>
          </a:xfrm>
          <a:prstGeom prst="chevron">
            <a:avLst/>
          </a:prstGeom>
          <a:solidFill>
            <a:srgbClr val="B5C2D0"/>
          </a:solidFill>
          <a:ln w="12700">
            <a:solidFill>
              <a:srgbClr val="B5C2D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Shape 10"/>
          <p:cNvSpPr/>
          <p:nvPr/>
        </p:nvSpPr>
        <p:spPr>
          <a:xfrm>
            <a:off x="8054645" y="2633472"/>
            <a:ext cx="3515258" cy="2221992"/>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3" name="Shape 11"/>
          <p:cNvSpPr/>
          <p:nvPr/>
        </p:nvSpPr>
        <p:spPr>
          <a:xfrm>
            <a:off x="8054645" y="2633472"/>
            <a:ext cx="3515258" cy="73152"/>
          </a:xfrm>
          <a:prstGeom prst="rect">
            <a:avLst/>
          </a:prstGeom>
          <a:solidFill>
            <a:srgbClr val="8052D8"/>
          </a:solidFill>
          <a:ln w="12700">
            <a:solidFill>
              <a:srgbClr val="8052D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4" name="Text 12"/>
          <p:cNvSpPr/>
          <p:nvPr/>
        </p:nvSpPr>
        <p:spPr>
          <a:xfrm>
            <a:off x="8246669" y="2871216"/>
            <a:ext cx="3131210"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Useful</a:t>
            </a:r>
            <a:endParaRPr lang="en-US" sz="2000" dirty="0">
              <a:latin typeface="Times New Roman" panose="02020603050405020304" pitchFamily="18" charset="0"/>
              <a:cs typeface="Times New Roman" panose="02020603050405020304" pitchFamily="18" charset="0"/>
            </a:endParaRPr>
          </a:p>
        </p:txBody>
      </p:sp>
      <p:sp>
        <p:nvSpPr>
          <p:cNvPr id="15" name="Text 13"/>
          <p:cNvSpPr/>
          <p:nvPr/>
        </p:nvSpPr>
        <p:spPr>
          <a:xfrm>
            <a:off x="8246669" y="3401568"/>
            <a:ext cx="3131210"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Answers a decision</a:t>
            </a:r>
            <a:endParaRPr lang="en-US" sz="1430" dirty="0">
              <a:latin typeface="Times New Roman" panose="02020603050405020304" pitchFamily="18" charset="0"/>
              <a:cs typeface="Times New Roman" panose="02020603050405020304" pitchFamily="18" charset="0"/>
            </a:endParaRPr>
          </a:p>
        </p:txBody>
      </p:sp>
      <p:sp>
        <p:nvSpPr>
          <p:cNvPr id="16" name="Shape 14"/>
          <p:cNvSpPr/>
          <p:nvPr/>
        </p:nvSpPr>
        <p:spPr>
          <a:xfrm>
            <a:off x="621792" y="5650992"/>
            <a:ext cx="10948111" cy="493776"/>
          </a:xfrm>
          <a:prstGeom prst="roundRect">
            <a:avLst>
              <a:gd name="adj" fmla="val 22222"/>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Text 15"/>
          <p:cNvSpPr/>
          <p:nvPr/>
        </p:nvSpPr>
        <p:spPr>
          <a:xfrm>
            <a:off x="822960" y="5705856"/>
            <a:ext cx="1316736" cy="365760"/>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REMEMBER</a:t>
            </a:r>
            <a:endParaRPr lang="en-US" sz="1030" dirty="0">
              <a:latin typeface="Times New Roman" panose="02020603050405020304" pitchFamily="18" charset="0"/>
              <a:cs typeface="Times New Roman" panose="02020603050405020304" pitchFamily="18" charset="0"/>
            </a:endParaRPr>
          </a:p>
        </p:txBody>
      </p:sp>
      <p:sp>
        <p:nvSpPr>
          <p:cNvPr id="18" name="Text 16"/>
          <p:cNvSpPr/>
          <p:nvPr/>
        </p:nvSpPr>
        <p:spPr>
          <a:xfrm>
            <a:off x="2221992" y="5705856"/>
            <a:ext cx="9101023" cy="365760"/>
          </a:xfrm>
          <a:prstGeom prst="rect">
            <a:avLst/>
          </a:prstGeom>
          <a:noFill/>
          <a:ln/>
        </p:spPr>
        <p:txBody>
          <a:bodyPr wrap="square" lIns="0" tIns="0" rIns="0" bIns="0" rtlCol="0" anchor="ctr">
            <a:normAutofit/>
          </a:bodyPr>
          <a:lstStyle/>
          <a:p>
            <a:pPr marL="0" indent="0" algn="l">
              <a:buNone/>
            </a:pPr>
            <a:r>
              <a:rPr lang="en-US" sz="1340" b="1" dirty="0">
                <a:solidFill>
                  <a:srgbClr val="172B42"/>
                </a:solidFill>
                <a:latin typeface="Times New Roman" panose="02020603050405020304" pitchFamily="18" charset="0"/>
                <a:ea typeface="Inter" pitchFamily="34" charset="-122"/>
                <a:cs typeface="Times New Roman" panose="02020603050405020304" pitchFamily="18" charset="0"/>
              </a:rPr>
              <a:t>Your final output is an explanation with evidence.</a:t>
            </a:r>
            <a:endParaRPr lang="en-US" sz="1340" dirty="0">
              <a:latin typeface="Times New Roman" panose="02020603050405020304" pitchFamily="18" charset="0"/>
              <a:cs typeface="Times New Roman" panose="02020603050405020304" pitchFamily="18" charset="0"/>
            </a:endParaRPr>
          </a:p>
        </p:txBody>
      </p:sp>
      <p:sp>
        <p:nvSpPr>
          <p:cNvPr id="19" name="Text 17"/>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Analyst delivery checklist</a:t>
            </a:r>
            <a:endParaRPr lang="en-US" sz="3180" dirty="0">
              <a:latin typeface="Times New Roman" panose="02020603050405020304" pitchFamily="18" charset="0"/>
              <a:cs typeface="Times New Roman" panose="02020603050405020304" pitchFamily="18" charset="0"/>
            </a:endParaRPr>
          </a:p>
        </p:txBody>
      </p:sp>
      <p:sp>
        <p:nvSpPr>
          <p:cNvPr id="20" name="Text 18"/>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DATA ANALYST</a:t>
            </a:r>
            <a:endParaRPr lang="en-US" sz="1050" dirty="0">
              <a:latin typeface="Times New Roman" panose="02020603050405020304" pitchFamily="18" charset="0"/>
              <a:cs typeface="Times New Roman" panose="02020603050405020304" pitchFamily="18" charset="0"/>
            </a:endParaRPr>
          </a:p>
        </p:txBody>
      </p:sp>
      <p:sp>
        <p:nvSpPr>
          <p:cNvPr id="22" name="Shape 20"/>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3" name="Shape 21"/>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4" name="Text 22"/>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25" name="Text 23"/>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47</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42416" y="1947672"/>
            <a:ext cx="10113264" cy="941832"/>
          </a:xfrm>
          <a:prstGeom prst="rect">
            <a:avLst/>
          </a:prstGeom>
          <a:noFill/>
          <a:ln/>
        </p:spPr>
        <p:txBody>
          <a:bodyPr wrap="square" lIns="0" tIns="0" rIns="0" bIns="0" rtlCol="0" anchor="ctr">
            <a:normAutofit/>
          </a:bodyPr>
          <a:lstStyle/>
          <a:p>
            <a:pPr marL="0" indent="0" algn="ctr">
              <a:buNone/>
            </a:pPr>
            <a:r>
              <a:rPr lang="en-US" sz="4600" b="1" dirty="0">
                <a:solidFill>
                  <a:srgbClr val="172B42"/>
                </a:solidFill>
                <a:latin typeface="Times New Roman" panose="02020603050405020304" pitchFamily="18" charset="0"/>
                <a:ea typeface="Inter" pitchFamily="34" charset="-122"/>
                <a:cs typeface="Times New Roman" panose="02020603050405020304" pitchFamily="18" charset="0"/>
              </a:rPr>
              <a:t>15-MINUTE BREAK</a:t>
            </a:r>
            <a:endParaRPr lang="en-US" sz="4600" dirty="0">
              <a:latin typeface="Times New Roman" panose="02020603050405020304" pitchFamily="18" charset="0"/>
              <a:cs typeface="Times New Roman" panose="02020603050405020304" pitchFamily="18" charset="0"/>
            </a:endParaRPr>
          </a:p>
        </p:txBody>
      </p:sp>
      <p:sp>
        <p:nvSpPr>
          <p:cNvPr id="3" name="Text 1"/>
          <p:cNvSpPr/>
          <p:nvPr/>
        </p:nvSpPr>
        <p:spPr>
          <a:xfrm>
            <a:off x="1499616" y="3200400"/>
            <a:ext cx="9235440" cy="512064"/>
          </a:xfrm>
          <a:prstGeom prst="rect">
            <a:avLst/>
          </a:prstGeom>
          <a:noFill/>
          <a:ln/>
        </p:spPr>
        <p:txBody>
          <a:bodyPr wrap="square" lIns="0" tIns="0" rIns="0" bIns="0" rtlCol="0" anchor="ctr">
            <a:normAutofit/>
          </a:bodyPr>
          <a:lstStyle/>
          <a:p>
            <a:pPr marL="0" indent="0" algn="ctr">
              <a:buNone/>
            </a:pPr>
            <a:r>
              <a:rPr lang="en-US" sz="1900" dirty="0">
                <a:solidFill>
                  <a:srgbClr val="5C6D80"/>
                </a:solidFill>
                <a:latin typeface="Times New Roman" panose="02020603050405020304" pitchFamily="18" charset="0"/>
                <a:ea typeface="Inter" pitchFamily="34" charset="-122"/>
                <a:cs typeface="Times New Roman" panose="02020603050405020304" pitchFamily="18" charset="0"/>
              </a:rPr>
              <a:t>3:00–3:15 PM  ·  Up next: the Business Analyst role.</a:t>
            </a:r>
            <a:endParaRPr lang="en-US" sz="1900" dirty="0">
              <a:latin typeface="Times New Roman" panose="02020603050405020304" pitchFamily="18" charset="0"/>
              <a:cs typeface="Times New Roman" panose="02020603050405020304" pitchFamily="18" charset="0"/>
            </a:endParaRPr>
          </a:p>
        </p:txBody>
      </p:sp>
      <p:sp>
        <p:nvSpPr>
          <p:cNvPr id="4" name="Shape 2"/>
          <p:cNvSpPr/>
          <p:nvPr/>
        </p:nvSpPr>
        <p:spPr>
          <a:xfrm>
            <a:off x="4919472" y="4224528"/>
            <a:ext cx="2377440" cy="73152"/>
          </a:xfrm>
          <a:prstGeom prst="roundRect">
            <a:avLst>
              <a:gd name="adj" fmla="val 37500"/>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5" name="Text 3"/>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TEA BREAK</a:t>
            </a:r>
            <a:endParaRPr lang="en-US" sz="1050" dirty="0">
              <a:latin typeface="Times New Roman" panose="02020603050405020304" pitchFamily="18" charset="0"/>
              <a:cs typeface="Times New Roman" panose="02020603050405020304" pitchFamily="18" charset="0"/>
            </a:endParaRPr>
          </a:p>
        </p:txBody>
      </p:sp>
      <p:sp>
        <p:nvSpPr>
          <p:cNvPr id="7" name="Shape 5"/>
          <p:cNvSpPr/>
          <p:nvPr/>
        </p:nvSpPr>
        <p:spPr>
          <a:xfrm>
            <a:off x="621792" y="658368"/>
            <a:ext cx="10948111" cy="0"/>
          </a:xfrm>
          <a:prstGeom prst="line">
            <a:avLst/>
          </a:prstGeom>
          <a:noFill/>
          <a:ln w="15240">
            <a:solidFill>
              <a:srgbClr val="34506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Shape 6"/>
          <p:cNvSpPr/>
          <p:nvPr/>
        </p:nvSpPr>
        <p:spPr>
          <a:xfrm>
            <a:off x="621792" y="6455664"/>
            <a:ext cx="10948111" cy="0"/>
          </a:xfrm>
          <a:prstGeom prst="line">
            <a:avLst/>
          </a:prstGeom>
          <a:noFill/>
          <a:ln w="12700">
            <a:solidFill>
              <a:srgbClr val="34506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0" name="Text 8"/>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48</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60120" y="1051560"/>
            <a:ext cx="2743200" cy="813816"/>
          </a:xfrm>
          <a:prstGeom prst="rect">
            <a:avLst/>
          </a:prstGeom>
          <a:noFill/>
          <a:ln/>
        </p:spPr>
        <p:txBody>
          <a:bodyPr wrap="square" lIns="0" tIns="0" rIns="0" bIns="0" rtlCol="0" anchor="ctr">
            <a:normAutofit fontScale="92500" lnSpcReduction="20000"/>
          </a:bodyPr>
          <a:lstStyle/>
          <a:p>
            <a:pPr marL="0" indent="0" algn="l">
              <a:buNone/>
            </a:pPr>
            <a:r>
              <a:rPr lang="en-US" sz="7100" b="1" dirty="0">
                <a:solidFill>
                  <a:srgbClr val="172B42"/>
                </a:solidFill>
                <a:latin typeface="Times New Roman" panose="02020603050405020304" pitchFamily="18" charset="0"/>
                <a:ea typeface="Inter" pitchFamily="34" charset="-122"/>
                <a:cs typeface="Times New Roman" panose="02020603050405020304" pitchFamily="18" charset="0"/>
              </a:rPr>
              <a:t>05</a:t>
            </a:r>
            <a:endParaRPr lang="en-US" sz="7100" dirty="0">
              <a:latin typeface="Times New Roman" panose="02020603050405020304" pitchFamily="18" charset="0"/>
              <a:cs typeface="Times New Roman" panose="02020603050405020304" pitchFamily="18" charset="0"/>
            </a:endParaRPr>
          </a:p>
        </p:txBody>
      </p:sp>
      <p:sp>
        <p:nvSpPr>
          <p:cNvPr id="3" name="Text 1"/>
          <p:cNvSpPr/>
          <p:nvPr/>
        </p:nvSpPr>
        <p:spPr>
          <a:xfrm>
            <a:off x="960120" y="2231136"/>
            <a:ext cx="10378440" cy="914400"/>
          </a:xfrm>
          <a:prstGeom prst="rect">
            <a:avLst/>
          </a:prstGeom>
          <a:noFill/>
          <a:ln/>
        </p:spPr>
        <p:txBody>
          <a:bodyPr wrap="square" lIns="0" tIns="0" rIns="0" bIns="0" rtlCol="0" anchor="ctr">
            <a:normAutofit/>
          </a:bodyPr>
          <a:lstStyle/>
          <a:p>
            <a:pPr marL="0" indent="0" algn="l">
              <a:buNone/>
            </a:pPr>
            <a:r>
              <a:rPr lang="en-US" sz="4400" b="1" dirty="0">
                <a:solidFill>
                  <a:srgbClr val="172B42"/>
                </a:solidFill>
                <a:latin typeface="Times New Roman" panose="02020603050405020304" pitchFamily="18" charset="0"/>
                <a:ea typeface="Inter" pitchFamily="34" charset="-122"/>
                <a:cs typeface="Times New Roman" panose="02020603050405020304" pitchFamily="18" charset="0"/>
              </a:rPr>
              <a:t>Translate needs into useful solutions</a:t>
            </a:r>
            <a:endParaRPr lang="en-US" sz="4400" dirty="0">
              <a:latin typeface="Times New Roman" panose="02020603050405020304" pitchFamily="18" charset="0"/>
              <a:cs typeface="Times New Roman" panose="02020603050405020304" pitchFamily="18" charset="0"/>
            </a:endParaRPr>
          </a:p>
        </p:txBody>
      </p:sp>
      <p:sp>
        <p:nvSpPr>
          <p:cNvPr id="4" name="Text 2"/>
          <p:cNvSpPr/>
          <p:nvPr/>
        </p:nvSpPr>
        <p:spPr>
          <a:xfrm>
            <a:off x="996696" y="3429000"/>
            <a:ext cx="9829800" cy="914400"/>
          </a:xfrm>
          <a:prstGeom prst="rect">
            <a:avLst/>
          </a:prstGeom>
          <a:noFill/>
          <a:ln/>
        </p:spPr>
        <p:txBody>
          <a:bodyPr wrap="square" lIns="0" tIns="0" rIns="0" bIns="0" rtlCol="0" anchor="ctr">
            <a:normAutofit/>
          </a:bodyPr>
          <a:lstStyle/>
          <a:p>
            <a:pPr marL="0" indent="0" algn="l">
              <a:buNone/>
            </a:pPr>
            <a:r>
              <a:rPr lang="en-US" sz="2100" dirty="0">
                <a:solidFill>
                  <a:srgbClr val="5C6D80"/>
                </a:solidFill>
                <a:latin typeface="Times New Roman" panose="02020603050405020304" pitchFamily="18" charset="0"/>
                <a:ea typeface="Inter" pitchFamily="34" charset="-122"/>
                <a:cs typeface="Times New Roman" panose="02020603050405020304" pitchFamily="18" charset="0"/>
              </a:rPr>
              <a:t>The bridge between stakeholders, operations and technical teams.</a:t>
            </a:r>
            <a:endParaRPr lang="en-US" sz="2100" dirty="0">
              <a:latin typeface="Times New Roman" panose="02020603050405020304" pitchFamily="18" charset="0"/>
              <a:cs typeface="Times New Roman" panose="02020603050405020304" pitchFamily="18" charset="0"/>
            </a:endParaRPr>
          </a:p>
        </p:txBody>
      </p:sp>
      <p:sp>
        <p:nvSpPr>
          <p:cNvPr id="5" name="Shape 3"/>
          <p:cNvSpPr/>
          <p:nvPr/>
        </p:nvSpPr>
        <p:spPr>
          <a:xfrm>
            <a:off x="978408" y="4718304"/>
            <a:ext cx="1106424" cy="91440"/>
          </a:xfrm>
          <a:prstGeom prst="roundRect">
            <a:avLst>
              <a:gd name="adj" fmla="val 40000"/>
            </a:avLst>
          </a:prstGeom>
          <a:solidFill>
            <a:srgbClr val="E8A23A"/>
          </a:solidFill>
          <a:ln w="12700">
            <a:solidFill>
              <a:srgbClr val="E8A23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6" name="Text 4"/>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BUSINESS ANALYST</a:t>
            </a:r>
            <a:endParaRPr lang="en-US" sz="1050" dirty="0">
              <a:latin typeface="Times New Roman" panose="02020603050405020304" pitchFamily="18" charset="0"/>
              <a:cs typeface="Times New Roman" panose="02020603050405020304" pitchFamily="18" charset="0"/>
            </a:endParaRPr>
          </a:p>
        </p:txBody>
      </p:sp>
      <p:sp>
        <p:nvSpPr>
          <p:cNvPr id="8" name="Shape 6"/>
          <p:cNvSpPr/>
          <p:nvPr/>
        </p:nvSpPr>
        <p:spPr>
          <a:xfrm>
            <a:off x="621792" y="658368"/>
            <a:ext cx="10948111" cy="0"/>
          </a:xfrm>
          <a:prstGeom prst="line">
            <a:avLst/>
          </a:prstGeom>
          <a:noFill/>
          <a:ln w="15240">
            <a:solidFill>
              <a:srgbClr val="34506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Shape 7"/>
          <p:cNvSpPr/>
          <p:nvPr/>
        </p:nvSpPr>
        <p:spPr>
          <a:xfrm>
            <a:off x="621792" y="6455664"/>
            <a:ext cx="10948111" cy="0"/>
          </a:xfrm>
          <a:prstGeom prst="line">
            <a:avLst/>
          </a:prstGeom>
          <a:noFill/>
          <a:ln w="12700">
            <a:solidFill>
              <a:srgbClr val="34506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0" name="Text 8"/>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1" name="Text 9"/>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49</a:t>
            </a:r>
            <a:endParaRPr lang="en-US" sz="900" dirty="0">
              <a:latin typeface="Times New Roman" panose="02020603050405020304" pitchFamily="18" charset="0"/>
              <a:cs typeface="Times New Roman" panose="02020603050405020304" pitchFamily="18" charset="0"/>
            </a:endParaRPr>
          </a:p>
        </p:txBody>
      </p:sp>
      <p:sp>
        <p:nvSpPr>
          <p:cNvPr id="12" name="Section underline"/>
          <p:cNvSpPr/>
          <p:nvPr/>
        </p:nvSpPr>
        <p:spPr>
          <a:xfrm>
            <a:off x="987552" y="4846320"/>
            <a:ext cx="1005840" cy="32004"/>
          </a:xfrm>
          <a:prstGeom prst="rect">
            <a:avLst/>
          </a:prstGeom>
          <a:solidFill>
            <a:srgbClr val="10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7824" y="2432304"/>
            <a:ext cx="5074920" cy="2807208"/>
          </a:xfrm>
          <a:prstGeom prst="roundRect">
            <a:avLst>
              <a:gd name="adj" fmla="val 4560"/>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877824" y="2432304"/>
            <a:ext cx="64008" cy="2807208"/>
          </a:xfrm>
          <a:prstGeom prst="rect">
            <a:avLst/>
          </a:prstGeom>
          <a:solidFill>
            <a:srgbClr val="E8A23A"/>
          </a:solidFill>
          <a:ln w="12700">
            <a:solidFill>
              <a:srgbClr val="E8A23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1115568" y="2651760"/>
            <a:ext cx="4636008" cy="502920"/>
          </a:xfrm>
          <a:prstGeom prst="rect">
            <a:avLst/>
          </a:prstGeom>
          <a:noFill/>
          <a:ln/>
        </p:spPr>
        <p:txBody>
          <a:bodyPr wrap="square" lIns="0" tIns="0" rIns="0" bIns="0" rtlCol="0" anchor="ctr">
            <a:normAutofit/>
          </a:bodyPr>
          <a:lstStyle/>
          <a:p>
            <a:pPr marL="0" indent="0" algn="l">
              <a:buNone/>
            </a:pPr>
            <a:r>
              <a:rPr lang="en-US" sz="2400" b="1" dirty="0">
                <a:solidFill>
                  <a:srgbClr val="172B42"/>
                </a:solidFill>
                <a:latin typeface="Times New Roman" panose="02020603050405020304" pitchFamily="18" charset="0"/>
                <a:ea typeface="Inter" pitchFamily="34" charset="-122"/>
                <a:cs typeface="Times New Roman" panose="02020603050405020304" pitchFamily="18" charset="0"/>
              </a:rPr>
              <a:t>Business request</a:t>
            </a:r>
            <a:endParaRPr lang="en-US" sz="2400" dirty="0">
              <a:latin typeface="Times New Roman" panose="02020603050405020304" pitchFamily="18" charset="0"/>
              <a:cs typeface="Times New Roman" panose="02020603050405020304" pitchFamily="18" charset="0"/>
            </a:endParaRPr>
          </a:p>
        </p:txBody>
      </p:sp>
      <p:sp>
        <p:nvSpPr>
          <p:cNvPr id="5" name="Text 3"/>
          <p:cNvSpPr/>
          <p:nvPr/>
        </p:nvSpPr>
        <p:spPr>
          <a:xfrm>
            <a:off x="1115568" y="3227832"/>
            <a:ext cx="4572000" cy="1828800"/>
          </a:xfrm>
          <a:prstGeom prst="rect">
            <a:avLst/>
          </a:prstGeom>
          <a:noFill/>
          <a:ln/>
        </p:spPr>
        <p:txBody>
          <a:bodyPr wrap="square" lIns="0" tIns="0" rIns="0" bIns="0" rtlCol="0" anchor="t">
            <a:normAutofit/>
          </a:bodyPr>
          <a:lstStyle/>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“We need fewer cancelled appointments.”</a:t>
            </a:r>
            <a:endParaRPr lang="en-US" sz="1800" dirty="0">
              <a:latin typeface="Times New Roman" panose="02020603050405020304" pitchFamily="18" charset="0"/>
              <a:cs typeface="Times New Roman" panose="02020603050405020304" pitchFamily="18" charset="0"/>
            </a:endParaRPr>
          </a:p>
        </p:txBody>
      </p:sp>
      <p:sp>
        <p:nvSpPr>
          <p:cNvPr id="6" name="Shape 4"/>
          <p:cNvSpPr/>
          <p:nvPr/>
        </p:nvSpPr>
        <p:spPr>
          <a:xfrm>
            <a:off x="6263640" y="2432304"/>
            <a:ext cx="5074920" cy="2807208"/>
          </a:xfrm>
          <a:prstGeom prst="roundRect">
            <a:avLst>
              <a:gd name="adj" fmla="val 4560"/>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6263640" y="2432304"/>
            <a:ext cx="64008" cy="2807208"/>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6501384" y="2651760"/>
            <a:ext cx="4636008" cy="502920"/>
          </a:xfrm>
          <a:prstGeom prst="rect">
            <a:avLst/>
          </a:prstGeom>
          <a:noFill/>
          <a:ln/>
        </p:spPr>
        <p:txBody>
          <a:bodyPr wrap="square" lIns="0" tIns="0" rIns="0" bIns="0" rtlCol="0" anchor="ctr">
            <a:normAutofit/>
          </a:bodyPr>
          <a:lstStyle/>
          <a:p>
            <a:pPr marL="0" indent="0" algn="l">
              <a:buNone/>
            </a:pPr>
            <a:r>
              <a:rPr lang="en-US" sz="2400" b="1" dirty="0">
                <a:solidFill>
                  <a:srgbClr val="172B42"/>
                </a:solidFill>
                <a:latin typeface="Times New Roman" panose="02020603050405020304" pitchFamily="18" charset="0"/>
                <a:ea typeface="Inter" pitchFamily="34" charset="-122"/>
                <a:cs typeface="Times New Roman" panose="02020603050405020304" pitchFamily="18" charset="0"/>
              </a:rPr>
              <a:t>Technical question</a:t>
            </a:r>
            <a:endParaRPr lang="en-US" sz="2400" dirty="0">
              <a:latin typeface="Times New Roman" panose="02020603050405020304" pitchFamily="18" charset="0"/>
              <a:cs typeface="Times New Roman" panose="02020603050405020304" pitchFamily="18" charset="0"/>
            </a:endParaRPr>
          </a:p>
        </p:txBody>
      </p:sp>
      <p:sp>
        <p:nvSpPr>
          <p:cNvPr id="9" name="Text 7"/>
          <p:cNvSpPr/>
          <p:nvPr/>
        </p:nvSpPr>
        <p:spPr>
          <a:xfrm>
            <a:off x="6501384" y="3227832"/>
            <a:ext cx="4572000" cy="1828800"/>
          </a:xfrm>
          <a:prstGeom prst="rect">
            <a:avLst/>
          </a:prstGeom>
          <a:noFill/>
          <a:ln/>
        </p:spPr>
        <p:txBody>
          <a:bodyPr wrap="square" lIns="0" tIns="0" rIns="0" bIns="0" rtlCol="0" anchor="t">
            <a:normAutofit/>
          </a:bodyPr>
          <a:lstStyle/>
          <a:p>
            <a:pPr marL="0" indent="0" algn="l">
              <a:buNone/>
            </a:pPr>
            <a:r>
              <a:rPr lang="en-US" sz="1800" dirty="0">
                <a:solidFill>
                  <a:srgbClr val="5C6D80"/>
                </a:solidFill>
                <a:latin typeface="Times New Roman" panose="02020603050405020304" pitchFamily="18" charset="0"/>
                <a:ea typeface="Inter" pitchFamily="34" charset="-122"/>
                <a:cs typeface="Times New Roman" panose="02020603050405020304" pitchFamily="18" charset="0"/>
              </a:rPr>
              <a:t>Which appointment states count, and which actions are in our control?</a:t>
            </a:r>
            <a:endParaRPr lang="en-US" sz="1800" dirty="0">
              <a:latin typeface="Times New Roman" panose="02020603050405020304" pitchFamily="18" charset="0"/>
              <a:cs typeface="Times New Roman" panose="02020603050405020304" pitchFamily="18" charset="0"/>
            </a:endParaRPr>
          </a:p>
        </p:txBody>
      </p:sp>
      <p:sp>
        <p:nvSpPr>
          <p:cNvPr id="10" name="Shape 8"/>
          <p:cNvSpPr/>
          <p:nvPr/>
        </p:nvSpPr>
        <p:spPr>
          <a:xfrm>
            <a:off x="621792" y="5650992"/>
            <a:ext cx="10948111" cy="493776"/>
          </a:xfrm>
          <a:prstGeom prst="roundRect">
            <a:avLst>
              <a:gd name="adj" fmla="val 22222"/>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Text 9"/>
          <p:cNvSpPr/>
          <p:nvPr/>
        </p:nvSpPr>
        <p:spPr>
          <a:xfrm>
            <a:off x="822960" y="5705856"/>
            <a:ext cx="1316736" cy="365760"/>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THE POINT</a:t>
            </a:r>
            <a:endParaRPr lang="en-US" sz="1030" dirty="0">
              <a:latin typeface="Times New Roman" panose="02020603050405020304" pitchFamily="18" charset="0"/>
              <a:cs typeface="Times New Roman" panose="02020603050405020304" pitchFamily="18" charset="0"/>
            </a:endParaRPr>
          </a:p>
        </p:txBody>
      </p:sp>
      <p:sp>
        <p:nvSpPr>
          <p:cNvPr id="12" name="Text 10"/>
          <p:cNvSpPr/>
          <p:nvPr/>
        </p:nvSpPr>
        <p:spPr>
          <a:xfrm>
            <a:off x="2221992" y="5705856"/>
            <a:ext cx="9101023" cy="365760"/>
          </a:xfrm>
          <a:prstGeom prst="rect">
            <a:avLst/>
          </a:prstGeom>
          <a:noFill/>
          <a:ln/>
        </p:spPr>
        <p:txBody>
          <a:bodyPr wrap="square" lIns="0" tIns="0" rIns="0" bIns="0" rtlCol="0" anchor="ctr">
            <a:normAutofit/>
          </a:bodyPr>
          <a:lstStyle/>
          <a:p>
            <a:pPr marL="0" indent="0" algn="l">
              <a:buNone/>
            </a:pPr>
            <a:r>
              <a:rPr lang="en-US" sz="1340" b="1" dirty="0">
                <a:solidFill>
                  <a:srgbClr val="172B42"/>
                </a:solidFill>
                <a:latin typeface="Times New Roman" panose="02020603050405020304" pitchFamily="18" charset="0"/>
                <a:ea typeface="Inter" pitchFamily="34" charset="-122"/>
                <a:cs typeface="Times New Roman" panose="02020603050405020304" pitchFamily="18" charset="0"/>
              </a:rPr>
              <a:t>Clarify the problem before promising a dashboard.</a:t>
            </a:r>
            <a:endParaRPr lang="en-US" sz="1340" dirty="0">
              <a:latin typeface="Times New Roman" panose="02020603050405020304" pitchFamily="18" charset="0"/>
              <a:cs typeface="Times New Roman" panose="02020603050405020304" pitchFamily="18" charset="0"/>
            </a:endParaRPr>
          </a:p>
        </p:txBody>
      </p:sp>
      <p:sp>
        <p:nvSpPr>
          <p:cNvPr id="13" name="Text 11"/>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The BA connects three conversations</a:t>
            </a:r>
            <a:endParaRPr lang="en-US" sz="318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BUSINESS ANALYST</a:t>
            </a:r>
            <a:endParaRPr lang="en-US" sz="1050" dirty="0">
              <a:latin typeface="Times New Roman" panose="02020603050405020304" pitchFamily="18" charset="0"/>
              <a:cs typeface="Times New Roman" panose="02020603050405020304" pitchFamily="18" charset="0"/>
            </a:endParaRPr>
          </a:p>
        </p:txBody>
      </p:sp>
      <p:sp>
        <p:nvSpPr>
          <p:cNvPr id="16" name="Shape 14"/>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Shape 15"/>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Text 16"/>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9" name="Text 17"/>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50</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621792" y="2487168"/>
            <a:ext cx="64008" cy="2834640"/>
          </a:xfrm>
          <a:prstGeom prst="rect">
            <a:avLst/>
          </a:prstGeom>
          <a:solidFill>
            <a:srgbClr val="E8A23A"/>
          </a:solidFill>
          <a:ln w="12700">
            <a:solidFill>
              <a:srgbClr val="E8A23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859536"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Who?</a:t>
            </a:r>
            <a:endParaRPr lang="en-US" sz="1900" dirty="0">
              <a:latin typeface="Times New Roman" panose="02020603050405020304" pitchFamily="18" charset="0"/>
              <a:cs typeface="Times New Roman" panose="02020603050405020304" pitchFamily="18" charset="0"/>
            </a:endParaRPr>
          </a:p>
        </p:txBody>
      </p:sp>
      <p:sp>
        <p:nvSpPr>
          <p:cNvPr id="5" name="Text 3"/>
          <p:cNvSpPr/>
          <p:nvPr/>
        </p:nvSpPr>
        <p:spPr>
          <a:xfrm>
            <a:off x="859536"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Who is asking, using, and approving this dashboard?</a:t>
            </a:r>
            <a:endParaRPr lang="en-US" sz="1510" dirty="0">
              <a:latin typeface="Times New Roman" panose="02020603050405020304" pitchFamily="18" charset="0"/>
              <a:cs typeface="Times New Roman" panose="02020603050405020304" pitchFamily="18" charset="0"/>
            </a:endParaRPr>
          </a:p>
        </p:txBody>
      </p:sp>
      <p:sp>
        <p:nvSpPr>
          <p:cNvPr id="6" name="Shape 4"/>
          <p:cNvSpPr/>
          <p:nvPr/>
        </p:nvSpPr>
        <p:spPr>
          <a:xfrm>
            <a:off x="4335170"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4335170" y="2487168"/>
            <a:ext cx="64008" cy="2834640"/>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4572914"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What?</a:t>
            </a:r>
            <a:endParaRPr lang="en-US" sz="1900" dirty="0">
              <a:latin typeface="Times New Roman" panose="02020603050405020304" pitchFamily="18" charset="0"/>
              <a:cs typeface="Times New Roman" panose="02020603050405020304" pitchFamily="18" charset="0"/>
            </a:endParaRPr>
          </a:p>
        </p:txBody>
      </p:sp>
      <p:sp>
        <p:nvSpPr>
          <p:cNvPr id="9" name="Text 7"/>
          <p:cNvSpPr/>
          <p:nvPr/>
        </p:nvSpPr>
        <p:spPr>
          <a:xfrm>
            <a:off x="4572914"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What decision must the dashboard support?</a:t>
            </a:r>
            <a:endParaRPr lang="en-US" sz="1510" dirty="0">
              <a:latin typeface="Times New Roman" panose="02020603050405020304" pitchFamily="18" charset="0"/>
              <a:cs typeface="Times New Roman" panose="02020603050405020304" pitchFamily="18" charset="0"/>
            </a:endParaRPr>
          </a:p>
        </p:txBody>
      </p:sp>
      <p:sp>
        <p:nvSpPr>
          <p:cNvPr id="10" name="Shape 8"/>
          <p:cNvSpPr/>
          <p:nvPr/>
        </p:nvSpPr>
        <p:spPr>
          <a:xfrm>
            <a:off x="8048549"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Shape 9"/>
          <p:cNvSpPr/>
          <p:nvPr/>
        </p:nvSpPr>
        <p:spPr>
          <a:xfrm>
            <a:off x="8048549" y="2487168"/>
            <a:ext cx="64008" cy="2834640"/>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Text 10"/>
          <p:cNvSpPr/>
          <p:nvPr/>
        </p:nvSpPr>
        <p:spPr>
          <a:xfrm>
            <a:off x="8286293"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How will we know?</a:t>
            </a:r>
            <a:endParaRPr lang="en-US" sz="1900" dirty="0">
              <a:latin typeface="Times New Roman" panose="02020603050405020304" pitchFamily="18" charset="0"/>
              <a:cs typeface="Times New Roman" panose="02020603050405020304" pitchFamily="18" charset="0"/>
            </a:endParaRPr>
          </a:p>
        </p:txBody>
      </p:sp>
      <p:sp>
        <p:nvSpPr>
          <p:cNvPr id="13" name="Text 11"/>
          <p:cNvSpPr/>
          <p:nvPr/>
        </p:nvSpPr>
        <p:spPr>
          <a:xfrm>
            <a:off x="8286293"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What are the exact definitions and acceptance criteria?</a:t>
            </a:r>
            <a:endParaRPr lang="en-US" sz="151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Discover requirements before building</a:t>
            </a:r>
            <a:endParaRPr lang="en-US" sz="3180" dirty="0">
              <a:latin typeface="Times New Roman" panose="02020603050405020304" pitchFamily="18" charset="0"/>
              <a:cs typeface="Times New Roman" panose="02020603050405020304" pitchFamily="18" charset="0"/>
            </a:endParaRPr>
          </a:p>
        </p:txBody>
      </p:sp>
      <p:sp>
        <p:nvSpPr>
          <p:cNvPr id="15" name="Text 13"/>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BUSINESS ANALYST</a:t>
            </a:r>
            <a:endParaRPr lang="en-US" sz="1050" dirty="0">
              <a:latin typeface="Times New Roman" panose="02020603050405020304" pitchFamily="18" charset="0"/>
              <a:cs typeface="Times New Roman" panose="02020603050405020304" pitchFamily="18" charset="0"/>
            </a:endParaRPr>
          </a:p>
        </p:txBody>
      </p:sp>
      <p:sp>
        <p:nvSpPr>
          <p:cNvPr id="17" name="Shape 15"/>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Shape 16"/>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9" name="Text 17"/>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20" name="Text 18"/>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51</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14400" y="2404872"/>
            <a:ext cx="10369296" cy="493776"/>
          </a:xfrm>
          <a:prstGeom prst="roundRect">
            <a:avLst>
              <a:gd name="adj" fmla="val 12963"/>
            </a:avLst>
          </a:prstGeom>
          <a:solidFill>
            <a:srgbClr val="EAF2F7"/>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Text 1"/>
          <p:cNvSpPr/>
          <p:nvPr/>
        </p:nvSpPr>
        <p:spPr>
          <a:xfrm>
            <a:off x="1033272" y="2505456"/>
            <a:ext cx="3446374" cy="329184"/>
          </a:xfrm>
          <a:prstGeom prst="rect">
            <a:avLst/>
          </a:prstGeom>
          <a:noFill/>
          <a:ln/>
        </p:spPr>
        <p:txBody>
          <a:bodyPr wrap="square" lIns="0" tIns="0" rIns="0" bIns="0" rtlCol="0" anchor="ctr">
            <a:normAutofit/>
          </a:bodyPr>
          <a:lstStyle/>
          <a:p>
            <a:pPr marL="0" indent="0" algn="l">
              <a:buNone/>
            </a:pPr>
            <a:r>
              <a:rPr lang="en-US" sz="1200" b="1" dirty="0">
                <a:solidFill>
                  <a:srgbClr val="172B42"/>
                </a:solidFill>
                <a:latin typeface="Times New Roman" panose="02020603050405020304" pitchFamily="18" charset="0"/>
                <a:ea typeface="Inter" pitchFamily="34" charset="-122"/>
                <a:cs typeface="Times New Roman" panose="02020603050405020304" pitchFamily="18" charset="0"/>
              </a:rPr>
              <a:t>Vague request</a:t>
            </a:r>
            <a:endParaRPr lang="en-US" sz="1200" dirty="0">
              <a:latin typeface="Times New Roman" panose="02020603050405020304" pitchFamily="18" charset="0"/>
              <a:cs typeface="Times New Roman" panose="02020603050405020304" pitchFamily="18" charset="0"/>
            </a:endParaRPr>
          </a:p>
        </p:txBody>
      </p:sp>
      <p:sp>
        <p:nvSpPr>
          <p:cNvPr id="4" name="Text 2"/>
          <p:cNvSpPr/>
          <p:nvPr/>
        </p:nvSpPr>
        <p:spPr>
          <a:xfrm>
            <a:off x="4662526" y="2505456"/>
            <a:ext cx="6557162" cy="329184"/>
          </a:xfrm>
          <a:prstGeom prst="rect">
            <a:avLst/>
          </a:prstGeom>
          <a:noFill/>
          <a:ln/>
        </p:spPr>
        <p:txBody>
          <a:bodyPr wrap="square" lIns="0" tIns="0" rIns="0" bIns="0" rtlCol="0" anchor="ctr">
            <a:normAutofit/>
          </a:bodyPr>
          <a:lstStyle/>
          <a:p>
            <a:pPr marL="0" indent="0" algn="l">
              <a:buNone/>
            </a:pPr>
            <a:r>
              <a:rPr lang="en-US" sz="1200" b="1" dirty="0">
                <a:solidFill>
                  <a:srgbClr val="172B42"/>
                </a:solidFill>
                <a:latin typeface="Times New Roman" panose="02020603050405020304" pitchFamily="18" charset="0"/>
                <a:ea typeface="Inter" pitchFamily="34" charset="-122"/>
                <a:cs typeface="Times New Roman" panose="02020603050405020304" pitchFamily="18" charset="0"/>
              </a:rPr>
              <a:t>Better requirement</a:t>
            </a:r>
            <a:endParaRPr lang="en-US" sz="1200" dirty="0">
              <a:latin typeface="Times New Roman" panose="02020603050405020304" pitchFamily="18" charset="0"/>
              <a:cs typeface="Times New Roman" panose="02020603050405020304" pitchFamily="18" charset="0"/>
            </a:endParaRPr>
          </a:p>
        </p:txBody>
      </p:sp>
      <p:sp>
        <p:nvSpPr>
          <p:cNvPr id="5" name="Shape 3"/>
          <p:cNvSpPr/>
          <p:nvPr/>
        </p:nvSpPr>
        <p:spPr>
          <a:xfrm>
            <a:off x="914400" y="2898648"/>
            <a:ext cx="10369296" cy="603504"/>
          </a:xfrm>
          <a:prstGeom prst="rect">
            <a:avLst/>
          </a:prstGeom>
          <a:solidFill>
            <a:srgbClr val="EEF4F8"/>
          </a:solidFill>
          <a:ln w="12700">
            <a:solidFill>
              <a:srgbClr val="F0F5F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6" name="Text 4"/>
          <p:cNvSpPr/>
          <p:nvPr/>
        </p:nvSpPr>
        <p:spPr>
          <a:xfrm>
            <a:off x="1033272" y="2990088"/>
            <a:ext cx="3455518" cy="448056"/>
          </a:xfrm>
          <a:prstGeom prst="rect">
            <a:avLst/>
          </a:prstGeom>
          <a:noFill/>
          <a:ln/>
        </p:spPr>
        <p:txBody>
          <a:bodyPr wrap="square" lIns="0" tIns="0" rIns="0" bIns="0" rtlCol="0" anchor="ctr">
            <a:normAutofit/>
          </a:bodyPr>
          <a:lstStyle/>
          <a:p>
            <a:pPr marL="0" indent="0" algn="l">
              <a:buNone/>
            </a:pPr>
            <a:r>
              <a:rPr lang="en-US" sz="1400" b="1" dirty="0">
                <a:solidFill>
                  <a:srgbClr val="172B42"/>
                </a:solidFill>
                <a:latin typeface="Times New Roman" panose="02020603050405020304" pitchFamily="18" charset="0"/>
                <a:ea typeface="Inter" pitchFamily="34" charset="-122"/>
                <a:cs typeface="Times New Roman" panose="02020603050405020304" pitchFamily="18" charset="0"/>
              </a:rPr>
              <a:t>Make a dashboard</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4662526" y="2990088"/>
            <a:ext cx="6566306" cy="448056"/>
          </a:xfrm>
          <a:prstGeom prst="rect">
            <a:avLst/>
          </a:prstGeom>
          <a:noFill/>
          <a:ln/>
        </p:spPr>
        <p:txBody>
          <a:bodyPr wrap="square" lIns="0" tIns="0" rIns="0" bIns="0" rtlCol="0" anchor="ctr">
            <a:normAutofit/>
          </a:bodyPr>
          <a:lstStyle/>
          <a:p>
            <a:pPr marL="0" indent="0" algn="l">
              <a:buNone/>
            </a:pPr>
            <a:r>
              <a:rPr lang="en-US" sz="1400" dirty="0">
                <a:solidFill>
                  <a:srgbClr val="5C6D80"/>
                </a:solidFill>
                <a:latin typeface="Times New Roman" panose="02020603050405020304" pitchFamily="18" charset="0"/>
                <a:ea typeface="Inter" pitchFamily="34" charset="-122"/>
                <a:cs typeface="Times New Roman" panose="02020603050405020304" pitchFamily="18" charset="0"/>
              </a:rPr>
              <a:t>Show completed, cancelled and no-show counts.</a:t>
            </a:r>
            <a:endParaRPr lang="en-US" sz="1400" dirty="0">
              <a:latin typeface="Times New Roman" panose="02020603050405020304" pitchFamily="18" charset="0"/>
              <a:cs typeface="Times New Roman" panose="02020603050405020304" pitchFamily="18" charset="0"/>
            </a:endParaRPr>
          </a:p>
        </p:txBody>
      </p:sp>
      <p:sp>
        <p:nvSpPr>
          <p:cNvPr id="8" name="Shape 6"/>
          <p:cNvSpPr/>
          <p:nvPr/>
        </p:nvSpPr>
        <p:spPr>
          <a:xfrm>
            <a:off x="914400" y="3502152"/>
            <a:ext cx="10369296" cy="603504"/>
          </a:xfrm>
          <a:prstGeom prst="rect">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1033272" y="3593592"/>
            <a:ext cx="3455518" cy="448056"/>
          </a:xfrm>
          <a:prstGeom prst="rect">
            <a:avLst/>
          </a:prstGeom>
          <a:noFill/>
          <a:ln/>
        </p:spPr>
        <p:txBody>
          <a:bodyPr wrap="square" lIns="0" tIns="0" rIns="0" bIns="0" rtlCol="0" anchor="ctr">
            <a:normAutofit/>
          </a:bodyPr>
          <a:lstStyle/>
          <a:p>
            <a:pPr marL="0" indent="0" algn="l">
              <a:buNone/>
            </a:pPr>
            <a:r>
              <a:rPr lang="en-US" sz="1400" b="1" dirty="0">
                <a:solidFill>
                  <a:srgbClr val="172B42"/>
                </a:solidFill>
                <a:latin typeface="Times New Roman" panose="02020603050405020304" pitchFamily="18" charset="0"/>
                <a:ea typeface="Inter" pitchFamily="34" charset="-122"/>
                <a:cs typeface="Times New Roman" panose="02020603050405020304" pitchFamily="18" charset="0"/>
              </a:rPr>
              <a:t>Show performance</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4662526" y="3593592"/>
            <a:ext cx="6566306" cy="448056"/>
          </a:xfrm>
          <a:prstGeom prst="rect">
            <a:avLst/>
          </a:prstGeom>
          <a:noFill/>
          <a:ln/>
        </p:spPr>
        <p:txBody>
          <a:bodyPr wrap="square" lIns="0" tIns="0" rIns="0" bIns="0" rtlCol="0" anchor="ctr">
            <a:normAutofit/>
          </a:bodyPr>
          <a:lstStyle/>
          <a:p>
            <a:pPr marL="0" indent="0" algn="l">
              <a:buNone/>
            </a:pPr>
            <a:r>
              <a:rPr lang="en-US" sz="1400" dirty="0">
                <a:solidFill>
                  <a:srgbClr val="5C6D80"/>
                </a:solidFill>
                <a:latin typeface="Times New Roman" panose="02020603050405020304" pitchFamily="18" charset="0"/>
                <a:ea typeface="Inter" pitchFamily="34" charset="-122"/>
                <a:cs typeface="Times New Roman" panose="02020603050405020304" pitchFamily="18" charset="0"/>
              </a:rPr>
              <a:t>Use a defined completion-rate formula.</a:t>
            </a:r>
            <a:endParaRPr lang="en-US" sz="1400" dirty="0">
              <a:latin typeface="Times New Roman" panose="02020603050405020304" pitchFamily="18" charset="0"/>
              <a:cs typeface="Times New Roman" panose="02020603050405020304" pitchFamily="18" charset="0"/>
            </a:endParaRPr>
          </a:p>
        </p:txBody>
      </p:sp>
      <p:sp>
        <p:nvSpPr>
          <p:cNvPr id="11" name="Shape 9"/>
          <p:cNvSpPr/>
          <p:nvPr/>
        </p:nvSpPr>
        <p:spPr>
          <a:xfrm>
            <a:off x="914400" y="4105656"/>
            <a:ext cx="10369296" cy="603504"/>
          </a:xfrm>
          <a:prstGeom prst="rect">
            <a:avLst/>
          </a:prstGeom>
          <a:solidFill>
            <a:srgbClr val="EEF4F8"/>
          </a:solidFill>
          <a:ln w="12700">
            <a:solidFill>
              <a:srgbClr val="F0F5F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Text 10"/>
          <p:cNvSpPr/>
          <p:nvPr/>
        </p:nvSpPr>
        <p:spPr>
          <a:xfrm>
            <a:off x="1033272" y="4197096"/>
            <a:ext cx="3455518" cy="448056"/>
          </a:xfrm>
          <a:prstGeom prst="rect">
            <a:avLst/>
          </a:prstGeom>
          <a:noFill/>
          <a:ln/>
        </p:spPr>
        <p:txBody>
          <a:bodyPr wrap="square" lIns="0" tIns="0" rIns="0" bIns="0" rtlCol="0" anchor="ctr">
            <a:normAutofit/>
          </a:bodyPr>
          <a:lstStyle/>
          <a:p>
            <a:pPr marL="0" indent="0" algn="l">
              <a:buNone/>
            </a:pPr>
            <a:r>
              <a:rPr lang="en-US" sz="1400" b="1" dirty="0">
                <a:solidFill>
                  <a:srgbClr val="172B42"/>
                </a:solidFill>
                <a:latin typeface="Times New Roman" panose="02020603050405020304" pitchFamily="18" charset="0"/>
                <a:ea typeface="Inter" pitchFamily="34" charset="-122"/>
                <a:cs typeface="Times New Roman" panose="02020603050405020304" pitchFamily="18" charset="0"/>
              </a:rPr>
              <a:t>Make it useful</a:t>
            </a:r>
            <a:endParaRPr lang="en-US" sz="1400" dirty="0">
              <a:latin typeface="Times New Roman" panose="02020603050405020304" pitchFamily="18" charset="0"/>
              <a:cs typeface="Times New Roman" panose="02020603050405020304" pitchFamily="18" charset="0"/>
            </a:endParaRPr>
          </a:p>
        </p:txBody>
      </p:sp>
      <p:sp>
        <p:nvSpPr>
          <p:cNvPr id="13" name="Text 11"/>
          <p:cNvSpPr/>
          <p:nvPr/>
        </p:nvSpPr>
        <p:spPr>
          <a:xfrm>
            <a:off x="4662526" y="4197096"/>
            <a:ext cx="6566306" cy="448056"/>
          </a:xfrm>
          <a:prstGeom prst="rect">
            <a:avLst/>
          </a:prstGeom>
          <a:noFill/>
          <a:ln/>
        </p:spPr>
        <p:txBody>
          <a:bodyPr wrap="square" lIns="0" tIns="0" rIns="0" bIns="0" rtlCol="0" anchor="ctr">
            <a:normAutofit/>
          </a:bodyPr>
          <a:lstStyle/>
          <a:p>
            <a:pPr marL="0" indent="0" algn="l">
              <a:buNone/>
            </a:pPr>
            <a:r>
              <a:rPr lang="en-US" sz="1400" dirty="0">
                <a:solidFill>
                  <a:srgbClr val="5C6D80"/>
                </a:solidFill>
                <a:latin typeface="Times New Roman" panose="02020603050405020304" pitchFamily="18" charset="0"/>
                <a:ea typeface="Inter" pitchFamily="34" charset="-122"/>
                <a:cs typeface="Times New Roman" panose="02020603050405020304" pitchFamily="18" charset="0"/>
              </a:rPr>
              <a:t>Allow filter by date and specialization.</a:t>
            </a:r>
            <a:endParaRPr lang="en-US" sz="1400" dirty="0">
              <a:latin typeface="Times New Roman" panose="02020603050405020304" pitchFamily="18" charset="0"/>
              <a:cs typeface="Times New Roman" panose="02020603050405020304" pitchFamily="18" charset="0"/>
            </a:endParaRPr>
          </a:p>
        </p:txBody>
      </p:sp>
      <p:sp>
        <p:nvSpPr>
          <p:cNvPr id="14" name="Shape 12"/>
          <p:cNvSpPr/>
          <p:nvPr/>
        </p:nvSpPr>
        <p:spPr>
          <a:xfrm>
            <a:off x="914400" y="4709160"/>
            <a:ext cx="10369296" cy="603504"/>
          </a:xfrm>
          <a:prstGeom prst="rect">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5" name="Text 13"/>
          <p:cNvSpPr/>
          <p:nvPr/>
        </p:nvSpPr>
        <p:spPr>
          <a:xfrm>
            <a:off x="1033272" y="4800600"/>
            <a:ext cx="3455518" cy="448056"/>
          </a:xfrm>
          <a:prstGeom prst="rect">
            <a:avLst/>
          </a:prstGeom>
          <a:noFill/>
          <a:ln/>
        </p:spPr>
        <p:txBody>
          <a:bodyPr wrap="square" lIns="0" tIns="0" rIns="0" bIns="0" rtlCol="0" anchor="ctr">
            <a:normAutofit/>
          </a:bodyPr>
          <a:lstStyle/>
          <a:p>
            <a:pPr marL="0" indent="0" algn="l">
              <a:buNone/>
            </a:pPr>
            <a:r>
              <a:rPr lang="en-US" sz="1400" b="1" dirty="0">
                <a:solidFill>
                  <a:srgbClr val="172B42"/>
                </a:solidFill>
                <a:latin typeface="Times New Roman" panose="02020603050405020304" pitchFamily="18" charset="0"/>
                <a:ea typeface="Inter" pitchFamily="34" charset="-122"/>
                <a:cs typeface="Times New Roman" panose="02020603050405020304" pitchFamily="18" charset="0"/>
              </a:rPr>
              <a:t>It should be correct</a:t>
            </a:r>
            <a:endParaRPr lang="en-US" sz="1400" dirty="0">
              <a:latin typeface="Times New Roman" panose="02020603050405020304" pitchFamily="18" charset="0"/>
              <a:cs typeface="Times New Roman" panose="02020603050405020304" pitchFamily="18" charset="0"/>
            </a:endParaRPr>
          </a:p>
        </p:txBody>
      </p:sp>
      <p:sp>
        <p:nvSpPr>
          <p:cNvPr id="16" name="Text 14"/>
          <p:cNvSpPr/>
          <p:nvPr/>
        </p:nvSpPr>
        <p:spPr>
          <a:xfrm>
            <a:off x="4662526" y="4800600"/>
            <a:ext cx="6566306" cy="448056"/>
          </a:xfrm>
          <a:prstGeom prst="rect">
            <a:avLst/>
          </a:prstGeom>
          <a:noFill/>
          <a:ln/>
        </p:spPr>
        <p:txBody>
          <a:bodyPr wrap="square" lIns="0" tIns="0" rIns="0" bIns="0" rtlCol="0" anchor="ctr">
            <a:normAutofit/>
          </a:bodyPr>
          <a:lstStyle/>
          <a:p>
            <a:pPr marL="0" indent="0" algn="l">
              <a:buNone/>
            </a:pPr>
            <a:r>
              <a:rPr lang="en-US" sz="1400" dirty="0">
                <a:solidFill>
                  <a:srgbClr val="5C6D80"/>
                </a:solidFill>
                <a:latin typeface="Times New Roman" panose="02020603050405020304" pitchFamily="18" charset="0"/>
                <a:ea typeface="Inter" pitchFamily="34" charset="-122"/>
                <a:cs typeface="Times New Roman" panose="02020603050405020304" pitchFamily="18" charset="0"/>
              </a:rPr>
              <a:t>Reconcile displayed totals with validated records.</a:t>
            </a:r>
            <a:endParaRPr lang="en-US" sz="1400" dirty="0">
              <a:latin typeface="Times New Roman" panose="02020603050405020304" pitchFamily="18" charset="0"/>
              <a:cs typeface="Times New Roman" panose="02020603050405020304" pitchFamily="18" charset="0"/>
            </a:endParaRPr>
          </a:p>
        </p:txBody>
      </p:sp>
      <p:sp>
        <p:nvSpPr>
          <p:cNvPr id="17" name="Shape 15"/>
          <p:cNvSpPr/>
          <p:nvPr/>
        </p:nvSpPr>
        <p:spPr>
          <a:xfrm>
            <a:off x="621792" y="5650992"/>
            <a:ext cx="10948111" cy="493776"/>
          </a:xfrm>
          <a:prstGeom prst="roundRect">
            <a:avLst>
              <a:gd name="adj" fmla="val 22222"/>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Text 16"/>
          <p:cNvSpPr/>
          <p:nvPr/>
        </p:nvSpPr>
        <p:spPr>
          <a:xfrm>
            <a:off x="822960" y="5705856"/>
            <a:ext cx="1316736" cy="365760"/>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INSIGHT</a:t>
            </a:r>
            <a:endParaRPr lang="en-US" sz="1030" dirty="0">
              <a:latin typeface="Times New Roman" panose="02020603050405020304" pitchFamily="18" charset="0"/>
              <a:cs typeface="Times New Roman" panose="02020603050405020304" pitchFamily="18" charset="0"/>
            </a:endParaRPr>
          </a:p>
        </p:txBody>
      </p:sp>
      <p:sp>
        <p:nvSpPr>
          <p:cNvPr id="19" name="Text 17"/>
          <p:cNvSpPr/>
          <p:nvPr/>
        </p:nvSpPr>
        <p:spPr>
          <a:xfrm>
            <a:off x="2221992" y="5705856"/>
            <a:ext cx="9101023" cy="365760"/>
          </a:xfrm>
          <a:prstGeom prst="rect">
            <a:avLst/>
          </a:prstGeom>
          <a:noFill/>
          <a:ln/>
        </p:spPr>
        <p:txBody>
          <a:bodyPr wrap="square" lIns="0" tIns="0" rIns="0" bIns="0" rtlCol="0" anchor="ctr">
            <a:normAutofit/>
          </a:bodyPr>
          <a:lstStyle/>
          <a:p>
            <a:pPr marL="0" indent="0" algn="l">
              <a:buNone/>
            </a:pPr>
            <a:r>
              <a:rPr lang="en-US" sz="1340" b="1" dirty="0">
                <a:solidFill>
                  <a:srgbClr val="172B42"/>
                </a:solidFill>
                <a:latin typeface="Times New Roman" panose="02020603050405020304" pitchFamily="18" charset="0"/>
                <a:ea typeface="Inter" pitchFamily="34" charset="-122"/>
                <a:cs typeface="Times New Roman" panose="02020603050405020304" pitchFamily="18" charset="0"/>
              </a:rPr>
              <a:t>A good requirement is testable and understandable.</a:t>
            </a:r>
            <a:endParaRPr lang="en-US" sz="1340" dirty="0">
              <a:latin typeface="Times New Roman" panose="02020603050405020304" pitchFamily="18" charset="0"/>
              <a:cs typeface="Times New Roman" panose="02020603050405020304" pitchFamily="18" charset="0"/>
            </a:endParaRPr>
          </a:p>
        </p:txBody>
      </p:sp>
      <p:sp>
        <p:nvSpPr>
          <p:cNvPr id="20" name="Text 18"/>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From vague request to clear requirement</a:t>
            </a:r>
            <a:endParaRPr lang="en-US" sz="3180" dirty="0">
              <a:latin typeface="Times New Roman" panose="02020603050405020304" pitchFamily="18" charset="0"/>
              <a:cs typeface="Times New Roman" panose="02020603050405020304" pitchFamily="18" charset="0"/>
            </a:endParaRPr>
          </a:p>
        </p:txBody>
      </p:sp>
      <p:sp>
        <p:nvSpPr>
          <p:cNvPr id="21" name="Text 19"/>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BUSINESS ANALYST</a:t>
            </a:r>
            <a:endParaRPr lang="en-US" sz="1050" dirty="0">
              <a:latin typeface="Times New Roman" panose="02020603050405020304" pitchFamily="18" charset="0"/>
              <a:cs typeface="Times New Roman" panose="02020603050405020304" pitchFamily="18" charset="0"/>
            </a:endParaRPr>
          </a:p>
        </p:txBody>
      </p:sp>
      <p:sp>
        <p:nvSpPr>
          <p:cNvPr id="23" name="Shape 21"/>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4" name="Shape 22"/>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5" name="Text 23"/>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26" name="Text 24"/>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52</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04672" y="2340864"/>
            <a:ext cx="7040880" cy="2898648"/>
          </a:xfrm>
          <a:prstGeom prst="roundRect">
            <a:avLst>
              <a:gd name="adj" fmla="val 5363"/>
            </a:avLst>
          </a:prstGeom>
          <a:solidFill>
            <a:srgbClr val="EAF2F7"/>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Text 1"/>
          <p:cNvSpPr/>
          <p:nvPr/>
        </p:nvSpPr>
        <p:spPr>
          <a:xfrm>
            <a:off x="1161288" y="2816352"/>
            <a:ext cx="6355080" cy="2011680"/>
          </a:xfrm>
          <a:prstGeom prst="rect">
            <a:avLst/>
          </a:prstGeom>
          <a:noFill/>
          <a:ln/>
        </p:spPr>
        <p:txBody>
          <a:bodyPr wrap="square" lIns="0" tIns="0" rIns="0" bIns="0" rtlCol="0" anchor="ctr">
            <a:normAutofit/>
          </a:bodyPr>
          <a:lstStyle/>
          <a:p>
            <a:pPr marL="0" indent="0" algn="l">
              <a:buNone/>
            </a:pPr>
            <a:r>
              <a:rPr lang="en-US" sz="3000" b="1" dirty="0">
                <a:solidFill>
                  <a:srgbClr val="172B42"/>
                </a:solidFill>
                <a:latin typeface="Times New Roman" panose="02020603050405020304" pitchFamily="18" charset="0"/>
                <a:ea typeface="Inter" pitchFamily="34" charset="-122"/>
                <a:cs typeface="Times New Roman" panose="02020603050405020304" pitchFamily="18" charset="0"/>
              </a:rPr>
              <a:t>Does “reduce cancellations” mean fewer cancellations—or a lower cancellation rate?</a:t>
            </a:r>
            <a:endParaRPr lang="en-US" sz="3000" dirty="0">
              <a:latin typeface="Times New Roman" panose="02020603050405020304" pitchFamily="18" charset="0"/>
              <a:cs typeface="Times New Roman" panose="02020603050405020304" pitchFamily="18" charset="0"/>
            </a:endParaRPr>
          </a:p>
        </p:txBody>
      </p:sp>
      <p:sp>
        <p:nvSpPr>
          <p:cNvPr id="4" name="Shape 2"/>
          <p:cNvSpPr/>
          <p:nvPr/>
        </p:nvSpPr>
        <p:spPr>
          <a:xfrm>
            <a:off x="8092440" y="2340864"/>
            <a:ext cx="3273552" cy="2898648"/>
          </a:xfrm>
          <a:prstGeom prst="roundRect">
            <a:avLst>
              <a:gd name="adj" fmla="val 5363"/>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5" name="Text 3"/>
          <p:cNvSpPr/>
          <p:nvPr/>
        </p:nvSpPr>
        <p:spPr>
          <a:xfrm>
            <a:off x="8375904" y="2670048"/>
            <a:ext cx="2724912" cy="384048"/>
          </a:xfrm>
          <a:prstGeom prst="rect">
            <a:avLst/>
          </a:prstGeom>
          <a:noFill/>
          <a:ln/>
        </p:spPr>
        <p:txBody>
          <a:bodyPr wrap="square" lIns="0" tIns="0" rIns="0" bIns="0" rtlCol="0" anchor="ctr">
            <a:normAutofit/>
          </a:bodyPr>
          <a:lstStyle/>
          <a:p>
            <a:pPr marL="0" indent="0" algn="l">
              <a:buNone/>
            </a:pPr>
            <a:r>
              <a:rPr lang="en-US" sz="1700" b="1" dirty="0">
                <a:solidFill>
                  <a:srgbClr val="087B75"/>
                </a:solidFill>
                <a:latin typeface="Times New Roman" panose="02020603050405020304" pitchFamily="18" charset="0"/>
                <a:ea typeface="Inter" pitchFamily="34" charset="-122"/>
                <a:cs typeface="Times New Roman" panose="02020603050405020304" pitchFamily="18" charset="0"/>
              </a:rPr>
              <a:t>CHECK THE KPI</a:t>
            </a:r>
            <a:endParaRPr lang="en-US" sz="1700" dirty="0">
              <a:latin typeface="Times New Roman" panose="02020603050405020304" pitchFamily="18" charset="0"/>
              <a:cs typeface="Times New Roman" panose="02020603050405020304" pitchFamily="18" charset="0"/>
            </a:endParaRPr>
          </a:p>
        </p:txBody>
      </p:sp>
      <p:sp>
        <p:nvSpPr>
          <p:cNvPr id="6" name="Text 4"/>
          <p:cNvSpPr/>
          <p:nvPr/>
        </p:nvSpPr>
        <p:spPr>
          <a:xfrm>
            <a:off x="8375904" y="3282696"/>
            <a:ext cx="2670048" cy="1243584"/>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Define numerator, denominator, reporting period and exclusions.</a:t>
            </a:r>
            <a:endParaRPr lang="en-US" sz="1900" dirty="0">
              <a:latin typeface="Times New Roman" panose="02020603050405020304" pitchFamily="18" charset="0"/>
              <a:cs typeface="Times New Roman" panose="02020603050405020304" pitchFamily="18" charset="0"/>
            </a:endParaRPr>
          </a:p>
        </p:txBody>
      </p:sp>
      <p:sp>
        <p:nvSpPr>
          <p:cNvPr id="7" name="Text 5"/>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Define “success” precisely</a:t>
            </a:r>
            <a:endParaRPr lang="en-US" sz="3180" dirty="0">
              <a:latin typeface="Times New Roman" panose="02020603050405020304" pitchFamily="18" charset="0"/>
              <a:cs typeface="Times New Roman" panose="02020603050405020304" pitchFamily="18" charset="0"/>
            </a:endParaRPr>
          </a:p>
        </p:txBody>
      </p:sp>
      <p:sp>
        <p:nvSpPr>
          <p:cNvPr id="8" name="Text 6"/>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BUSINESS ANALYST</a:t>
            </a:r>
            <a:endParaRPr lang="en-US" sz="1050" dirty="0">
              <a:latin typeface="Times New Roman" panose="02020603050405020304" pitchFamily="18" charset="0"/>
              <a:cs typeface="Times New Roman" panose="02020603050405020304" pitchFamily="18" charset="0"/>
            </a:endParaRPr>
          </a:p>
        </p:txBody>
      </p:sp>
      <p:sp>
        <p:nvSpPr>
          <p:cNvPr id="10" name="Shape 8"/>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Shape 9"/>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Text 10"/>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3" name="Text 11"/>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53</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61288" y="3749040"/>
            <a:ext cx="9866376" cy="0"/>
          </a:xfrm>
          <a:prstGeom prst="line">
            <a:avLst/>
          </a:prstGeom>
          <a:noFill/>
          <a:ln w="38100">
            <a:solidFill>
              <a:srgbClr val="B5C2D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1042416" y="3621024"/>
            <a:ext cx="237744" cy="237744"/>
          </a:xfrm>
          <a:prstGeom prst="ellipse">
            <a:avLst/>
          </a:prstGeom>
          <a:solidFill>
            <a:srgbClr val="0D9488"/>
          </a:solidFill>
          <a:ln w="16510">
            <a:solidFill>
              <a:srgbClr val="FFFFFF"/>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338328" y="2478024"/>
            <a:ext cx="1645920" cy="731520"/>
          </a:xfrm>
          <a:prstGeom prst="rect">
            <a:avLst/>
          </a:prstGeom>
          <a:noFill/>
          <a:ln/>
        </p:spPr>
        <p:txBody>
          <a:bodyPr wrap="square" lIns="0" tIns="0" rIns="0" bIns="0" rtlCol="0" anchor="b">
            <a:normAutofit/>
          </a:bodyPr>
          <a:lstStyle/>
          <a:p>
            <a:pPr marL="0" indent="0" algn="ctr">
              <a:buNone/>
            </a:pPr>
            <a:r>
              <a:rPr lang="en-US" sz="1550" b="1" dirty="0">
                <a:solidFill>
                  <a:srgbClr val="172B42"/>
                </a:solidFill>
                <a:latin typeface="Times New Roman" panose="02020603050405020304" pitchFamily="18" charset="0"/>
                <a:ea typeface="Inter" pitchFamily="34" charset="-122"/>
                <a:cs typeface="Times New Roman" panose="02020603050405020304" pitchFamily="18" charset="0"/>
              </a:rPr>
              <a:t>Business basics</a:t>
            </a:r>
            <a:endParaRPr lang="en-US" sz="1550" dirty="0">
              <a:latin typeface="Times New Roman" panose="02020603050405020304" pitchFamily="18" charset="0"/>
              <a:cs typeface="Times New Roman" panose="02020603050405020304" pitchFamily="18" charset="0"/>
            </a:endParaRPr>
          </a:p>
        </p:txBody>
      </p:sp>
      <p:sp>
        <p:nvSpPr>
          <p:cNvPr id="5" name="Text 3"/>
          <p:cNvSpPr/>
          <p:nvPr/>
        </p:nvSpPr>
        <p:spPr>
          <a:xfrm>
            <a:off x="228600" y="4023360"/>
            <a:ext cx="1865376" cy="978408"/>
          </a:xfrm>
          <a:prstGeom prst="rect">
            <a:avLst/>
          </a:prstGeom>
          <a:noFill/>
          <a:ln/>
        </p:spPr>
        <p:txBody>
          <a:bodyPr wrap="square" lIns="0" tIns="0" rIns="0" bIns="0" rtlCol="0" anchor="t">
            <a:normAutofit/>
          </a:bodyPr>
          <a:lstStyle/>
          <a:p>
            <a:pPr marL="0" indent="0" algn="ctr">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Processes and domain understanding</a:t>
            </a:r>
            <a:endParaRPr lang="en-US" sz="1280" dirty="0">
              <a:latin typeface="Times New Roman" panose="02020603050405020304" pitchFamily="18" charset="0"/>
              <a:cs typeface="Times New Roman" panose="02020603050405020304" pitchFamily="18" charset="0"/>
            </a:endParaRPr>
          </a:p>
        </p:txBody>
      </p:sp>
      <p:sp>
        <p:nvSpPr>
          <p:cNvPr id="6" name="Shape 4"/>
          <p:cNvSpPr/>
          <p:nvPr/>
        </p:nvSpPr>
        <p:spPr>
          <a:xfrm>
            <a:off x="4334256" y="3621024"/>
            <a:ext cx="237744" cy="237744"/>
          </a:xfrm>
          <a:prstGeom prst="ellipse">
            <a:avLst/>
          </a:prstGeom>
          <a:solidFill>
            <a:srgbClr val="3B82F6"/>
          </a:solidFill>
          <a:ln w="16510">
            <a:solidFill>
              <a:srgbClr val="FFFFFF"/>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Text 5"/>
          <p:cNvSpPr/>
          <p:nvPr/>
        </p:nvSpPr>
        <p:spPr>
          <a:xfrm>
            <a:off x="3630168" y="2478024"/>
            <a:ext cx="1645920" cy="731520"/>
          </a:xfrm>
          <a:prstGeom prst="rect">
            <a:avLst/>
          </a:prstGeom>
          <a:noFill/>
          <a:ln/>
        </p:spPr>
        <p:txBody>
          <a:bodyPr wrap="square" lIns="0" tIns="0" rIns="0" bIns="0" rtlCol="0" anchor="b">
            <a:normAutofit/>
          </a:bodyPr>
          <a:lstStyle/>
          <a:p>
            <a:pPr marL="0" indent="0" algn="ctr">
              <a:buNone/>
            </a:pPr>
            <a:r>
              <a:rPr lang="en-US" sz="1550" b="1" dirty="0">
                <a:solidFill>
                  <a:srgbClr val="172B42"/>
                </a:solidFill>
                <a:latin typeface="Times New Roman" panose="02020603050405020304" pitchFamily="18" charset="0"/>
                <a:ea typeface="Inter" pitchFamily="34" charset="-122"/>
                <a:cs typeface="Times New Roman" panose="02020603050405020304" pitchFamily="18" charset="0"/>
              </a:rPr>
              <a:t>Excel + SQL</a:t>
            </a:r>
            <a:endParaRPr lang="en-US" sz="1550" dirty="0">
              <a:latin typeface="Times New Roman" panose="02020603050405020304" pitchFamily="18" charset="0"/>
              <a:cs typeface="Times New Roman" panose="02020603050405020304" pitchFamily="18" charset="0"/>
            </a:endParaRPr>
          </a:p>
        </p:txBody>
      </p:sp>
      <p:sp>
        <p:nvSpPr>
          <p:cNvPr id="8" name="Text 6"/>
          <p:cNvSpPr/>
          <p:nvPr/>
        </p:nvSpPr>
        <p:spPr>
          <a:xfrm>
            <a:off x="3520440" y="4023360"/>
            <a:ext cx="1865376" cy="978408"/>
          </a:xfrm>
          <a:prstGeom prst="rect">
            <a:avLst/>
          </a:prstGeom>
          <a:noFill/>
          <a:ln/>
        </p:spPr>
        <p:txBody>
          <a:bodyPr wrap="square" lIns="0" tIns="0" rIns="0" bIns="0" rtlCol="0" anchor="t">
            <a:normAutofit/>
          </a:bodyPr>
          <a:lstStyle/>
          <a:p>
            <a:pPr marL="0" indent="0" algn="ctr">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Simple analysis and validation</a:t>
            </a:r>
            <a:endParaRPr lang="en-US" sz="1280" dirty="0">
              <a:latin typeface="Times New Roman" panose="02020603050405020304" pitchFamily="18" charset="0"/>
              <a:cs typeface="Times New Roman" panose="02020603050405020304" pitchFamily="18" charset="0"/>
            </a:endParaRPr>
          </a:p>
        </p:txBody>
      </p:sp>
      <p:sp>
        <p:nvSpPr>
          <p:cNvPr id="9" name="Shape 7"/>
          <p:cNvSpPr/>
          <p:nvPr/>
        </p:nvSpPr>
        <p:spPr>
          <a:xfrm>
            <a:off x="7626096" y="3621024"/>
            <a:ext cx="237744" cy="237744"/>
          </a:xfrm>
          <a:prstGeom prst="ellipse">
            <a:avLst/>
          </a:prstGeom>
          <a:solidFill>
            <a:srgbClr val="8052D8"/>
          </a:solidFill>
          <a:ln w="16510">
            <a:solidFill>
              <a:srgbClr val="FFFFFF"/>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0" name="Text 8"/>
          <p:cNvSpPr/>
          <p:nvPr/>
        </p:nvSpPr>
        <p:spPr>
          <a:xfrm>
            <a:off x="6922008" y="2478024"/>
            <a:ext cx="1645920" cy="731520"/>
          </a:xfrm>
          <a:prstGeom prst="rect">
            <a:avLst/>
          </a:prstGeom>
          <a:noFill/>
          <a:ln/>
        </p:spPr>
        <p:txBody>
          <a:bodyPr wrap="square" lIns="0" tIns="0" rIns="0" bIns="0" rtlCol="0" anchor="b">
            <a:normAutofit/>
          </a:bodyPr>
          <a:lstStyle/>
          <a:p>
            <a:pPr marL="0" indent="0" algn="ctr">
              <a:buNone/>
            </a:pPr>
            <a:r>
              <a:rPr lang="en-US" sz="1550" b="1" dirty="0">
                <a:solidFill>
                  <a:srgbClr val="172B42"/>
                </a:solidFill>
                <a:latin typeface="Times New Roman" panose="02020603050405020304" pitchFamily="18" charset="0"/>
                <a:ea typeface="Inter" pitchFamily="34" charset="-122"/>
                <a:cs typeface="Times New Roman" panose="02020603050405020304" pitchFamily="18" charset="0"/>
              </a:rPr>
              <a:t>Requirements</a:t>
            </a:r>
            <a:endParaRPr lang="en-US" sz="1550" dirty="0">
              <a:latin typeface="Times New Roman" panose="02020603050405020304" pitchFamily="18" charset="0"/>
              <a:cs typeface="Times New Roman" panose="02020603050405020304" pitchFamily="18" charset="0"/>
            </a:endParaRPr>
          </a:p>
        </p:txBody>
      </p:sp>
      <p:sp>
        <p:nvSpPr>
          <p:cNvPr id="11" name="Text 9"/>
          <p:cNvSpPr/>
          <p:nvPr/>
        </p:nvSpPr>
        <p:spPr>
          <a:xfrm>
            <a:off x="6812280" y="4023360"/>
            <a:ext cx="1865376" cy="978408"/>
          </a:xfrm>
          <a:prstGeom prst="rect">
            <a:avLst/>
          </a:prstGeom>
          <a:noFill/>
          <a:ln/>
        </p:spPr>
        <p:txBody>
          <a:bodyPr wrap="square" lIns="0" tIns="0" rIns="0" bIns="0" rtlCol="0" anchor="t">
            <a:normAutofit/>
          </a:bodyPr>
          <a:lstStyle/>
          <a:p>
            <a:pPr marL="0" indent="0" algn="ctr">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User stories, KPIs and process maps</a:t>
            </a:r>
            <a:endParaRPr lang="en-US" sz="1280" dirty="0">
              <a:latin typeface="Times New Roman" panose="02020603050405020304" pitchFamily="18" charset="0"/>
              <a:cs typeface="Times New Roman" panose="02020603050405020304" pitchFamily="18" charset="0"/>
            </a:endParaRPr>
          </a:p>
        </p:txBody>
      </p:sp>
      <p:sp>
        <p:nvSpPr>
          <p:cNvPr id="12" name="Shape 10"/>
          <p:cNvSpPr/>
          <p:nvPr/>
        </p:nvSpPr>
        <p:spPr>
          <a:xfrm>
            <a:off x="10917936" y="3621024"/>
            <a:ext cx="237744" cy="237744"/>
          </a:xfrm>
          <a:prstGeom prst="ellipse">
            <a:avLst/>
          </a:prstGeom>
          <a:solidFill>
            <a:srgbClr val="E8A23A"/>
          </a:solidFill>
          <a:ln w="16510">
            <a:solidFill>
              <a:srgbClr val="FFFFFF"/>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3" name="Text 11"/>
          <p:cNvSpPr/>
          <p:nvPr/>
        </p:nvSpPr>
        <p:spPr>
          <a:xfrm>
            <a:off x="10213848" y="2478024"/>
            <a:ext cx="1645920" cy="731520"/>
          </a:xfrm>
          <a:prstGeom prst="rect">
            <a:avLst/>
          </a:prstGeom>
          <a:noFill/>
          <a:ln/>
        </p:spPr>
        <p:txBody>
          <a:bodyPr wrap="square" lIns="0" tIns="0" rIns="0" bIns="0" rtlCol="0" anchor="b">
            <a:normAutofit/>
          </a:bodyPr>
          <a:lstStyle/>
          <a:p>
            <a:pPr marL="0" indent="0" algn="ctr">
              <a:buNone/>
            </a:pPr>
            <a:r>
              <a:rPr lang="en-US" sz="1550" b="1" dirty="0">
                <a:solidFill>
                  <a:srgbClr val="172B42"/>
                </a:solidFill>
                <a:latin typeface="Times New Roman" panose="02020603050405020304" pitchFamily="18" charset="0"/>
                <a:ea typeface="Inter" pitchFamily="34" charset="-122"/>
                <a:cs typeface="Times New Roman" panose="02020603050405020304" pitchFamily="18" charset="0"/>
              </a:rPr>
              <a:t>Delivery</a:t>
            </a:r>
            <a:endParaRPr lang="en-US" sz="1550" dirty="0">
              <a:latin typeface="Times New Roman" panose="02020603050405020304" pitchFamily="18" charset="0"/>
              <a:cs typeface="Times New Roman" panose="02020603050405020304" pitchFamily="18" charset="0"/>
            </a:endParaRPr>
          </a:p>
        </p:txBody>
      </p:sp>
      <p:sp>
        <p:nvSpPr>
          <p:cNvPr id="14" name="Text 12"/>
          <p:cNvSpPr/>
          <p:nvPr/>
        </p:nvSpPr>
        <p:spPr>
          <a:xfrm>
            <a:off x="10104120" y="4023360"/>
            <a:ext cx="1865376" cy="978408"/>
          </a:xfrm>
          <a:prstGeom prst="rect">
            <a:avLst/>
          </a:prstGeom>
          <a:noFill/>
          <a:ln/>
        </p:spPr>
        <p:txBody>
          <a:bodyPr wrap="square" lIns="0" tIns="0" rIns="0" bIns="0" rtlCol="0" anchor="t">
            <a:normAutofit/>
          </a:bodyPr>
          <a:lstStyle/>
          <a:p>
            <a:pPr marL="0" indent="0" algn="ctr">
              <a:buNone/>
            </a:pPr>
            <a:r>
              <a:rPr lang="en-US" sz="1280" dirty="0">
                <a:solidFill>
                  <a:srgbClr val="5C6D80"/>
                </a:solidFill>
                <a:latin typeface="Times New Roman" panose="02020603050405020304" pitchFamily="18" charset="0"/>
                <a:ea typeface="Inter" pitchFamily="34" charset="-122"/>
                <a:cs typeface="Times New Roman" panose="02020603050405020304" pitchFamily="18" charset="0"/>
              </a:rPr>
              <a:t>UAT, demos, communication</a:t>
            </a:r>
            <a:endParaRPr lang="en-US" sz="1280" dirty="0">
              <a:latin typeface="Times New Roman" panose="02020603050405020304" pitchFamily="18" charset="0"/>
              <a:cs typeface="Times New Roman" panose="02020603050405020304" pitchFamily="18" charset="0"/>
            </a:endParaRPr>
          </a:p>
        </p:txBody>
      </p:sp>
      <p:sp>
        <p:nvSpPr>
          <p:cNvPr id="15" name="Text 13"/>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A possible BA learning path</a:t>
            </a:r>
            <a:endParaRPr lang="en-US" sz="3180" dirty="0">
              <a:latin typeface="Times New Roman" panose="02020603050405020304" pitchFamily="18" charset="0"/>
              <a:cs typeface="Times New Roman" panose="02020603050405020304" pitchFamily="18" charset="0"/>
            </a:endParaRPr>
          </a:p>
        </p:txBody>
      </p:sp>
      <p:sp>
        <p:nvSpPr>
          <p:cNvPr id="16" name="Text 14"/>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BUSINESS ANALYST</a:t>
            </a:r>
            <a:endParaRPr lang="en-US" sz="1050" dirty="0">
              <a:latin typeface="Times New Roman" panose="02020603050405020304" pitchFamily="18" charset="0"/>
              <a:cs typeface="Times New Roman" panose="02020603050405020304" pitchFamily="18" charset="0"/>
            </a:endParaRPr>
          </a:p>
        </p:txBody>
      </p:sp>
      <p:sp>
        <p:nvSpPr>
          <p:cNvPr id="18" name="Shape 16"/>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9" name="Shape 17"/>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0" name="Text 18"/>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21" name="Text 19"/>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54</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621792" y="2487168"/>
            <a:ext cx="64008" cy="2834640"/>
          </a:xfrm>
          <a:prstGeom prst="rect">
            <a:avLst/>
          </a:prstGeom>
          <a:solidFill>
            <a:srgbClr val="E8A23A"/>
          </a:solidFill>
          <a:ln w="12700">
            <a:solidFill>
              <a:srgbClr val="E8A23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859536"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Analysis</a:t>
            </a:r>
            <a:endParaRPr lang="en-US" sz="1900" dirty="0">
              <a:latin typeface="Times New Roman" panose="02020603050405020304" pitchFamily="18" charset="0"/>
              <a:cs typeface="Times New Roman" panose="02020603050405020304" pitchFamily="18" charset="0"/>
            </a:endParaRPr>
          </a:p>
        </p:txBody>
      </p:sp>
      <p:sp>
        <p:nvSpPr>
          <p:cNvPr id="5" name="Text 3"/>
          <p:cNvSpPr/>
          <p:nvPr/>
        </p:nvSpPr>
        <p:spPr>
          <a:xfrm>
            <a:off x="859536"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Excel · basic SQL · process metrics</a:t>
            </a:r>
            <a:endParaRPr lang="en-US" sz="1510" dirty="0">
              <a:latin typeface="Times New Roman" panose="02020603050405020304" pitchFamily="18" charset="0"/>
              <a:cs typeface="Times New Roman" panose="02020603050405020304" pitchFamily="18" charset="0"/>
            </a:endParaRPr>
          </a:p>
        </p:txBody>
      </p:sp>
      <p:sp>
        <p:nvSpPr>
          <p:cNvPr id="6" name="Shape 4"/>
          <p:cNvSpPr/>
          <p:nvPr/>
        </p:nvSpPr>
        <p:spPr>
          <a:xfrm>
            <a:off x="4335170"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4335170" y="2487168"/>
            <a:ext cx="64008" cy="2834640"/>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4572914"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Collaboration</a:t>
            </a:r>
            <a:endParaRPr lang="en-US" sz="1900" dirty="0">
              <a:latin typeface="Times New Roman" panose="02020603050405020304" pitchFamily="18" charset="0"/>
              <a:cs typeface="Times New Roman" panose="02020603050405020304" pitchFamily="18" charset="0"/>
            </a:endParaRPr>
          </a:p>
        </p:txBody>
      </p:sp>
      <p:sp>
        <p:nvSpPr>
          <p:cNvPr id="9" name="Text 7"/>
          <p:cNvSpPr/>
          <p:nvPr/>
        </p:nvSpPr>
        <p:spPr>
          <a:xfrm>
            <a:off x="4572914"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Requirements docs · user stories · diagrams</a:t>
            </a:r>
            <a:endParaRPr lang="en-US" sz="1510" dirty="0">
              <a:latin typeface="Times New Roman" panose="02020603050405020304" pitchFamily="18" charset="0"/>
              <a:cs typeface="Times New Roman" panose="02020603050405020304" pitchFamily="18" charset="0"/>
            </a:endParaRPr>
          </a:p>
        </p:txBody>
      </p:sp>
      <p:sp>
        <p:nvSpPr>
          <p:cNvPr id="10" name="Shape 8"/>
          <p:cNvSpPr/>
          <p:nvPr/>
        </p:nvSpPr>
        <p:spPr>
          <a:xfrm>
            <a:off x="8048549"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Shape 9"/>
          <p:cNvSpPr/>
          <p:nvPr/>
        </p:nvSpPr>
        <p:spPr>
          <a:xfrm>
            <a:off x="8048549" y="2487168"/>
            <a:ext cx="64008" cy="2834640"/>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Text 10"/>
          <p:cNvSpPr/>
          <p:nvPr/>
        </p:nvSpPr>
        <p:spPr>
          <a:xfrm>
            <a:off x="8286293"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Reporting</a:t>
            </a:r>
            <a:endParaRPr lang="en-US" sz="1900" dirty="0">
              <a:latin typeface="Times New Roman" panose="02020603050405020304" pitchFamily="18" charset="0"/>
              <a:cs typeface="Times New Roman" panose="02020603050405020304" pitchFamily="18" charset="0"/>
            </a:endParaRPr>
          </a:p>
        </p:txBody>
      </p:sp>
      <p:sp>
        <p:nvSpPr>
          <p:cNvPr id="13" name="Text 11"/>
          <p:cNvSpPr/>
          <p:nvPr/>
        </p:nvSpPr>
        <p:spPr>
          <a:xfrm>
            <a:off x="8286293"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Tableau or Power BI · presentations</a:t>
            </a:r>
            <a:endParaRPr lang="en-US" sz="151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A BA toolkit</a:t>
            </a:r>
            <a:endParaRPr lang="en-US" sz="3180" dirty="0">
              <a:latin typeface="Times New Roman" panose="02020603050405020304" pitchFamily="18" charset="0"/>
              <a:cs typeface="Times New Roman" panose="02020603050405020304" pitchFamily="18" charset="0"/>
            </a:endParaRPr>
          </a:p>
        </p:txBody>
      </p:sp>
      <p:sp>
        <p:nvSpPr>
          <p:cNvPr id="15" name="Text 13"/>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BUSINESS ANALYST</a:t>
            </a:r>
            <a:endParaRPr lang="en-US" sz="1050" dirty="0">
              <a:latin typeface="Times New Roman" panose="02020603050405020304" pitchFamily="18" charset="0"/>
              <a:cs typeface="Times New Roman" panose="02020603050405020304" pitchFamily="18" charset="0"/>
            </a:endParaRPr>
          </a:p>
        </p:txBody>
      </p:sp>
      <p:sp>
        <p:nvSpPr>
          <p:cNvPr id="17" name="Shape 15"/>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Shape 16"/>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9" name="Text 17"/>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20" name="Text 18"/>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55</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5" y="2331720"/>
            <a:ext cx="10710367" cy="3108960"/>
          </a:xfrm>
          <a:prstGeom prst="roundRect">
            <a:avLst>
              <a:gd name="adj" fmla="val 470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Text 1"/>
          <p:cNvSpPr/>
          <p:nvPr/>
        </p:nvSpPr>
        <p:spPr>
          <a:xfrm>
            <a:off x="1088136" y="2606040"/>
            <a:ext cx="1645920" cy="292608"/>
          </a:xfrm>
          <a:prstGeom prst="rect">
            <a:avLst/>
          </a:prstGeom>
          <a:noFill/>
          <a:ln/>
        </p:spPr>
        <p:txBody>
          <a:bodyPr wrap="square" lIns="0" tIns="0" rIns="0" bIns="0" rtlCol="0" anchor="ctr">
            <a:normAutofit/>
          </a:bodyPr>
          <a:lstStyle/>
          <a:p>
            <a:pPr marL="0" indent="0" algn="l">
              <a:buNone/>
            </a:pPr>
            <a:r>
              <a:rPr lang="en-US" sz="1200" b="1" dirty="0">
                <a:solidFill>
                  <a:srgbClr val="087B75"/>
                </a:solidFill>
                <a:latin typeface="Times New Roman" panose="02020603050405020304" pitchFamily="18" charset="0"/>
                <a:ea typeface="Inter" pitchFamily="34" charset="-122"/>
                <a:cs typeface="Times New Roman" panose="02020603050405020304" pitchFamily="18" charset="0"/>
              </a:rPr>
              <a:t>TASK</a:t>
            </a:r>
            <a:endParaRPr lang="en-US" sz="1200" dirty="0">
              <a:latin typeface="Times New Roman" panose="02020603050405020304" pitchFamily="18" charset="0"/>
              <a:cs typeface="Times New Roman" panose="02020603050405020304" pitchFamily="18" charset="0"/>
            </a:endParaRPr>
          </a:p>
        </p:txBody>
      </p:sp>
      <p:sp>
        <p:nvSpPr>
          <p:cNvPr id="4" name="Shape 2"/>
          <p:cNvSpPr/>
          <p:nvPr/>
        </p:nvSpPr>
        <p:spPr>
          <a:xfrm>
            <a:off x="1078992" y="3154680"/>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5" name="Text 3"/>
          <p:cNvSpPr/>
          <p:nvPr/>
        </p:nvSpPr>
        <p:spPr>
          <a:xfrm>
            <a:off x="1325880" y="2890912"/>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One person plays the hospital manager.</a:t>
            </a:r>
            <a:endParaRPr lang="en-US" sz="1900" dirty="0">
              <a:latin typeface="Times New Roman" panose="02020603050405020304" pitchFamily="18" charset="0"/>
              <a:cs typeface="Times New Roman" panose="02020603050405020304" pitchFamily="18" charset="0"/>
            </a:endParaRPr>
          </a:p>
        </p:txBody>
      </p:sp>
      <p:sp>
        <p:nvSpPr>
          <p:cNvPr id="6" name="Shape 4"/>
          <p:cNvSpPr/>
          <p:nvPr/>
        </p:nvSpPr>
        <p:spPr>
          <a:xfrm>
            <a:off x="1078992" y="3776472"/>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Text 5"/>
          <p:cNvSpPr/>
          <p:nvPr/>
        </p:nvSpPr>
        <p:spPr>
          <a:xfrm>
            <a:off x="1325880" y="3512704"/>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One person asks three clarifying questions.</a:t>
            </a:r>
            <a:endParaRPr lang="en-US" sz="1900" dirty="0">
              <a:latin typeface="Times New Roman" panose="02020603050405020304" pitchFamily="18" charset="0"/>
              <a:cs typeface="Times New Roman" panose="02020603050405020304" pitchFamily="18" charset="0"/>
            </a:endParaRPr>
          </a:p>
        </p:txBody>
      </p:sp>
      <p:sp>
        <p:nvSpPr>
          <p:cNvPr id="8" name="Shape 6"/>
          <p:cNvSpPr/>
          <p:nvPr/>
        </p:nvSpPr>
        <p:spPr>
          <a:xfrm>
            <a:off x="1078992" y="4398264"/>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1325880" y="4134496"/>
            <a:ext cx="5925312" cy="585216"/>
          </a:xfrm>
          <a:prstGeom prst="rect">
            <a:avLst/>
          </a:prstGeom>
          <a:noFill/>
          <a:ln/>
        </p:spPr>
        <p:txBody>
          <a:bodyPr wrap="square" lIns="0" tIns="0" rIns="0" bIns="0" rtlCol="0" anchor="ctr">
            <a:normAutofit/>
          </a:bodyPr>
          <a:lstStyle/>
          <a:p>
            <a:pPr marL="0" indent="0" algn="l">
              <a:buNone/>
            </a:pPr>
            <a:r>
              <a:rPr lang="en-US" sz="1900" dirty="0">
                <a:solidFill>
                  <a:srgbClr val="172B42"/>
                </a:solidFill>
                <a:latin typeface="Times New Roman" panose="02020603050405020304" pitchFamily="18" charset="0"/>
                <a:ea typeface="Inter" pitchFamily="34" charset="-122"/>
                <a:cs typeface="Times New Roman" panose="02020603050405020304" pitchFamily="18" charset="0"/>
              </a:rPr>
              <a:t>One person writes a testable dashboard requirement.</a:t>
            </a:r>
            <a:endParaRPr lang="en-US" sz="1900" dirty="0">
              <a:latin typeface="Times New Roman" panose="02020603050405020304" pitchFamily="18" charset="0"/>
              <a:cs typeface="Times New Roman" panose="02020603050405020304" pitchFamily="18" charset="0"/>
            </a:endParaRPr>
          </a:p>
        </p:txBody>
      </p:sp>
      <p:sp>
        <p:nvSpPr>
          <p:cNvPr id="13" name="Text 11"/>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Role-play: The stakeholder interview</a:t>
            </a:r>
            <a:endParaRPr lang="en-US" sz="318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ALL ABOUT BUSINESS ANALYST</a:t>
            </a:r>
            <a:endParaRPr lang="en-US" sz="1050" dirty="0">
              <a:latin typeface="Times New Roman" panose="02020603050405020304" pitchFamily="18" charset="0"/>
              <a:cs typeface="Times New Roman" panose="02020603050405020304" pitchFamily="18" charset="0"/>
            </a:endParaRPr>
          </a:p>
        </p:txBody>
      </p:sp>
      <p:sp>
        <p:nvSpPr>
          <p:cNvPr id="16" name="Shape 14"/>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Shape 15"/>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Text 16"/>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9" name="Text 17"/>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56</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60120" y="1051560"/>
            <a:ext cx="2743200" cy="813816"/>
          </a:xfrm>
          <a:prstGeom prst="rect">
            <a:avLst/>
          </a:prstGeom>
          <a:noFill/>
          <a:ln/>
        </p:spPr>
        <p:txBody>
          <a:bodyPr wrap="square" lIns="0" tIns="0" rIns="0" bIns="0" rtlCol="0" anchor="ctr">
            <a:normAutofit fontScale="92500" lnSpcReduction="20000"/>
          </a:bodyPr>
          <a:lstStyle/>
          <a:p>
            <a:pPr marL="0" indent="0" algn="l">
              <a:buNone/>
            </a:pPr>
            <a:r>
              <a:rPr lang="en-US" sz="7100" b="1" dirty="0">
                <a:solidFill>
                  <a:srgbClr val="172B42"/>
                </a:solidFill>
                <a:latin typeface="Times New Roman" panose="02020603050405020304" pitchFamily="18" charset="0"/>
                <a:ea typeface="Inter" pitchFamily="34" charset="-122"/>
                <a:cs typeface="Times New Roman" panose="02020603050405020304" pitchFamily="18" charset="0"/>
              </a:rPr>
              <a:t>06</a:t>
            </a:r>
            <a:endParaRPr lang="en-US" sz="7100" dirty="0">
              <a:latin typeface="Times New Roman" panose="02020603050405020304" pitchFamily="18" charset="0"/>
              <a:cs typeface="Times New Roman" panose="02020603050405020304" pitchFamily="18" charset="0"/>
            </a:endParaRPr>
          </a:p>
        </p:txBody>
      </p:sp>
      <p:sp>
        <p:nvSpPr>
          <p:cNvPr id="3" name="Text 1"/>
          <p:cNvSpPr/>
          <p:nvPr/>
        </p:nvSpPr>
        <p:spPr>
          <a:xfrm>
            <a:off x="960120" y="2231136"/>
            <a:ext cx="10378440" cy="914400"/>
          </a:xfrm>
          <a:prstGeom prst="rect">
            <a:avLst/>
          </a:prstGeom>
          <a:noFill/>
          <a:ln/>
        </p:spPr>
        <p:txBody>
          <a:bodyPr wrap="square" lIns="0" tIns="0" rIns="0" bIns="0" rtlCol="0" anchor="ctr">
            <a:normAutofit/>
          </a:bodyPr>
          <a:lstStyle/>
          <a:p>
            <a:pPr marL="0" indent="0" algn="l">
              <a:buNone/>
            </a:pPr>
            <a:r>
              <a:rPr lang="en-US" sz="4400" b="1" dirty="0">
                <a:solidFill>
                  <a:srgbClr val="172B42"/>
                </a:solidFill>
                <a:latin typeface="Times New Roman" panose="02020603050405020304" pitchFamily="18" charset="0"/>
                <a:ea typeface="Inter" pitchFamily="34" charset="-122"/>
                <a:cs typeface="Times New Roman" panose="02020603050405020304" pitchFamily="18" charset="0"/>
              </a:rPr>
              <a:t>Tomorrow, we build it.</a:t>
            </a:r>
            <a:endParaRPr lang="en-US" sz="4400" dirty="0">
              <a:latin typeface="Times New Roman" panose="02020603050405020304" pitchFamily="18" charset="0"/>
              <a:cs typeface="Times New Roman" panose="02020603050405020304" pitchFamily="18" charset="0"/>
            </a:endParaRPr>
          </a:p>
        </p:txBody>
      </p:sp>
      <p:sp>
        <p:nvSpPr>
          <p:cNvPr id="4" name="Text 2"/>
          <p:cNvSpPr/>
          <p:nvPr/>
        </p:nvSpPr>
        <p:spPr>
          <a:xfrm>
            <a:off x="996696" y="3429000"/>
            <a:ext cx="9829800" cy="914400"/>
          </a:xfrm>
          <a:prstGeom prst="rect">
            <a:avLst/>
          </a:prstGeom>
          <a:noFill/>
          <a:ln/>
        </p:spPr>
        <p:txBody>
          <a:bodyPr wrap="square" lIns="0" tIns="0" rIns="0" bIns="0" rtlCol="0" anchor="ctr">
            <a:normAutofit/>
          </a:bodyPr>
          <a:lstStyle/>
          <a:p>
            <a:pPr marL="0" indent="0" algn="l">
              <a:buNone/>
            </a:pPr>
            <a:r>
              <a:rPr lang="en-US" sz="2100" dirty="0">
                <a:solidFill>
                  <a:srgbClr val="5C6D80"/>
                </a:solidFill>
                <a:latin typeface="Times New Roman" panose="02020603050405020304" pitchFamily="18" charset="0"/>
                <a:ea typeface="Inter" pitchFamily="34" charset="-122"/>
                <a:cs typeface="Times New Roman" panose="02020603050405020304" pitchFamily="18" charset="0"/>
              </a:rPr>
              <a:t>Today: understand the system. Tomorrow: work through it.</a:t>
            </a:r>
            <a:endParaRPr lang="en-US" sz="2100" dirty="0">
              <a:latin typeface="Times New Roman" panose="02020603050405020304" pitchFamily="18" charset="0"/>
              <a:cs typeface="Times New Roman" panose="02020603050405020304" pitchFamily="18" charset="0"/>
            </a:endParaRPr>
          </a:p>
        </p:txBody>
      </p:sp>
      <p:sp>
        <p:nvSpPr>
          <p:cNvPr id="5" name="Shape 3"/>
          <p:cNvSpPr/>
          <p:nvPr/>
        </p:nvSpPr>
        <p:spPr>
          <a:xfrm>
            <a:off x="978408" y="4718304"/>
            <a:ext cx="1106424" cy="91440"/>
          </a:xfrm>
          <a:prstGeom prst="roundRect">
            <a:avLst>
              <a:gd name="adj" fmla="val 40000"/>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6" name="Text 4"/>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DAY 2 OVERVIEW &amp; CLOSING</a:t>
            </a:r>
            <a:endParaRPr lang="en-US" sz="1050" dirty="0">
              <a:latin typeface="Times New Roman" panose="02020603050405020304" pitchFamily="18" charset="0"/>
              <a:cs typeface="Times New Roman" panose="02020603050405020304" pitchFamily="18" charset="0"/>
            </a:endParaRPr>
          </a:p>
        </p:txBody>
      </p:sp>
      <p:sp>
        <p:nvSpPr>
          <p:cNvPr id="8" name="Shape 6"/>
          <p:cNvSpPr/>
          <p:nvPr/>
        </p:nvSpPr>
        <p:spPr>
          <a:xfrm>
            <a:off x="621792" y="658368"/>
            <a:ext cx="10948111" cy="0"/>
          </a:xfrm>
          <a:prstGeom prst="line">
            <a:avLst/>
          </a:prstGeom>
          <a:noFill/>
          <a:ln w="15240">
            <a:solidFill>
              <a:srgbClr val="34506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Shape 7"/>
          <p:cNvSpPr/>
          <p:nvPr/>
        </p:nvSpPr>
        <p:spPr>
          <a:xfrm>
            <a:off x="621792" y="6455664"/>
            <a:ext cx="10948111" cy="0"/>
          </a:xfrm>
          <a:prstGeom prst="line">
            <a:avLst/>
          </a:prstGeom>
          <a:noFill/>
          <a:ln w="12700">
            <a:solidFill>
              <a:srgbClr val="34506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0" name="Text 8"/>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1" name="Text 9"/>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57</a:t>
            </a:r>
            <a:endParaRPr lang="en-US" sz="900" dirty="0">
              <a:latin typeface="Times New Roman" panose="02020603050405020304" pitchFamily="18" charset="0"/>
              <a:cs typeface="Times New Roman" panose="02020603050405020304" pitchFamily="18" charset="0"/>
            </a:endParaRPr>
          </a:p>
        </p:txBody>
      </p:sp>
      <p:sp>
        <p:nvSpPr>
          <p:cNvPr id="12" name="Section underline"/>
          <p:cNvSpPr/>
          <p:nvPr/>
        </p:nvSpPr>
        <p:spPr>
          <a:xfrm>
            <a:off x="987552" y="4846320"/>
            <a:ext cx="1005840" cy="32004"/>
          </a:xfrm>
          <a:prstGeom prst="rect">
            <a:avLst/>
          </a:prstGeom>
          <a:solidFill>
            <a:srgbClr val="10A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2633472"/>
            <a:ext cx="2586152" cy="1682491"/>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621792" y="2633472"/>
            <a:ext cx="2586152" cy="73152"/>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813816" y="2871216"/>
            <a:ext cx="2202104"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Ingest</a:t>
            </a:r>
            <a:endParaRPr lang="en-US" sz="2000" dirty="0">
              <a:latin typeface="Times New Roman" panose="02020603050405020304" pitchFamily="18" charset="0"/>
              <a:cs typeface="Times New Roman" panose="02020603050405020304" pitchFamily="18" charset="0"/>
            </a:endParaRPr>
          </a:p>
        </p:txBody>
      </p:sp>
      <p:sp>
        <p:nvSpPr>
          <p:cNvPr id="5" name="Text 3"/>
          <p:cNvSpPr/>
          <p:nvPr/>
        </p:nvSpPr>
        <p:spPr>
          <a:xfrm>
            <a:off x="813816" y="3401568"/>
            <a:ext cx="2202104"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Open a sales dataset</a:t>
            </a:r>
            <a:endParaRPr lang="en-US" sz="1430" dirty="0">
              <a:latin typeface="Times New Roman" panose="02020603050405020304" pitchFamily="18" charset="0"/>
              <a:cs typeface="Times New Roman" panose="02020603050405020304" pitchFamily="18" charset="0"/>
            </a:endParaRPr>
          </a:p>
        </p:txBody>
      </p:sp>
      <p:sp>
        <p:nvSpPr>
          <p:cNvPr id="6" name="Shape 4"/>
          <p:cNvSpPr/>
          <p:nvPr/>
        </p:nvSpPr>
        <p:spPr>
          <a:xfrm>
            <a:off x="3223489" y="3316777"/>
            <a:ext cx="164592" cy="301752"/>
          </a:xfrm>
          <a:prstGeom prst="chevron">
            <a:avLst/>
          </a:prstGeom>
          <a:solidFill>
            <a:srgbClr val="B5C2D0"/>
          </a:solidFill>
          <a:ln w="12700">
            <a:solidFill>
              <a:srgbClr val="B5C2D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3409112" y="2633472"/>
            <a:ext cx="2586152" cy="1682491"/>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Shape 6"/>
          <p:cNvSpPr/>
          <p:nvPr/>
        </p:nvSpPr>
        <p:spPr>
          <a:xfrm>
            <a:off x="3409112" y="2633472"/>
            <a:ext cx="2586152" cy="73152"/>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3601136" y="2871216"/>
            <a:ext cx="2202104"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Clean</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3601136" y="3401568"/>
            <a:ext cx="2202104"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Fix data issues</a:t>
            </a:r>
            <a:endParaRPr lang="en-US" sz="1430" dirty="0">
              <a:latin typeface="Times New Roman" panose="02020603050405020304" pitchFamily="18" charset="0"/>
              <a:cs typeface="Times New Roman" panose="02020603050405020304" pitchFamily="18" charset="0"/>
            </a:endParaRPr>
          </a:p>
        </p:txBody>
      </p:sp>
      <p:sp>
        <p:nvSpPr>
          <p:cNvPr id="11" name="Shape 9"/>
          <p:cNvSpPr/>
          <p:nvPr/>
        </p:nvSpPr>
        <p:spPr>
          <a:xfrm>
            <a:off x="6010808" y="3316777"/>
            <a:ext cx="164592" cy="301752"/>
          </a:xfrm>
          <a:prstGeom prst="chevron">
            <a:avLst/>
          </a:prstGeom>
          <a:solidFill>
            <a:srgbClr val="B5C2D0"/>
          </a:solidFill>
          <a:ln w="12700">
            <a:solidFill>
              <a:srgbClr val="B5C2D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Shape 10"/>
          <p:cNvSpPr/>
          <p:nvPr/>
        </p:nvSpPr>
        <p:spPr>
          <a:xfrm>
            <a:off x="6196432" y="2633472"/>
            <a:ext cx="2586152" cy="1682491"/>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3" name="Shape 11"/>
          <p:cNvSpPr/>
          <p:nvPr/>
        </p:nvSpPr>
        <p:spPr>
          <a:xfrm>
            <a:off x="6196432" y="2633472"/>
            <a:ext cx="2586152" cy="73152"/>
          </a:xfrm>
          <a:prstGeom prst="rect">
            <a:avLst/>
          </a:prstGeom>
          <a:solidFill>
            <a:srgbClr val="8052D8"/>
          </a:solidFill>
          <a:ln w="12700">
            <a:solidFill>
              <a:srgbClr val="8052D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4" name="Text 12"/>
          <p:cNvSpPr/>
          <p:nvPr/>
        </p:nvSpPr>
        <p:spPr>
          <a:xfrm>
            <a:off x="6388456" y="2871216"/>
            <a:ext cx="2202104"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Analyze</a:t>
            </a:r>
            <a:endParaRPr lang="en-US" sz="2000" dirty="0">
              <a:latin typeface="Times New Roman" panose="02020603050405020304" pitchFamily="18" charset="0"/>
              <a:cs typeface="Times New Roman" panose="02020603050405020304" pitchFamily="18" charset="0"/>
            </a:endParaRPr>
          </a:p>
        </p:txBody>
      </p:sp>
      <p:sp>
        <p:nvSpPr>
          <p:cNvPr id="15" name="Text 13"/>
          <p:cNvSpPr/>
          <p:nvPr/>
        </p:nvSpPr>
        <p:spPr>
          <a:xfrm>
            <a:off x="6388456" y="3401568"/>
            <a:ext cx="2202104"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SQL + KPIs</a:t>
            </a:r>
            <a:endParaRPr lang="en-US" sz="1430" dirty="0">
              <a:latin typeface="Times New Roman" panose="02020603050405020304" pitchFamily="18" charset="0"/>
              <a:cs typeface="Times New Roman" panose="02020603050405020304" pitchFamily="18" charset="0"/>
            </a:endParaRPr>
          </a:p>
        </p:txBody>
      </p:sp>
      <p:sp>
        <p:nvSpPr>
          <p:cNvPr id="16" name="Shape 14"/>
          <p:cNvSpPr/>
          <p:nvPr/>
        </p:nvSpPr>
        <p:spPr>
          <a:xfrm>
            <a:off x="8798128" y="3316777"/>
            <a:ext cx="164592" cy="301752"/>
          </a:xfrm>
          <a:prstGeom prst="chevron">
            <a:avLst/>
          </a:prstGeom>
          <a:solidFill>
            <a:srgbClr val="B5C2D0"/>
          </a:solidFill>
          <a:ln w="12700">
            <a:solidFill>
              <a:srgbClr val="B5C2D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7" name="Shape 15"/>
          <p:cNvSpPr/>
          <p:nvPr/>
        </p:nvSpPr>
        <p:spPr>
          <a:xfrm>
            <a:off x="8983751" y="2633472"/>
            <a:ext cx="2586152" cy="1682491"/>
          </a:xfrm>
          <a:prstGeom prst="roundRect">
            <a:avLst>
              <a:gd name="adj" fmla="val 6173"/>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Shape 16"/>
          <p:cNvSpPr/>
          <p:nvPr/>
        </p:nvSpPr>
        <p:spPr>
          <a:xfrm>
            <a:off x="8983751" y="2633472"/>
            <a:ext cx="2586152" cy="73152"/>
          </a:xfrm>
          <a:prstGeom prst="rect">
            <a:avLst/>
          </a:prstGeom>
          <a:solidFill>
            <a:srgbClr val="E8A23A"/>
          </a:solidFill>
          <a:ln w="12700">
            <a:solidFill>
              <a:srgbClr val="E8A23A"/>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9" name="Text 17"/>
          <p:cNvSpPr/>
          <p:nvPr/>
        </p:nvSpPr>
        <p:spPr>
          <a:xfrm>
            <a:off x="9175775" y="2871216"/>
            <a:ext cx="2202104" cy="402336"/>
          </a:xfrm>
          <a:prstGeom prst="rect">
            <a:avLst/>
          </a:prstGeom>
          <a:noFill/>
          <a:ln/>
        </p:spPr>
        <p:txBody>
          <a:bodyPr wrap="square" lIns="0" tIns="0" rIns="0" bIns="0" rtlCol="0" anchor="ctr">
            <a:normAutofit/>
          </a:bodyPr>
          <a:lstStyle/>
          <a:p>
            <a:pPr marL="0" indent="0" algn="l">
              <a:buNone/>
            </a:pPr>
            <a:r>
              <a:rPr lang="en-US" sz="2000" b="1" dirty="0">
                <a:solidFill>
                  <a:srgbClr val="172B42"/>
                </a:solidFill>
                <a:latin typeface="Times New Roman" panose="02020603050405020304" pitchFamily="18" charset="0"/>
                <a:ea typeface="Inter" pitchFamily="34" charset="-122"/>
                <a:cs typeface="Times New Roman" panose="02020603050405020304" pitchFamily="18" charset="0"/>
              </a:rPr>
              <a:t>Present</a:t>
            </a:r>
            <a:endParaRPr lang="en-US" sz="2000" dirty="0">
              <a:latin typeface="Times New Roman" panose="02020603050405020304" pitchFamily="18" charset="0"/>
              <a:cs typeface="Times New Roman" panose="02020603050405020304" pitchFamily="18" charset="0"/>
            </a:endParaRPr>
          </a:p>
        </p:txBody>
      </p:sp>
      <p:sp>
        <p:nvSpPr>
          <p:cNvPr id="20" name="Text 18"/>
          <p:cNvSpPr/>
          <p:nvPr/>
        </p:nvSpPr>
        <p:spPr>
          <a:xfrm>
            <a:off x="9175775" y="3401568"/>
            <a:ext cx="2202104" cy="1307592"/>
          </a:xfrm>
          <a:prstGeom prst="rect">
            <a:avLst/>
          </a:prstGeom>
          <a:noFill/>
          <a:ln/>
        </p:spPr>
        <p:txBody>
          <a:bodyPr wrap="square" lIns="0" tIns="0" rIns="0" bIns="0" rtlCol="0" anchor="t">
            <a:normAutofit/>
          </a:bodyPr>
          <a:lstStyle/>
          <a:p>
            <a:pPr marL="0" indent="0" algn="l">
              <a:buNone/>
            </a:pPr>
            <a:r>
              <a:rPr lang="en-US" sz="1430" dirty="0">
                <a:solidFill>
                  <a:srgbClr val="5C6D80"/>
                </a:solidFill>
                <a:latin typeface="Times New Roman" panose="02020603050405020304" pitchFamily="18" charset="0"/>
                <a:ea typeface="Inter" pitchFamily="34" charset="-122"/>
                <a:cs typeface="Times New Roman" panose="02020603050405020304" pitchFamily="18" charset="0"/>
              </a:rPr>
              <a:t>Dashboard + insight</a:t>
            </a:r>
            <a:endParaRPr lang="en-US" sz="1430" dirty="0">
              <a:latin typeface="Times New Roman" panose="02020603050405020304" pitchFamily="18" charset="0"/>
              <a:cs typeface="Times New Roman" panose="02020603050405020304" pitchFamily="18" charset="0"/>
            </a:endParaRPr>
          </a:p>
        </p:txBody>
      </p:sp>
      <p:sp>
        <p:nvSpPr>
          <p:cNvPr id="21" name="Shape 19"/>
          <p:cNvSpPr/>
          <p:nvPr/>
        </p:nvSpPr>
        <p:spPr>
          <a:xfrm>
            <a:off x="621792" y="5650992"/>
            <a:ext cx="10948111" cy="493776"/>
          </a:xfrm>
          <a:prstGeom prst="roundRect">
            <a:avLst>
              <a:gd name="adj" fmla="val 22222"/>
            </a:avLst>
          </a:prstGeom>
          <a:solidFill>
            <a:srgbClr val="E6F6F2"/>
          </a:solidFill>
          <a:ln w="12700">
            <a:solidFill>
              <a:srgbClr val="D9F5F0"/>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2" name="Text 20"/>
          <p:cNvSpPr/>
          <p:nvPr/>
        </p:nvSpPr>
        <p:spPr>
          <a:xfrm>
            <a:off x="822960" y="5705856"/>
            <a:ext cx="1316736" cy="365760"/>
          </a:xfrm>
          <a:prstGeom prst="rect">
            <a:avLst/>
          </a:prstGeom>
          <a:noFill/>
          <a:ln/>
        </p:spPr>
        <p:txBody>
          <a:bodyPr wrap="square" lIns="0" tIns="0" rIns="0" bIns="0" rtlCol="0" anchor="ctr">
            <a:normAutofit/>
          </a:bodyPr>
          <a:lstStyle/>
          <a:p>
            <a:pPr marL="0" indent="0" algn="l">
              <a:buNone/>
            </a:pPr>
            <a:r>
              <a:rPr lang="en-US" sz="1030" b="1" dirty="0">
                <a:solidFill>
                  <a:srgbClr val="087B75"/>
                </a:solidFill>
                <a:latin typeface="Times New Roman" panose="02020603050405020304" pitchFamily="18" charset="0"/>
                <a:ea typeface="Inter" pitchFamily="34" charset="-122"/>
                <a:cs typeface="Times New Roman" panose="02020603050405020304" pitchFamily="18" charset="0"/>
              </a:rPr>
              <a:t>REMEMBER</a:t>
            </a:r>
            <a:endParaRPr lang="en-US" sz="1030" dirty="0">
              <a:latin typeface="Times New Roman" panose="02020603050405020304" pitchFamily="18" charset="0"/>
              <a:cs typeface="Times New Roman" panose="02020603050405020304" pitchFamily="18" charset="0"/>
            </a:endParaRPr>
          </a:p>
        </p:txBody>
      </p:sp>
      <p:sp>
        <p:nvSpPr>
          <p:cNvPr id="23" name="Text 21"/>
          <p:cNvSpPr/>
          <p:nvPr/>
        </p:nvSpPr>
        <p:spPr>
          <a:xfrm>
            <a:off x="2221992" y="5705856"/>
            <a:ext cx="9101023" cy="365760"/>
          </a:xfrm>
          <a:prstGeom prst="rect">
            <a:avLst/>
          </a:prstGeom>
          <a:noFill/>
          <a:ln/>
        </p:spPr>
        <p:txBody>
          <a:bodyPr wrap="square" lIns="0" tIns="0" rIns="0" bIns="0" rtlCol="0" anchor="ctr">
            <a:normAutofit/>
          </a:bodyPr>
          <a:lstStyle/>
          <a:p>
            <a:pPr marL="0" indent="0" algn="l">
              <a:buNone/>
            </a:pPr>
            <a:r>
              <a:rPr lang="en-US" sz="1340" b="1" dirty="0">
                <a:solidFill>
                  <a:srgbClr val="172B42"/>
                </a:solidFill>
                <a:latin typeface="Times New Roman" panose="02020603050405020304" pitchFamily="18" charset="0"/>
                <a:ea typeface="Inter" pitchFamily="34" charset="-122"/>
                <a:cs typeface="Times New Roman" panose="02020603050405020304" pitchFamily="18" charset="0"/>
              </a:rPr>
              <a:t>You can always use Excel, SQL, Python, Tableau or a combination.</a:t>
            </a:r>
            <a:endParaRPr lang="en-US" sz="1340" dirty="0">
              <a:latin typeface="Times New Roman" panose="02020603050405020304" pitchFamily="18" charset="0"/>
              <a:cs typeface="Times New Roman" panose="02020603050405020304" pitchFamily="18" charset="0"/>
            </a:endParaRPr>
          </a:p>
        </p:txBody>
      </p:sp>
      <p:sp>
        <p:nvSpPr>
          <p:cNvPr id="24" name="Text 22"/>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What Day 2 will look like</a:t>
            </a:r>
            <a:endParaRPr lang="en-US" sz="3180" dirty="0">
              <a:latin typeface="Times New Roman" panose="02020603050405020304" pitchFamily="18" charset="0"/>
              <a:cs typeface="Times New Roman" panose="02020603050405020304" pitchFamily="18" charset="0"/>
            </a:endParaRPr>
          </a:p>
        </p:txBody>
      </p:sp>
      <p:sp>
        <p:nvSpPr>
          <p:cNvPr id="25" name="Text 23"/>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DAY 2 OVERVIEW &amp; CLOSING</a:t>
            </a:r>
            <a:endParaRPr lang="en-US" sz="1050" dirty="0">
              <a:latin typeface="Times New Roman" panose="02020603050405020304" pitchFamily="18" charset="0"/>
              <a:cs typeface="Times New Roman" panose="02020603050405020304" pitchFamily="18" charset="0"/>
            </a:endParaRPr>
          </a:p>
        </p:txBody>
      </p:sp>
      <p:sp>
        <p:nvSpPr>
          <p:cNvPr id="27" name="Shape 25"/>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8" name="Shape 26"/>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9" name="Text 27"/>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30" name="Text 28"/>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58</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Shape 1"/>
          <p:cNvSpPr/>
          <p:nvPr/>
        </p:nvSpPr>
        <p:spPr>
          <a:xfrm>
            <a:off x="621792" y="2487168"/>
            <a:ext cx="64008" cy="2834640"/>
          </a:xfrm>
          <a:prstGeom prst="rect">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 name="Text 2"/>
          <p:cNvSpPr/>
          <p:nvPr/>
        </p:nvSpPr>
        <p:spPr>
          <a:xfrm>
            <a:off x="859536"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Bring</a:t>
            </a:r>
            <a:endParaRPr lang="en-US" sz="1900" dirty="0">
              <a:latin typeface="Times New Roman" panose="02020603050405020304" pitchFamily="18" charset="0"/>
              <a:cs typeface="Times New Roman" panose="02020603050405020304" pitchFamily="18" charset="0"/>
            </a:endParaRPr>
          </a:p>
        </p:txBody>
      </p:sp>
      <p:sp>
        <p:nvSpPr>
          <p:cNvPr id="5" name="Text 3"/>
          <p:cNvSpPr/>
          <p:nvPr/>
        </p:nvSpPr>
        <p:spPr>
          <a:xfrm>
            <a:off x="859536"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Laptop, charger, and a curious mind.</a:t>
            </a:r>
            <a:endParaRPr lang="en-US" sz="1510" dirty="0">
              <a:latin typeface="Times New Roman" panose="02020603050405020304" pitchFamily="18" charset="0"/>
              <a:cs typeface="Times New Roman" panose="02020603050405020304" pitchFamily="18" charset="0"/>
            </a:endParaRPr>
          </a:p>
        </p:txBody>
      </p:sp>
      <p:sp>
        <p:nvSpPr>
          <p:cNvPr id="6" name="Shape 4"/>
          <p:cNvSpPr/>
          <p:nvPr/>
        </p:nvSpPr>
        <p:spPr>
          <a:xfrm>
            <a:off x="4335170"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Shape 5"/>
          <p:cNvSpPr/>
          <p:nvPr/>
        </p:nvSpPr>
        <p:spPr>
          <a:xfrm>
            <a:off x="4335170" y="2487168"/>
            <a:ext cx="64008" cy="2834640"/>
          </a:xfrm>
          <a:prstGeom prst="rect">
            <a:avLst/>
          </a:prstGeom>
          <a:solidFill>
            <a:srgbClr val="3B82F6"/>
          </a:solidFill>
          <a:ln w="12700">
            <a:solidFill>
              <a:srgbClr val="3B82F6"/>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Text 6"/>
          <p:cNvSpPr/>
          <p:nvPr/>
        </p:nvSpPr>
        <p:spPr>
          <a:xfrm>
            <a:off x="4572914"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Prepare</a:t>
            </a:r>
            <a:endParaRPr lang="en-US" sz="1900" dirty="0">
              <a:latin typeface="Times New Roman" panose="02020603050405020304" pitchFamily="18" charset="0"/>
              <a:cs typeface="Times New Roman" panose="02020603050405020304" pitchFamily="18" charset="0"/>
            </a:endParaRPr>
          </a:p>
        </p:txBody>
      </p:sp>
      <p:sp>
        <p:nvSpPr>
          <p:cNvPr id="9" name="Text 7"/>
          <p:cNvSpPr/>
          <p:nvPr/>
        </p:nvSpPr>
        <p:spPr>
          <a:xfrm>
            <a:off x="4572914"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Basic spreadsheet familiarity; optional SQL revision.</a:t>
            </a:r>
            <a:endParaRPr lang="en-US" sz="1510" dirty="0">
              <a:latin typeface="Times New Roman" panose="02020603050405020304" pitchFamily="18" charset="0"/>
              <a:cs typeface="Times New Roman" panose="02020603050405020304" pitchFamily="18" charset="0"/>
            </a:endParaRPr>
          </a:p>
        </p:txBody>
      </p:sp>
      <p:sp>
        <p:nvSpPr>
          <p:cNvPr id="10" name="Shape 8"/>
          <p:cNvSpPr/>
          <p:nvPr/>
        </p:nvSpPr>
        <p:spPr>
          <a:xfrm>
            <a:off x="8048549" y="2487168"/>
            <a:ext cx="3521354" cy="2834640"/>
          </a:xfrm>
          <a:prstGeom prst="roundRect">
            <a:avLst>
              <a:gd name="adj" fmla="val 451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Shape 9"/>
          <p:cNvSpPr/>
          <p:nvPr/>
        </p:nvSpPr>
        <p:spPr>
          <a:xfrm>
            <a:off x="8048549" y="2487168"/>
            <a:ext cx="64008" cy="2834640"/>
          </a:xfrm>
          <a:prstGeom prst="rect">
            <a:avLst/>
          </a:prstGeom>
          <a:solidFill>
            <a:srgbClr val="8052D8"/>
          </a:solidFill>
          <a:ln w="12700">
            <a:solidFill>
              <a:srgbClr val="8052D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Text 10"/>
          <p:cNvSpPr/>
          <p:nvPr/>
        </p:nvSpPr>
        <p:spPr>
          <a:xfrm>
            <a:off x="8286293" y="2706624"/>
            <a:ext cx="3082442" cy="502920"/>
          </a:xfrm>
          <a:prstGeom prst="rect">
            <a:avLst/>
          </a:prstGeom>
          <a:noFill/>
          <a:ln/>
        </p:spPr>
        <p:txBody>
          <a:bodyPr wrap="square" lIns="0" tIns="0" rIns="0" bIns="0" rtlCol="0" anchor="ctr">
            <a:normAutofit/>
          </a:bodyPr>
          <a:lstStyle/>
          <a:p>
            <a:pPr marL="0" indent="0" algn="l">
              <a:buNone/>
            </a:pPr>
            <a:r>
              <a:rPr lang="en-US" sz="1900" b="1" dirty="0">
                <a:solidFill>
                  <a:srgbClr val="172B42"/>
                </a:solidFill>
                <a:latin typeface="Times New Roman" panose="02020603050405020304" pitchFamily="18" charset="0"/>
                <a:ea typeface="Inter" pitchFamily="34" charset="-122"/>
                <a:cs typeface="Times New Roman" panose="02020603050405020304" pitchFamily="18" charset="0"/>
              </a:rPr>
              <a:t>Remember</a:t>
            </a:r>
            <a:endParaRPr lang="en-US" sz="1900" dirty="0">
              <a:latin typeface="Times New Roman" panose="02020603050405020304" pitchFamily="18" charset="0"/>
              <a:cs typeface="Times New Roman" panose="02020603050405020304" pitchFamily="18" charset="0"/>
            </a:endParaRPr>
          </a:p>
        </p:txBody>
      </p:sp>
      <p:sp>
        <p:nvSpPr>
          <p:cNvPr id="13" name="Text 11"/>
          <p:cNvSpPr/>
          <p:nvPr/>
        </p:nvSpPr>
        <p:spPr>
          <a:xfrm>
            <a:off x="8286293" y="3282696"/>
            <a:ext cx="3018434" cy="1856232"/>
          </a:xfrm>
          <a:prstGeom prst="rect">
            <a:avLst/>
          </a:prstGeom>
          <a:noFill/>
          <a:ln/>
        </p:spPr>
        <p:txBody>
          <a:bodyPr wrap="square" lIns="0" tIns="0" rIns="0" bIns="0" rtlCol="0" anchor="t">
            <a:normAutofit/>
          </a:bodyPr>
          <a:lstStyle/>
          <a:p>
            <a:pPr marL="0" indent="0" algn="l">
              <a:buNone/>
            </a:pPr>
            <a:r>
              <a:rPr lang="en-US" sz="1510" dirty="0">
                <a:solidFill>
                  <a:srgbClr val="5C6D80"/>
                </a:solidFill>
                <a:latin typeface="Times New Roman" panose="02020603050405020304" pitchFamily="18" charset="0"/>
                <a:ea typeface="Inter" pitchFamily="34" charset="-122"/>
                <a:cs typeface="Times New Roman" panose="02020603050405020304" pitchFamily="18" charset="0"/>
              </a:rPr>
              <a:t>Ask questions and try your own approach.</a:t>
            </a:r>
            <a:endParaRPr lang="en-US" sz="151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Your Day 2 checklist</a:t>
            </a:r>
            <a:endParaRPr lang="en-US" sz="3180" dirty="0">
              <a:latin typeface="Times New Roman" panose="02020603050405020304" pitchFamily="18" charset="0"/>
              <a:cs typeface="Times New Roman" panose="02020603050405020304" pitchFamily="18" charset="0"/>
            </a:endParaRPr>
          </a:p>
        </p:txBody>
      </p:sp>
      <p:sp>
        <p:nvSpPr>
          <p:cNvPr id="15" name="Text 13"/>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DAY 2 OVERVIEW &amp; CLOSING</a:t>
            </a:r>
            <a:endParaRPr lang="en-US" sz="1050" dirty="0">
              <a:latin typeface="Times New Roman" panose="02020603050405020304" pitchFamily="18" charset="0"/>
              <a:cs typeface="Times New Roman" panose="02020603050405020304" pitchFamily="18" charset="0"/>
            </a:endParaRPr>
          </a:p>
        </p:txBody>
      </p:sp>
      <p:sp>
        <p:nvSpPr>
          <p:cNvPr id="17" name="Shape 15"/>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Shape 16"/>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9" name="Text 17"/>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20" name="Text 18"/>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59</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 y="2331720"/>
            <a:ext cx="10652760" cy="3108960"/>
          </a:xfrm>
          <a:prstGeom prst="roundRect">
            <a:avLst>
              <a:gd name="adj" fmla="val 4706"/>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Text 1"/>
          <p:cNvSpPr/>
          <p:nvPr/>
        </p:nvSpPr>
        <p:spPr>
          <a:xfrm>
            <a:off x="1088136" y="2606040"/>
            <a:ext cx="1645920" cy="292608"/>
          </a:xfrm>
          <a:prstGeom prst="rect">
            <a:avLst/>
          </a:prstGeom>
          <a:noFill/>
          <a:ln/>
        </p:spPr>
        <p:txBody>
          <a:bodyPr wrap="square" lIns="0" tIns="0" rIns="0" bIns="0" rtlCol="0" anchor="ctr">
            <a:normAutofit/>
          </a:bodyPr>
          <a:lstStyle/>
          <a:p>
            <a:pPr marL="0" indent="0" algn="l">
              <a:buNone/>
            </a:pPr>
            <a:r>
              <a:rPr lang="en-US" sz="1200" b="1" dirty="0">
                <a:solidFill>
                  <a:srgbClr val="087B75"/>
                </a:solidFill>
                <a:latin typeface="Times New Roman" panose="02020603050405020304" pitchFamily="18" charset="0"/>
                <a:ea typeface="Inter" pitchFamily="34" charset="-122"/>
                <a:cs typeface="Times New Roman" panose="02020603050405020304" pitchFamily="18" charset="0"/>
              </a:rPr>
              <a:t>TASK</a:t>
            </a:r>
            <a:endParaRPr lang="en-US" sz="1200" dirty="0">
              <a:latin typeface="Times New Roman" panose="02020603050405020304" pitchFamily="18" charset="0"/>
              <a:cs typeface="Times New Roman" panose="02020603050405020304" pitchFamily="18" charset="0"/>
            </a:endParaRPr>
          </a:p>
        </p:txBody>
      </p:sp>
      <p:sp>
        <p:nvSpPr>
          <p:cNvPr id="4" name="Shape 2"/>
          <p:cNvSpPr/>
          <p:nvPr/>
        </p:nvSpPr>
        <p:spPr>
          <a:xfrm>
            <a:off x="1078992" y="3154680"/>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5" name="Text 3"/>
          <p:cNvSpPr/>
          <p:nvPr/>
        </p:nvSpPr>
        <p:spPr>
          <a:xfrm>
            <a:off x="1325880" y="2964512"/>
            <a:ext cx="5925312" cy="438912"/>
          </a:xfrm>
          <a:prstGeom prst="rect">
            <a:avLst/>
          </a:prstGeom>
          <a:noFill/>
          <a:ln/>
        </p:spPr>
        <p:txBody>
          <a:bodyPr wrap="square" lIns="0" tIns="0" rIns="0" bIns="0" rtlCol="0" anchor="ctr">
            <a:normAutofit/>
          </a:bodyPr>
          <a:lstStyle/>
          <a:p>
            <a:pPr marL="0" indent="0" algn="l">
              <a:buNone/>
            </a:pPr>
            <a:r>
              <a:rPr lang="en-US" sz="1700" dirty="0">
                <a:solidFill>
                  <a:srgbClr val="172B42"/>
                </a:solidFill>
                <a:latin typeface="Times New Roman" panose="02020603050405020304" pitchFamily="18" charset="0"/>
                <a:ea typeface="Inter" pitchFamily="34" charset="-122"/>
                <a:cs typeface="Times New Roman" panose="02020603050405020304" pitchFamily="18" charset="0"/>
              </a:rPr>
              <a:t>What does ETL stand for?</a:t>
            </a:r>
            <a:endParaRPr lang="en-US" sz="1700" dirty="0">
              <a:latin typeface="Times New Roman" panose="02020603050405020304" pitchFamily="18" charset="0"/>
              <a:cs typeface="Times New Roman" panose="02020603050405020304" pitchFamily="18" charset="0"/>
            </a:endParaRPr>
          </a:p>
        </p:txBody>
      </p:sp>
      <p:sp>
        <p:nvSpPr>
          <p:cNvPr id="6" name="Shape 4"/>
          <p:cNvSpPr/>
          <p:nvPr/>
        </p:nvSpPr>
        <p:spPr>
          <a:xfrm>
            <a:off x="1078992" y="3630168"/>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 name="Text 5"/>
          <p:cNvSpPr/>
          <p:nvPr/>
        </p:nvSpPr>
        <p:spPr>
          <a:xfrm>
            <a:off x="1325880" y="3440000"/>
            <a:ext cx="5925312" cy="438912"/>
          </a:xfrm>
          <a:prstGeom prst="rect">
            <a:avLst/>
          </a:prstGeom>
          <a:noFill/>
          <a:ln/>
        </p:spPr>
        <p:txBody>
          <a:bodyPr wrap="square" lIns="0" tIns="0" rIns="0" bIns="0" rtlCol="0" anchor="ctr">
            <a:normAutofit/>
          </a:bodyPr>
          <a:lstStyle/>
          <a:p>
            <a:pPr marL="0" indent="0" algn="l">
              <a:buNone/>
            </a:pPr>
            <a:r>
              <a:rPr lang="en-US" sz="1700" dirty="0">
                <a:solidFill>
                  <a:srgbClr val="172B42"/>
                </a:solidFill>
                <a:latin typeface="Times New Roman" panose="02020603050405020304" pitchFamily="18" charset="0"/>
                <a:ea typeface="Inter" pitchFamily="34" charset="-122"/>
                <a:cs typeface="Times New Roman" panose="02020603050405020304" pitchFamily="18" charset="0"/>
              </a:rPr>
              <a:t>What is different about Silver vs Bronze?</a:t>
            </a:r>
            <a:endParaRPr lang="en-US" sz="1700" dirty="0">
              <a:latin typeface="Times New Roman" panose="02020603050405020304" pitchFamily="18" charset="0"/>
              <a:cs typeface="Times New Roman" panose="02020603050405020304" pitchFamily="18" charset="0"/>
            </a:endParaRPr>
          </a:p>
        </p:txBody>
      </p:sp>
      <p:sp>
        <p:nvSpPr>
          <p:cNvPr id="8" name="Shape 6"/>
          <p:cNvSpPr/>
          <p:nvPr/>
        </p:nvSpPr>
        <p:spPr>
          <a:xfrm>
            <a:off x="1078992" y="4105656"/>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1325880" y="3915488"/>
            <a:ext cx="5925312" cy="438912"/>
          </a:xfrm>
          <a:prstGeom prst="rect">
            <a:avLst/>
          </a:prstGeom>
          <a:noFill/>
          <a:ln/>
        </p:spPr>
        <p:txBody>
          <a:bodyPr wrap="square" lIns="0" tIns="0" rIns="0" bIns="0" rtlCol="0" anchor="ctr">
            <a:normAutofit/>
          </a:bodyPr>
          <a:lstStyle/>
          <a:p>
            <a:pPr marL="0" indent="0" algn="l">
              <a:buNone/>
            </a:pPr>
            <a:r>
              <a:rPr lang="en-US" sz="1700" dirty="0">
                <a:solidFill>
                  <a:srgbClr val="172B42"/>
                </a:solidFill>
                <a:latin typeface="Times New Roman" panose="02020603050405020304" pitchFamily="18" charset="0"/>
                <a:ea typeface="Inter" pitchFamily="34" charset="-122"/>
                <a:cs typeface="Times New Roman" panose="02020603050405020304" pitchFamily="18" charset="0"/>
              </a:rPr>
              <a:t>Why do we join tables?</a:t>
            </a:r>
            <a:endParaRPr lang="en-US" sz="1700" dirty="0">
              <a:latin typeface="Times New Roman" panose="02020603050405020304" pitchFamily="18" charset="0"/>
              <a:cs typeface="Times New Roman" panose="02020603050405020304" pitchFamily="18" charset="0"/>
            </a:endParaRPr>
          </a:p>
        </p:txBody>
      </p:sp>
      <p:sp>
        <p:nvSpPr>
          <p:cNvPr id="10" name="Shape 8"/>
          <p:cNvSpPr/>
          <p:nvPr/>
        </p:nvSpPr>
        <p:spPr>
          <a:xfrm>
            <a:off x="1078992" y="4581144"/>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1" name="Text 9"/>
          <p:cNvSpPr/>
          <p:nvPr/>
        </p:nvSpPr>
        <p:spPr>
          <a:xfrm>
            <a:off x="1325880" y="4390976"/>
            <a:ext cx="5925312" cy="438912"/>
          </a:xfrm>
          <a:prstGeom prst="rect">
            <a:avLst/>
          </a:prstGeom>
          <a:noFill/>
          <a:ln/>
        </p:spPr>
        <p:txBody>
          <a:bodyPr wrap="square" lIns="0" tIns="0" rIns="0" bIns="0" rtlCol="0" anchor="ctr">
            <a:normAutofit/>
          </a:bodyPr>
          <a:lstStyle/>
          <a:p>
            <a:pPr marL="0" indent="0" algn="l">
              <a:buNone/>
            </a:pPr>
            <a:r>
              <a:rPr lang="en-US" sz="1700" dirty="0">
                <a:solidFill>
                  <a:srgbClr val="172B42"/>
                </a:solidFill>
                <a:latin typeface="Times New Roman" panose="02020603050405020304" pitchFamily="18" charset="0"/>
                <a:ea typeface="Inter" pitchFamily="34" charset="-122"/>
                <a:cs typeface="Times New Roman" panose="02020603050405020304" pitchFamily="18" charset="0"/>
              </a:rPr>
              <a:t>What makes a KPI trustworthy?</a:t>
            </a:r>
            <a:endParaRPr lang="en-US" sz="1700" dirty="0">
              <a:latin typeface="Times New Roman" panose="02020603050405020304" pitchFamily="18" charset="0"/>
              <a:cs typeface="Times New Roman" panose="02020603050405020304" pitchFamily="18" charset="0"/>
            </a:endParaRPr>
          </a:p>
        </p:txBody>
      </p:sp>
      <p:sp>
        <p:nvSpPr>
          <p:cNvPr id="12" name="Shape 10"/>
          <p:cNvSpPr/>
          <p:nvPr/>
        </p:nvSpPr>
        <p:spPr>
          <a:xfrm>
            <a:off x="1078992" y="5056632"/>
            <a:ext cx="68580" cy="68580"/>
          </a:xfrm>
          <a:prstGeom prst="roundRect">
            <a:avLst>
              <a:gd name="adj" fmla="val 13333"/>
            </a:avLst>
          </a:prstGeom>
          <a:solidFill>
            <a:srgbClr val="0D9488"/>
          </a:solidFill>
          <a:ln w="12700">
            <a:solidFill>
              <a:srgbClr val="0D9488"/>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3" name="Text 11"/>
          <p:cNvSpPr/>
          <p:nvPr/>
        </p:nvSpPr>
        <p:spPr>
          <a:xfrm>
            <a:off x="1325880" y="4866464"/>
            <a:ext cx="5925312" cy="438912"/>
          </a:xfrm>
          <a:prstGeom prst="rect">
            <a:avLst/>
          </a:prstGeom>
          <a:noFill/>
          <a:ln/>
        </p:spPr>
        <p:txBody>
          <a:bodyPr wrap="square" lIns="0" tIns="0" rIns="0" bIns="0" rtlCol="0" anchor="ctr">
            <a:normAutofit/>
          </a:bodyPr>
          <a:lstStyle/>
          <a:p>
            <a:pPr marL="0" indent="0" algn="l">
              <a:buNone/>
            </a:pPr>
            <a:r>
              <a:rPr lang="en-US" sz="1700" dirty="0">
                <a:solidFill>
                  <a:srgbClr val="172B42"/>
                </a:solidFill>
                <a:latin typeface="Times New Roman" panose="02020603050405020304" pitchFamily="18" charset="0"/>
                <a:ea typeface="Inter" pitchFamily="34" charset="-122"/>
                <a:cs typeface="Times New Roman" panose="02020603050405020304" pitchFamily="18" charset="0"/>
              </a:rPr>
              <a:t>Who clarifies unclear business requirements?</a:t>
            </a:r>
            <a:endParaRPr lang="en-US" sz="1700" dirty="0">
              <a:latin typeface="Times New Roman" panose="02020603050405020304" pitchFamily="18" charset="0"/>
              <a:cs typeface="Times New Roman" panose="02020603050405020304" pitchFamily="18" charset="0"/>
            </a:endParaRPr>
          </a:p>
        </p:txBody>
      </p:sp>
      <p:sp>
        <p:nvSpPr>
          <p:cNvPr id="17" name="Text 15"/>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Five-question knowledge check</a:t>
            </a:r>
            <a:endParaRPr lang="en-US" sz="3180" dirty="0">
              <a:latin typeface="Times New Roman" panose="02020603050405020304" pitchFamily="18" charset="0"/>
              <a:cs typeface="Times New Roman" panose="02020603050405020304" pitchFamily="18" charset="0"/>
            </a:endParaRPr>
          </a:p>
        </p:txBody>
      </p:sp>
      <p:sp>
        <p:nvSpPr>
          <p:cNvPr id="18" name="Text 16"/>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DAY 2 OVERVIEW &amp; CLOSING</a:t>
            </a:r>
            <a:endParaRPr lang="en-US" sz="1050" dirty="0">
              <a:latin typeface="Times New Roman" panose="02020603050405020304" pitchFamily="18" charset="0"/>
              <a:cs typeface="Times New Roman" panose="02020603050405020304" pitchFamily="18" charset="0"/>
            </a:endParaRPr>
          </a:p>
        </p:txBody>
      </p:sp>
      <p:sp>
        <p:nvSpPr>
          <p:cNvPr id="20" name="Shape 18"/>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1" name="Shape 19"/>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2" name="Text 20"/>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23" name="Text 21"/>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60</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75360" y="1929383"/>
            <a:ext cx="10241280" cy="530352"/>
          </a:xfrm>
          <a:prstGeom prst="roundRect">
            <a:avLst>
              <a:gd name="adj" fmla="val 17241"/>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 name="Text 1"/>
          <p:cNvSpPr/>
          <p:nvPr/>
        </p:nvSpPr>
        <p:spPr>
          <a:xfrm>
            <a:off x="1185672" y="2039111"/>
            <a:ext cx="4251960" cy="310896"/>
          </a:xfrm>
          <a:prstGeom prst="rect">
            <a:avLst/>
          </a:prstGeom>
          <a:noFill/>
          <a:ln/>
        </p:spPr>
        <p:txBody>
          <a:bodyPr wrap="square" lIns="0" tIns="0" rIns="0" bIns="0" rtlCol="0" anchor="ctr">
            <a:normAutofit/>
          </a:bodyPr>
          <a:lstStyle/>
          <a:p>
            <a:pPr marL="0" indent="0" algn="l">
              <a:buNone/>
            </a:pPr>
            <a:r>
              <a:rPr lang="en-US" sz="1490" b="1" dirty="0">
                <a:solidFill>
                  <a:srgbClr val="172B42"/>
                </a:solidFill>
                <a:latin typeface="Times New Roman" panose="02020603050405020304" pitchFamily="18" charset="0"/>
                <a:ea typeface="Inter" pitchFamily="34" charset="-122"/>
                <a:cs typeface="Times New Roman" panose="02020603050405020304" pitchFamily="18" charset="0"/>
              </a:rPr>
              <a:t>Databricks medallion architecture</a:t>
            </a:r>
            <a:endParaRPr lang="en-US" sz="1490" dirty="0">
              <a:latin typeface="Times New Roman" panose="02020603050405020304" pitchFamily="18" charset="0"/>
              <a:cs typeface="Times New Roman" panose="02020603050405020304" pitchFamily="18" charset="0"/>
            </a:endParaRPr>
          </a:p>
        </p:txBody>
      </p:sp>
      <p:sp>
        <p:nvSpPr>
          <p:cNvPr id="4" name="Text 2">
            <a:hlinkClick r:id="rId3"/>
          </p:cNvPr>
          <p:cNvSpPr/>
          <p:nvPr/>
        </p:nvSpPr>
        <p:spPr>
          <a:xfrm>
            <a:off x="4779264" y="2039111"/>
            <a:ext cx="6071616" cy="310896"/>
          </a:xfrm>
          <a:prstGeom prst="rect">
            <a:avLst/>
          </a:prstGeom>
          <a:noFill/>
          <a:ln/>
        </p:spPr>
        <p:txBody>
          <a:bodyPr wrap="square" lIns="0" tIns="0" rIns="0" bIns="0" rtlCol="0" anchor="ctr">
            <a:normAutofit/>
          </a:bodyPr>
          <a:lstStyle/>
          <a:p>
            <a:pPr marL="0" indent="0" algn="l">
              <a:buNone/>
            </a:pPr>
            <a:r>
              <a:rPr lang="en-US" sz="1150" u="sng" dirty="0">
                <a:solidFill>
                  <a:srgbClr val="3B82F6"/>
                </a:solidFill>
                <a:latin typeface="Times New Roman" panose="02020603050405020304" pitchFamily="18" charset="0"/>
                <a:ea typeface="Inter" pitchFamily="34" charset="-122"/>
                <a:cs typeface="Times New Roman" panose="02020603050405020304" pitchFamily="18" charset="0"/>
                <a:hlinkClick r:id="rId3">
                  <a:extLst>
                    <a:ext uri="{A12FA001-AC4F-418D-AE19-62706E023703}">
                      <ahyp:hlinkClr xmlns:ahyp="http://schemas.microsoft.com/office/drawing/2018/hyperlinkcolor" val="tx"/>
                    </a:ext>
                  </a:extLst>
                </a:hlinkClick>
              </a:rPr>
              <a:t>https://learn.microsoft.com/en-us/azure/databricks/lakehouse/medallion</a:t>
            </a:r>
            <a:endParaRPr lang="en-US" sz="1150" dirty="0">
              <a:latin typeface="Times New Roman" panose="02020603050405020304" pitchFamily="18" charset="0"/>
              <a:cs typeface="Times New Roman" panose="02020603050405020304" pitchFamily="18" charset="0"/>
            </a:endParaRPr>
          </a:p>
        </p:txBody>
      </p:sp>
      <p:sp>
        <p:nvSpPr>
          <p:cNvPr id="5" name="Shape 3"/>
          <p:cNvSpPr/>
          <p:nvPr/>
        </p:nvSpPr>
        <p:spPr>
          <a:xfrm>
            <a:off x="975360" y="2633471"/>
            <a:ext cx="10241280" cy="530352"/>
          </a:xfrm>
          <a:prstGeom prst="roundRect">
            <a:avLst>
              <a:gd name="adj" fmla="val 17241"/>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6" name="Text 4"/>
          <p:cNvSpPr/>
          <p:nvPr/>
        </p:nvSpPr>
        <p:spPr>
          <a:xfrm>
            <a:off x="1185672" y="2743199"/>
            <a:ext cx="4251960" cy="310896"/>
          </a:xfrm>
          <a:prstGeom prst="rect">
            <a:avLst/>
          </a:prstGeom>
          <a:noFill/>
          <a:ln/>
        </p:spPr>
        <p:txBody>
          <a:bodyPr wrap="square" lIns="0" tIns="0" rIns="0" bIns="0" rtlCol="0" anchor="ctr">
            <a:normAutofit/>
          </a:bodyPr>
          <a:lstStyle/>
          <a:p>
            <a:pPr marL="0" indent="0" algn="l">
              <a:buNone/>
            </a:pPr>
            <a:r>
              <a:rPr lang="en-US" sz="1490" b="1" dirty="0">
                <a:solidFill>
                  <a:srgbClr val="172B42"/>
                </a:solidFill>
                <a:latin typeface="Times New Roman" panose="02020603050405020304" pitchFamily="18" charset="0"/>
                <a:ea typeface="Inter" pitchFamily="34" charset="-122"/>
                <a:cs typeface="Times New Roman" panose="02020603050405020304" pitchFamily="18" charset="0"/>
              </a:rPr>
              <a:t>Microsoft: ETL and ELT concepts</a:t>
            </a:r>
            <a:endParaRPr lang="en-US" sz="1490" dirty="0">
              <a:latin typeface="Times New Roman" panose="02020603050405020304" pitchFamily="18" charset="0"/>
              <a:cs typeface="Times New Roman" panose="02020603050405020304" pitchFamily="18" charset="0"/>
            </a:endParaRPr>
          </a:p>
        </p:txBody>
      </p:sp>
      <p:sp>
        <p:nvSpPr>
          <p:cNvPr id="7" name="Text 5">
            <a:hlinkClick r:id="rId4"/>
          </p:cNvPr>
          <p:cNvSpPr/>
          <p:nvPr/>
        </p:nvSpPr>
        <p:spPr>
          <a:xfrm>
            <a:off x="4779264" y="2743199"/>
            <a:ext cx="6071616" cy="310896"/>
          </a:xfrm>
          <a:prstGeom prst="rect">
            <a:avLst/>
          </a:prstGeom>
          <a:noFill/>
          <a:ln/>
        </p:spPr>
        <p:txBody>
          <a:bodyPr wrap="square" lIns="0" tIns="0" rIns="0" bIns="0" rtlCol="0" anchor="ctr">
            <a:normAutofit/>
          </a:bodyPr>
          <a:lstStyle/>
          <a:p>
            <a:pPr marL="0" indent="0" algn="l">
              <a:buNone/>
            </a:pPr>
            <a:r>
              <a:rPr lang="en-US" sz="1150" u="sng" dirty="0">
                <a:solidFill>
                  <a:srgbClr val="3B82F6"/>
                </a:solidFill>
                <a:latin typeface="Times New Roman" panose="02020603050405020304" pitchFamily="18" charset="0"/>
                <a:ea typeface="Inter" pitchFamily="34" charset="-122"/>
                <a:cs typeface="Times New Roman" panose="02020603050405020304" pitchFamily="18" charset="0"/>
                <a:hlinkClick r:id="rId4">
                  <a:extLst>
                    <a:ext uri="{A12FA001-AC4F-418D-AE19-62706E023703}">
                      <ahyp:hlinkClr xmlns:ahyp="http://schemas.microsoft.com/office/drawing/2018/hyperlinkcolor" val="tx"/>
                    </a:ext>
                  </a:extLst>
                </a:hlinkClick>
              </a:rPr>
              <a:t>https://learn.microsoft.com/en-us/azure/architecture/data-guide/relational-data/etl</a:t>
            </a:r>
            <a:endParaRPr lang="en-US" sz="1150" dirty="0">
              <a:latin typeface="Times New Roman" panose="02020603050405020304" pitchFamily="18" charset="0"/>
              <a:cs typeface="Times New Roman" panose="02020603050405020304" pitchFamily="18" charset="0"/>
            </a:endParaRPr>
          </a:p>
        </p:txBody>
      </p:sp>
      <p:sp>
        <p:nvSpPr>
          <p:cNvPr id="8" name="Shape 6"/>
          <p:cNvSpPr/>
          <p:nvPr/>
        </p:nvSpPr>
        <p:spPr>
          <a:xfrm>
            <a:off x="975360" y="3337559"/>
            <a:ext cx="10241280" cy="530352"/>
          </a:xfrm>
          <a:prstGeom prst="roundRect">
            <a:avLst>
              <a:gd name="adj" fmla="val 17241"/>
            </a:avLst>
          </a:prstGeom>
          <a:solidFill>
            <a:srgbClr val="FAFCFE"/>
          </a:solidFill>
          <a:ln w="10795">
            <a:solidFill>
              <a:srgbClr val="D8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1185672" y="3447287"/>
            <a:ext cx="4251960" cy="310896"/>
          </a:xfrm>
          <a:prstGeom prst="rect">
            <a:avLst/>
          </a:prstGeom>
          <a:noFill/>
          <a:ln/>
        </p:spPr>
        <p:txBody>
          <a:bodyPr wrap="square" lIns="0" tIns="0" rIns="0" bIns="0" rtlCol="0" anchor="ctr">
            <a:normAutofit/>
          </a:bodyPr>
          <a:lstStyle/>
          <a:p>
            <a:pPr marL="0" indent="0" algn="l">
              <a:buNone/>
            </a:pPr>
            <a:r>
              <a:rPr lang="en-US" sz="1490" b="1" dirty="0">
                <a:solidFill>
                  <a:srgbClr val="172B42"/>
                </a:solidFill>
                <a:latin typeface="Times New Roman" panose="02020603050405020304" pitchFamily="18" charset="0"/>
                <a:ea typeface="Inter" pitchFamily="34" charset="-122"/>
                <a:cs typeface="Times New Roman" panose="02020603050405020304" pitchFamily="18" charset="0"/>
              </a:rPr>
              <a:t>Naman Sharma · Portfolio</a:t>
            </a:r>
            <a:endParaRPr lang="en-US" sz="1490" dirty="0">
              <a:latin typeface="Times New Roman" panose="02020603050405020304" pitchFamily="18" charset="0"/>
              <a:cs typeface="Times New Roman" panose="02020603050405020304" pitchFamily="18" charset="0"/>
            </a:endParaRPr>
          </a:p>
        </p:txBody>
      </p:sp>
      <p:sp>
        <p:nvSpPr>
          <p:cNvPr id="10" name="Text 8">
            <a:hlinkClick r:id="rId5"/>
          </p:cNvPr>
          <p:cNvSpPr/>
          <p:nvPr/>
        </p:nvSpPr>
        <p:spPr>
          <a:xfrm>
            <a:off x="4779264" y="3447287"/>
            <a:ext cx="6071616" cy="310896"/>
          </a:xfrm>
          <a:prstGeom prst="rect">
            <a:avLst/>
          </a:prstGeom>
          <a:noFill/>
          <a:ln/>
        </p:spPr>
        <p:txBody>
          <a:bodyPr wrap="square" lIns="0" tIns="0" rIns="0" bIns="0" rtlCol="0" anchor="ctr">
            <a:normAutofit/>
          </a:bodyPr>
          <a:lstStyle/>
          <a:p>
            <a:pPr marL="0" indent="0" algn="l">
              <a:buNone/>
            </a:pPr>
            <a:r>
              <a:rPr lang="en-US" sz="1150" u="sng" dirty="0">
                <a:solidFill>
                  <a:srgbClr val="3B82F6"/>
                </a:solidFill>
                <a:latin typeface="Times New Roman" panose="02020603050405020304" pitchFamily="18" charset="0"/>
                <a:ea typeface="Inter" pitchFamily="34" charset="-122"/>
                <a:cs typeface="Times New Roman" panose="02020603050405020304" pitchFamily="18" charset="0"/>
                <a:hlinkClick r:id="rId5">
                  <a:extLst>
                    <a:ext uri="{A12FA001-AC4F-418D-AE19-62706E023703}">
                      <ahyp:hlinkClr xmlns:ahyp="http://schemas.microsoft.com/office/drawing/2018/hyperlinkcolor" val="tx"/>
                    </a:ext>
                  </a:extLst>
                </a:hlinkClick>
              </a:rPr>
              <a:t>https://namanofficial10.github.io/</a:t>
            </a:r>
            <a:endParaRPr lang="en-US" sz="1150" dirty="0">
              <a:latin typeface="Times New Roman" panose="02020603050405020304" pitchFamily="18" charset="0"/>
              <a:cs typeface="Times New Roman" panose="02020603050405020304" pitchFamily="18" charset="0"/>
            </a:endParaRPr>
          </a:p>
        </p:txBody>
      </p:sp>
      <p:sp>
        <p:nvSpPr>
          <p:cNvPr id="14" name="Text 12"/>
          <p:cNvSpPr/>
          <p:nvPr/>
        </p:nvSpPr>
        <p:spPr>
          <a:xfrm>
            <a:off x="621792" y="914400"/>
            <a:ext cx="10927080" cy="758952"/>
          </a:xfrm>
          <a:prstGeom prst="rect">
            <a:avLst/>
          </a:prstGeom>
          <a:noFill/>
          <a:ln/>
        </p:spPr>
        <p:txBody>
          <a:bodyPr wrap="square" lIns="0" tIns="0" rIns="0" bIns="0" rtlCol="0" anchor="ctr">
            <a:normAutofit/>
          </a:bodyPr>
          <a:lstStyle/>
          <a:p>
            <a:pPr marL="0" indent="0" algn="l">
              <a:buNone/>
            </a:pPr>
            <a:r>
              <a:rPr lang="en-US" sz="3180" b="1" dirty="0">
                <a:solidFill>
                  <a:srgbClr val="172B42"/>
                </a:solidFill>
                <a:latin typeface="Times New Roman" panose="02020603050405020304" pitchFamily="18" charset="0"/>
                <a:ea typeface="Inter" pitchFamily="34" charset="-122"/>
                <a:cs typeface="Times New Roman" panose="02020603050405020304" pitchFamily="18" charset="0"/>
              </a:rPr>
              <a:t>Resources and 1:1 follow-up</a:t>
            </a:r>
            <a:endParaRPr lang="en-US" sz="3180" dirty="0">
              <a:latin typeface="Times New Roman" panose="02020603050405020304" pitchFamily="18" charset="0"/>
              <a:cs typeface="Times New Roman" panose="02020603050405020304" pitchFamily="18" charset="0"/>
            </a:endParaRPr>
          </a:p>
        </p:txBody>
      </p:sp>
      <p:sp>
        <p:nvSpPr>
          <p:cNvPr id="15" name="Text 13"/>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DAY 2 OVERVIEW &amp; CLOSING</a:t>
            </a:r>
            <a:endParaRPr lang="en-US" sz="1050" dirty="0">
              <a:latin typeface="Times New Roman" panose="02020603050405020304" pitchFamily="18" charset="0"/>
              <a:cs typeface="Times New Roman" panose="02020603050405020304" pitchFamily="18" charset="0"/>
            </a:endParaRPr>
          </a:p>
        </p:txBody>
      </p:sp>
      <p:sp>
        <p:nvSpPr>
          <p:cNvPr id="17" name="Shape 15"/>
          <p:cNvSpPr/>
          <p:nvPr/>
        </p:nvSpPr>
        <p:spPr>
          <a:xfrm>
            <a:off x="621792" y="658368"/>
            <a:ext cx="10948111" cy="0"/>
          </a:xfrm>
          <a:prstGeom prst="line">
            <a:avLst/>
          </a:prstGeom>
          <a:noFill/>
          <a:ln w="1524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Shape 16"/>
          <p:cNvSpPr/>
          <p:nvPr/>
        </p:nvSpPr>
        <p:spPr>
          <a:xfrm>
            <a:off x="621792" y="6455664"/>
            <a:ext cx="10948111" cy="0"/>
          </a:xfrm>
          <a:prstGeom prst="line">
            <a:avLst/>
          </a:prstGeom>
          <a:noFill/>
          <a:ln w="12700">
            <a:solidFill>
              <a:srgbClr val="DCE4E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9" name="Text 17"/>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20" name="Text 18"/>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61</a:t>
            </a:r>
            <a:endParaRPr lang="en-US" sz="900" dirty="0">
              <a:latin typeface="Times New Roman" panose="02020603050405020304" pitchFamily="18" charset="0"/>
              <a:cs typeface="Times New Roman" panose="02020603050405020304" pitchFamily="18" charset="0"/>
            </a:endParaRPr>
          </a:p>
        </p:txBody>
      </p:sp>
      <p:pic>
        <p:nvPicPr>
          <p:cNvPr id="22" name="Picture 21">
            <a:extLst>
              <a:ext uri="{FF2B5EF4-FFF2-40B4-BE49-F238E27FC236}">
                <a16:creationId xmlns:a16="http://schemas.microsoft.com/office/drawing/2014/main" id="{0F968996-5D2C-A864-7761-E468F3A73045}"/>
              </a:ext>
            </a:extLst>
          </p:cNvPr>
          <p:cNvPicPr>
            <a:picLocks noChangeAspect="1"/>
          </p:cNvPicPr>
          <p:nvPr/>
        </p:nvPicPr>
        <p:blipFill>
          <a:blip r:embed="rId6">
            <a:biLevel thresh="75000"/>
          </a:blip>
          <a:stretch>
            <a:fillRect/>
          </a:stretch>
        </p:blipFill>
        <p:spPr>
          <a:xfrm>
            <a:off x="4638064" y="4238458"/>
            <a:ext cx="1599135" cy="1618060"/>
          </a:xfrm>
          <a:prstGeom prst="rect">
            <a:avLst/>
          </a:prstGeom>
          <a:ln w="12700" cap="sq">
            <a:solidFill>
              <a:srgbClr val="000000"/>
            </a:solidFill>
            <a:miter lim="800000"/>
          </a:ln>
          <a:effectLst>
            <a:outerShdw blurRad="57150" dist="50800" dir="2700000" algn="tl"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0392" y="1463040"/>
            <a:ext cx="10607040" cy="1280160"/>
          </a:xfrm>
          <a:prstGeom prst="rect">
            <a:avLst/>
          </a:prstGeom>
          <a:noFill/>
          <a:ln/>
        </p:spPr>
        <p:txBody>
          <a:bodyPr wrap="square" lIns="0" tIns="0" rIns="0" bIns="0" rtlCol="0" anchor="ctr">
            <a:normAutofit/>
          </a:bodyPr>
          <a:lstStyle/>
          <a:p>
            <a:pPr marL="0" indent="0" algn="ctr">
              <a:buNone/>
            </a:pPr>
            <a:r>
              <a:rPr lang="en-US" sz="4200" b="1" dirty="0">
                <a:solidFill>
                  <a:srgbClr val="172B42"/>
                </a:solidFill>
                <a:latin typeface="Times New Roman" panose="02020603050405020304" pitchFamily="18" charset="0"/>
                <a:ea typeface="Inter" pitchFamily="34" charset="-122"/>
                <a:cs typeface="Times New Roman" panose="02020603050405020304" pitchFamily="18" charset="0"/>
              </a:rPr>
              <a:t>GOOD DATA. BETTER DECISIONS.</a:t>
            </a:r>
            <a:endParaRPr lang="en-US" sz="4200" dirty="0">
              <a:latin typeface="Times New Roman" panose="02020603050405020304" pitchFamily="18" charset="0"/>
              <a:cs typeface="Times New Roman" panose="02020603050405020304" pitchFamily="18" charset="0"/>
            </a:endParaRPr>
          </a:p>
        </p:txBody>
      </p:sp>
      <p:sp>
        <p:nvSpPr>
          <p:cNvPr id="3" name="Text 1"/>
          <p:cNvSpPr/>
          <p:nvPr/>
        </p:nvSpPr>
        <p:spPr>
          <a:xfrm>
            <a:off x="1060704" y="3108960"/>
            <a:ext cx="10076688" cy="566928"/>
          </a:xfrm>
          <a:prstGeom prst="rect">
            <a:avLst/>
          </a:prstGeom>
          <a:noFill/>
          <a:ln/>
        </p:spPr>
        <p:txBody>
          <a:bodyPr wrap="square" lIns="0" tIns="0" rIns="0" bIns="0" rtlCol="0" anchor="ctr">
            <a:normAutofit/>
          </a:bodyPr>
          <a:lstStyle/>
          <a:p>
            <a:pPr marL="0" indent="0" algn="ctr">
              <a:buNone/>
            </a:pPr>
            <a:r>
              <a:rPr lang="en-US" sz="2200" dirty="0">
                <a:solidFill>
                  <a:srgbClr val="5C6D80"/>
                </a:solidFill>
                <a:latin typeface="Times New Roman" panose="02020603050405020304" pitchFamily="18" charset="0"/>
                <a:ea typeface="Inter" pitchFamily="34" charset="-122"/>
                <a:cs typeface="Times New Roman" panose="02020603050405020304" pitchFamily="18" charset="0"/>
              </a:rPr>
              <a:t>See you tomorrow for the hands-on project.</a:t>
            </a:r>
            <a:endParaRPr lang="en-US" sz="2200" dirty="0">
              <a:latin typeface="Times New Roman" panose="02020603050405020304" pitchFamily="18" charset="0"/>
              <a:cs typeface="Times New Roman" panose="02020603050405020304" pitchFamily="18" charset="0"/>
            </a:endParaRPr>
          </a:p>
        </p:txBody>
      </p:sp>
      <p:sp>
        <p:nvSpPr>
          <p:cNvPr id="4" name="Text 2"/>
          <p:cNvSpPr/>
          <p:nvPr/>
        </p:nvSpPr>
        <p:spPr>
          <a:xfrm>
            <a:off x="3383280" y="4690872"/>
            <a:ext cx="5394960" cy="420624"/>
          </a:xfrm>
          <a:prstGeom prst="rect">
            <a:avLst/>
          </a:prstGeom>
          <a:noFill/>
          <a:ln/>
        </p:spPr>
        <p:txBody>
          <a:bodyPr wrap="square" lIns="0" tIns="0" rIns="0" bIns="0" rtlCol="0" anchor="ctr">
            <a:normAutofit/>
          </a:bodyPr>
          <a:lstStyle/>
          <a:p>
            <a:pPr marL="0" indent="0" algn="ctr">
              <a:buNone/>
            </a:pPr>
            <a:r>
              <a:rPr lang="en-US" sz="1900" b="1" dirty="0">
                <a:solidFill>
                  <a:srgbClr val="087B75"/>
                </a:solidFill>
                <a:latin typeface="Times New Roman" panose="02020603050405020304" pitchFamily="18" charset="0"/>
                <a:ea typeface="Inter" pitchFamily="34" charset="-122"/>
                <a:cs typeface="Times New Roman" panose="02020603050405020304" pitchFamily="18" charset="0"/>
              </a:rPr>
              <a:t>Naman Sharma</a:t>
            </a:r>
            <a:endParaRPr lang="en-US" sz="1900" dirty="0">
              <a:latin typeface="Times New Roman" panose="02020603050405020304" pitchFamily="18" charset="0"/>
              <a:cs typeface="Times New Roman" panose="02020603050405020304" pitchFamily="18" charset="0"/>
            </a:endParaRPr>
          </a:p>
        </p:txBody>
      </p:sp>
      <p:sp>
        <p:nvSpPr>
          <p:cNvPr id="5" name="Text 3"/>
          <p:cNvSpPr/>
          <p:nvPr/>
        </p:nvSpPr>
        <p:spPr>
          <a:xfrm>
            <a:off x="621792" y="256032"/>
            <a:ext cx="7315200" cy="219456"/>
          </a:xfrm>
          <a:prstGeom prst="rect">
            <a:avLst/>
          </a:prstGeom>
          <a:noFill/>
          <a:ln/>
        </p:spPr>
        <p:txBody>
          <a:bodyPr wrap="square" lIns="0" tIns="0" rIns="0" bIns="0" rtlCol="0" anchor="ctr">
            <a:normAutofit/>
          </a:bodyPr>
          <a:lstStyle/>
          <a:p>
            <a:pPr marL="0" indent="0" algn="l">
              <a:buNone/>
            </a:pPr>
            <a:r>
              <a:rPr lang="en-US" sz="1050" b="1" kern="0" spc="120" dirty="0">
                <a:solidFill>
                  <a:srgbClr val="087B75"/>
                </a:solidFill>
                <a:latin typeface="Times New Roman" panose="02020603050405020304" pitchFamily="18" charset="0"/>
                <a:ea typeface="Inter" pitchFamily="34" charset="-122"/>
                <a:cs typeface="Times New Roman" panose="02020603050405020304" pitchFamily="18" charset="0"/>
              </a:rPr>
              <a:t>DAY 2 OVERVIEW &amp; CLOSING</a:t>
            </a:r>
            <a:endParaRPr lang="en-US" sz="1050" dirty="0">
              <a:latin typeface="Times New Roman" panose="02020603050405020304" pitchFamily="18" charset="0"/>
              <a:cs typeface="Times New Roman" panose="02020603050405020304" pitchFamily="18" charset="0"/>
            </a:endParaRPr>
          </a:p>
        </p:txBody>
      </p:sp>
      <p:sp>
        <p:nvSpPr>
          <p:cNvPr id="7" name="Shape 5"/>
          <p:cNvSpPr/>
          <p:nvPr/>
        </p:nvSpPr>
        <p:spPr>
          <a:xfrm>
            <a:off x="621792" y="658368"/>
            <a:ext cx="10948111" cy="0"/>
          </a:xfrm>
          <a:prstGeom prst="line">
            <a:avLst/>
          </a:prstGeom>
          <a:noFill/>
          <a:ln w="15240">
            <a:solidFill>
              <a:srgbClr val="34506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Shape 6"/>
          <p:cNvSpPr/>
          <p:nvPr/>
        </p:nvSpPr>
        <p:spPr>
          <a:xfrm>
            <a:off x="621792" y="6455664"/>
            <a:ext cx="10948111" cy="0"/>
          </a:xfrm>
          <a:prstGeom prst="line">
            <a:avLst/>
          </a:prstGeom>
          <a:noFill/>
          <a:ln w="12700">
            <a:solidFill>
              <a:srgbClr val="34506B"/>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9" name="Text 7"/>
          <p:cNvSpPr/>
          <p:nvPr/>
        </p:nvSpPr>
        <p:spPr>
          <a:xfrm>
            <a:off x="621792" y="6547104"/>
            <a:ext cx="6400800" cy="173736"/>
          </a:xfrm>
          <a:prstGeom prst="rect">
            <a:avLst/>
          </a:prstGeom>
          <a:noFill/>
          <a:ln/>
        </p:spPr>
        <p:txBody>
          <a:bodyPr wrap="square" lIns="0" tIns="0" rIns="0" bIns="0" rtlCol="0" anchor="ctr">
            <a:normAutofit/>
          </a:bodyPr>
          <a:lstStyle/>
          <a:p>
            <a:pPr marL="0" indent="0" algn="l">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K. R. MANGALAM UNIVERSITY  •  21 OCT 2026</a:t>
            </a:r>
            <a:endParaRPr lang="en-US" sz="900" dirty="0">
              <a:latin typeface="Times New Roman" panose="02020603050405020304" pitchFamily="18" charset="0"/>
              <a:cs typeface="Times New Roman" panose="02020603050405020304" pitchFamily="18" charset="0"/>
            </a:endParaRPr>
          </a:p>
        </p:txBody>
      </p:sp>
      <p:sp>
        <p:nvSpPr>
          <p:cNvPr id="10" name="Text 8"/>
          <p:cNvSpPr/>
          <p:nvPr/>
        </p:nvSpPr>
        <p:spPr>
          <a:xfrm>
            <a:off x="9189720" y="6547104"/>
            <a:ext cx="2340864" cy="182880"/>
          </a:xfrm>
          <a:prstGeom prst="rect">
            <a:avLst/>
          </a:prstGeom>
          <a:noFill/>
          <a:ln/>
        </p:spPr>
        <p:txBody>
          <a:bodyPr wrap="square" lIns="0" tIns="0" rIns="0" bIns="0" rtlCol="0" anchor="ctr">
            <a:normAutofit/>
          </a:bodyPr>
          <a:lstStyle/>
          <a:p>
            <a:pPr marL="0" indent="0" algn="r">
              <a:buNone/>
            </a:pPr>
            <a:r>
              <a:rPr lang="en-US" sz="900" dirty="0">
                <a:solidFill>
                  <a:srgbClr val="5C6D80"/>
                </a:solidFill>
                <a:latin typeface="Times New Roman" panose="02020603050405020304" pitchFamily="18" charset="0"/>
                <a:ea typeface="Inter" pitchFamily="34" charset="-122"/>
                <a:cs typeface="Times New Roman" panose="02020603050405020304" pitchFamily="18" charset="0"/>
              </a:rPr>
              <a:t>NAMAN SHARMA   /   62</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705</TotalTime>
  <Words>8598</Words>
  <Application>Microsoft Macintosh PowerPoint</Application>
  <PresentationFormat>Widescreen</PresentationFormat>
  <Paragraphs>912</Paragraphs>
  <Slides>62</Slides>
  <Notes>62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62</vt:i4>
      </vt:variant>
    </vt:vector>
  </HeadingPairs>
  <TitlesOfParts>
    <vt:vector size="66" baseType="lpstr">
      <vt:lpstr>Arial</vt:lpstr>
      <vt:lpstr>Inter</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Expert Lectures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Raw Data to Decisions — Day 1</dc:title>
  <dc:subject>Day 1 Data Engineering &amp; Analytics Workshop | K. R. Mangalam University</dc:subject>
  <dc:creator>Naman Sharma</dc:creator>
  <cp:lastModifiedBy>Naman Sharma</cp:lastModifiedBy>
  <cp:revision>15</cp:revision>
  <dcterms:created xsi:type="dcterms:W3CDTF">2026-10-20T13:58:01Z</dcterms:created>
  <dcterms:modified xsi:type="dcterms:W3CDTF">2026-10-21T12:33:15Z</dcterms:modified>
</cp:coreProperties>
</file>